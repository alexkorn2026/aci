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15" r:id="rId2"/>
    <p:sldId id="261" r:id="rId3"/>
    <p:sldId id="262" r:id="rId4"/>
    <p:sldId id="263" r:id="rId5"/>
    <p:sldId id="333" r:id="rId6"/>
    <p:sldId id="312" r:id="rId7"/>
    <p:sldId id="264" r:id="rId8"/>
    <p:sldId id="330" r:id="rId9"/>
    <p:sldId id="265" r:id="rId10"/>
    <p:sldId id="327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29" r:id="rId27"/>
    <p:sldId id="282" r:id="rId28"/>
    <p:sldId id="283" r:id="rId29"/>
    <p:sldId id="305" r:id="rId30"/>
    <p:sldId id="306" r:id="rId31"/>
    <p:sldId id="307" r:id="rId32"/>
    <p:sldId id="308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9" r:id="rId51"/>
    <p:sldId id="310" r:id="rId52"/>
    <p:sldId id="311" r:id="rId53"/>
    <p:sldId id="301" r:id="rId54"/>
    <p:sldId id="302" r:id="rId55"/>
    <p:sldId id="332" r:id="rId56"/>
    <p:sldId id="331" r:id="rId57"/>
    <p:sldId id="335" r:id="rId58"/>
    <p:sldId id="304" r:id="rId59"/>
    <p:sldId id="322" r:id="rId6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7"/>
    <p:restoredTop sz="94640"/>
  </p:normalViewPr>
  <p:slideViewPr>
    <p:cSldViewPr snapToGrid="0">
      <p:cViewPr varScale="1">
        <p:scale>
          <a:sx n="72" d="100"/>
          <a:sy n="72" d="100"/>
        </p:scale>
        <p:origin x="23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51F2F-B1EB-D134-FB45-8CB76383B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EBDA3F-9DDD-3137-35E0-DDEE8CEEF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723867-514B-7594-AD6E-BF08A7EC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3DD28A-3728-7CC7-B556-92066B78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E80E5-BCFC-7A75-8FAF-5CEA86B6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90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DDC82-0843-9704-F552-283167AC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A860CC-142D-92D9-2EB9-52A334B1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9B2A1C-D02B-3FDB-282F-024801AF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16A74-AF7C-38B4-ADBA-8FD08778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207A29-7180-75EF-AA2E-C02B1564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48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BFFD1-651A-1B00-7DC8-D76CC464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DCA2ED-6CD4-E0BF-F887-DF99AFD7E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0FD172-9D12-21D0-25A3-BECCCC6C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A98D69-0DED-3865-9DC3-CF132B8F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07A21-53F3-FC1C-FF8E-06781674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83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031B2-898B-2E71-3A50-820AA3D5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1B9BE3-5463-F610-872F-EC64FD98C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4C0818-CEF2-4FDD-D69F-BEC0821E6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72F214-E7B8-9AF8-DA96-7CF8D995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DF5640-C047-EBEE-C858-013FD19D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CF437F-621A-CCBF-2A26-BCE51240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680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7294A-82FA-2FE6-54BE-20304F32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292BE8-3D7B-F629-B248-A75DC55E8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38A5EE-B67C-F2B8-F25B-AB48AF751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FB772D-82FE-F7F0-414C-721C48368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2FAF73-620C-2010-29C3-436F6283D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B6CEAD-A307-F11D-31CB-A6027D11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D36DD14-3B06-C492-2368-4139C12A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DFB1197-D6AB-854B-0E08-629C5F73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59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AA78E-DBE9-0F3A-692D-AFAF2350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A206A2B-9663-80C0-5FEB-36C23F54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3F7D02-A3F3-71FD-2B25-270B7733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AB5935-85CA-50E5-D402-A603C7C1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6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A5E384-9A02-C18E-C23D-5A027835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1E7754-1C48-9120-7222-FC56EEFF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87D452-6086-4DAF-0AC9-EFA609E2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82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5B0FA-57DD-C89B-DF81-D6C7CB54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40CD1C-47FB-3B46-9DDE-5C9D8D3E3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566483-5772-35EC-040E-E151F505F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2CE9F-92C3-F0EB-025D-AFDE780D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EDA429-E0B4-11D5-4E16-CEAD99DE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F250FE-FE5C-F693-0DEC-324E50B0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906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0C07B-3ECB-A6BA-4DC8-C68C2786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83FBFB-927C-CBF7-C5EC-6BB52FCEE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35187F-ACDD-E52F-0E4C-DCB0F4D24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0CC6BC-B972-0FC1-0F45-2E9827AC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6D24CE-FBB7-CD73-998B-09D6150A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9F848A-92B4-5D03-FD67-548F684A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36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1B648-FE1A-1005-F23F-91F9D769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403AD2-0883-3C77-1E52-9630A4B40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4A9BC0-634D-D002-35EF-ED90DB50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F8927D-C335-D7A3-8BBB-B897BE0A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6443AF-6CC7-F171-DA83-1CF9F501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000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9C18266-C8DC-C239-9A8F-886520799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96FE5F-E251-6392-EE67-3B913C188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6E2A92-9343-9CE8-6828-E63A221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6841B9-7F62-4D1F-0101-6DEE192E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41B43C-60DD-52E1-47D6-2495F3C8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04634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AD6FB4-D71F-588E-CEF1-AFFC5079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189243-BDA8-9B97-8F18-6F064076A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BB8707-5DD9-8F1B-AE84-2D9DECCCD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23C00-A644-1C46-8F35-3FFC4B49E8C6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98EDB7-AFF4-B893-C976-CC59C297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931586-F618-6992-7EDD-27D1DBD7C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0B939-FD67-9048-B44A-4B61251C7DB6}" type="slidenum">
              <a:rPr lang="de-DE" smtClean="0"/>
              <a:t>‹Nr.›</a:t>
            </a:fld>
            <a:endParaRPr lang="de-DE"/>
          </a:p>
        </p:txBody>
      </p:sp>
      <p:sp>
        <p:nvSpPr>
          <p:cNvPr id="9001" name="Accent Bar"/>
          <p:cNvSpPr/>
          <p:nvPr userDrawn="1"/>
        </p:nvSpPr>
        <p:spPr>
          <a:xfrm>
            <a:off x="0" y="6477000"/>
            <a:ext cx="12192000" cy="50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002" name="Accent Square"/>
          <p:cNvSpPr/>
          <p:nvPr userDrawn="1"/>
        </p:nvSpPr>
        <p:spPr>
          <a:xfrm>
            <a:off x="11992000" y="6477000"/>
            <a:ext cx="200000" cy="50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2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AF60E5A-7138-5C4C-ABA7-874A35B93DB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7482C76-75DA-C24B-9E13-EA436AF56010}"/>
              </a:ext>
            </a:extLst>
          </p:cNvPr>
          <p:cNvSpPr/>
          <p:nvPr/>
        </p:nvSpPr>
        <p:spPr>
          <a:xfrm>
            <a:off x="-1270000" y="2286000"/>
            <a:ext cx="101600" cy="1524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F9C46C9-8DF5-9E45-9FE0-07D0971587C3}"/>
              </a:ext>
            </a:extLst>
          </p:cNvPr>
          <p:cNvSpPr txBox="1"/>
          <p:nvPr/>
        </p:nvSpPr>
        <p:spPr>
          <a:xfrm>
            <a:off x="762000" y="3429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tIns="0" bIns="0" rtlCol="0" anchor="t">
            <a:noAutofit/>
          </a:bodyPr>
          <a:lstStyle/>
          <a:p>
            <a:pPr algn="ctr"/>
            <a:r>
              <a:rPr lang="de-DE" sz="2200" b="1">
                <a:solidFill>
                  <a:srgbClr val="0E2841"/>
                </a:solidFill>
                <a:latin typeface="Calibri Light"/>
              </a:rPr>
              <a:t>Statischer Sicherheits- und Coding-Guidelines-Scanner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1240B64-7E07-554A-81AF-5CDA1CF24669}"/>
              </a:ext>
            </a:extLst>
          </p:cNvPr>
          <p:cNvSpPr txBox="1"/>
          <p:nvPr/>
        </p:nvSpPr>
        <p:spPr>
          <a:xfrm>
            <a:off x="762000" y="39624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ctr"/>
            <a:r>
              <a:rPr lang="de-DE" sz="1600">
                <a:solidFill>
                  <a:srgbClr val="156082"/>
                </a:solidFill>
              </a:rPr>
              <a:t>für Oracle PL/SQL und PostgreSQL · Version 2.20.1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8FDC1FB-D61D-5E4F-930A-D74477F5A7ED}"/>
              </a:ext>
            </a:extLst>
          </p:cNvPr>
          <p:cNvSpPr txBox="1"/>
          <p:nvPr/>
        </p:nvSpPr>
        <p:spPr>
          <a:xfrm>
            <a:off x="-12700000" y="4064000"/>
            <a:ext cx="990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>
                <a:solidFill>
                  <a:srgbClr val="1A1A1A"/>
                </a:solidFill>
              </a:rPr>
              <a:t>Statischer Sicherheits- und Coding-Guidelines-Scanner
für Oracle PL/SQL und PostgreSQL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D8F6A8-77AF-8E48-A277-13935635821E}"/>
              </a:ext>
            </a:extLst>
          </p:cNvPr>
          <p:cNvSpPr/>
          <p:nvPr/>
        </p:nvSpPr>
        <p:spPr>
          <a:xfrm>
            <a:off x="-12700000" y="5207000"/>
            <a:ext cx="16510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Version 2.20.1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00E0CFE-134B-C54B-AA32-6E98B9ED797F}"/>
              </a:ext>
            </a:extLst>
          </p:cNvPr>
          <p:cNvSpPr txBox="1"/>
          <p:nvPr/>
        </p:nvSpPr>
        <p:spPr>
          <a:xfrm>
            <a:off x="762000" y="5969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200" i="1">
                <a:solidFill>
                  <a:srgbClr val="666666"/>
                </a:solidFill>
              </a:rPr>
              <a:t>Entwicklung · Manuelle Verwendung · CI/CD-Integration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2C5A790-93BF-FC94-2803-7744E1B6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0" y="762000"/>
            <a:ext cx="48260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2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55C261C-4F28-384E-97C2-AAE3CA50B53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INHALT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E55258-22B7-EA40-9D10-53F5EFEA48D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1EB3239-2E03-B84D-933E-67F97DFA1B8A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3F3CB75-0165-1742-B904-2928A3CF5BA1}"/>
              </a:ext>
            </a:extLst>
          </p:cNvPr>
          <p:cNvSpPr/>
          <p:nvPr/>
        </p:nvSpPr>
        <p:spPr>
          <a:xfrm>
            <a:off x="762000" y="17780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4FBD362-A736-4C4B-9BA1-EF3F2C4C370E}"/>
              </a:ext>
            </a:extLst>
          </p:cNvPr>
          <p:cNvSpPr txBox="1"/>
          <p:nvPr/>
        </p:nvSpPr>
        <p:spPr>
          <a:xfrm>
            <a:off x="1371600" y="17780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Einleitung &amp; Überblick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4C06E7-B3E5-EB43-9447-1CCDDFEE2994}"/>
              </a:ext>
            </a:extLst>
          </p:cNvPr>
          <p:cNvSpPr txBox="1"/>
          <p:nvPr/>
        </p:nvSpPr>
        <p:spPr>
          <a:xfrm>
            <a:off x="1371600" y="20574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Was ist ACI, Hauptmerkmale, Einschränkungen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A0DDC6-E32E-334E-AB0B-2FACD6BA8D05}"/>
              </a:ext>
            </a:extLst>
          </p:cNvPr>
          <p:cNvSpPr txBox="1"/>
          <p:nvPr/>
        </p:nvSpPr>
        <p:spPr>
          <a:xfrm>
            <a:off x="5143500" y="1905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3–6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9982143-1A84-FB44-95D4-0A585DBB6F49}"/>
              </a:ext>
            </a:extLst>
          </p:cNvPr>
          <p:cNvSpPr/>
          <p:nvPr/>
        </p:nvSpPr>
        <p:spPr>
          <a:xfrm>
            <a:off x="762000" y="25146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B4C5EE8-2B30-2649-8AB1-B144098E6639}"/>
              </a:ext>
            </a:extLst>
          </p:cNvPr>
          <p:cNvSpPr txBox="1"/>
          <p:nvPr/>
        </p:nvSpPr>
        <p:spPr>
          <a:xfrm>
            <a:off x="1371600" y="25146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Architektur &amp; Funktionsweise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844143-18BE-7C42-B81C-4C4FCC2D90BA}"/>
              </a:ext>
            </a:extLst>
          </p:cNvPr>
          <p:cNvSpPr txBox="1"/>
          <p:nvPr/>
        </p:nvSpPr>
        <p:spPr>
          <a:xfrm>
            <a:off x="1371600" y="27940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Pipeline, IR, Module, Dialekte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C81E3E9-ED9E-BF45-93B7-0921231D1D14}"/>
              </a:ext>
            </a:extLst>
          </p:cNvPr>
          <p:cNvSpPr txBox="1"/>
          <p:nvPr/>
        </p:nvSpPr>
        <p:spPr>
          <a:xfrm>
            <a:off x="5143500" y="26416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7–13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B619BF5-1975-7C47-A6DD-A010DB94B27E}"/>
              </a:ext>
            </a:extLst>
          </p:cNvPr>
          <p:cNvSpPr/>
          <p:nvPr/>
        </p:nvSpPr>
        <p:spPr>
          <a:xfrm>
            <a:off x="762000" y="32512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71D876E-C0E6-7142-84AE-EA54073E403A}"/>
              </a:ext>
            </a:extLst>
          </p:cNvPr>
          <p:cNvSpPr txBox="1"/>
          <p:nvPr/>
        </p:nvSpPr>
        <p:spPr>
          <a:xfrm>
            <a:off x="1371600" y="32512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Prüfungen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C08D07C-BA7E-7C47-85A4-7ADA8577D5BF}"/>
              </a:ext>
            </a:extLst>
          </p:cNvPr>
          <p:cNvSpPr txBox="1"/>
          <p:nvPr/>
        </p:nvSpPr>
        <p:spPr>
          <a:xfrm>
            <a:off x="1371600" y="35306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Sicherheits-Checks, MITRE ATT&amp;CK, Coding Guidelines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EF3C1D6-4C32-C843-83C4-08528C58F14C}"/>
              </a:ext>
            </a:extLst>
          </p:cNvPr>
          <p:cNvSpPr txBox="1"/>
          <p:nvPr/>
        </p:nvSpPr>
        <p:spPr>
          <a:xfrm>
            <a:off x="5143500" y="3378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14–22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CF4C7C0-30A8-8042-A431-7A9946282202}"/>
              </a:ext>
            </a:extLst>
          </p:cNvPr>
          <p:cNvSpPr/>
          <p:nvPr/>
        </p:nvSpPr>
        <p:spPr>
          <a:xfrm>
            <a:off x="762000" y="39878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988C3B9-21D6-F548-8E63-B5C99A345D7F}"/>
              </a:ext>
            </a:extLst>
          </p:cNvPr>
          <p:cNvSpPr txBox="1"/>
          <p:nvPr/>
        </p:nvSpPr>
        <p:spPr>
          <a:xfrm>
            <a:off x="1371600" y="39878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Entwicklung &amp; manuelle Verwendung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E6E6B93-A853-714B-97A2-5BC1DF5B0A4E}"/>
              </a:ext>
            </a:extLst>
          </p:cNvPr>
          <p:cNvSpPr txBox="1"/>
          <p:nvPr/>
        </p:nvSpPr>
        <p:spPr>
          <a:xfrm>
            <a:off x="1371600" y="42672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Setup, CLI, Regeldateien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DB3CE74-F2A7-A34A-B88B-F292107AE276}"/>
              </a:ext>
            </a:extLst>
          </p:cNvPr>
          <p:cNvSpPr txBox="1"/>
          <p:nvPr/>
        </p:nvSpPr>
        <p:spPr>
          <a:xfrm>
            <a:off x="5143500" y="41148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23–31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653329-52B1-D945-BCA0-D537389A257B}"/>
              </a:ext>
            </a:extLst>
          </p:cNvPr>
          <p:cNvSpPr/>
          <p:nvPr/>
        </p:nvSpPr>
        <p:spPr>
          <a:xfrm>
            <a:off x="6286500" y="17780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22C3A12-185F-E74F-8B16-FACCAFD84AEF}"/>
              </a:ext>
            </a:extLst>
          </p:cNvPr>
          <p:cNvSpPr txBox="1"/>
          <p:nvPr/>
        </p:nvSpPr>
        <p:spPr>
          <a:xfrm>
            <a:off x="6896100" y="17780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Reportformate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89C8792-60B4-034D-A504-0850C6484188}"/>
              </a:ext>
            </a:extLst>
          </p:cNvPr>
          <p:cNvSpPr txBox="1"/>
          <p:nvPr/>
        </p:nvSpPr>
        <p:spPr>
          <a:xfrm>
            <a:off x="6896100" y="20574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Konsole, JSON, HTML, SARIF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ECDFEFA-5C86-4844-8B52-AFAF15597DA2}"/>
              </a:ext>
            </a:extLst>
          </p:cNvPr>
          <p:cNvSpPr txBox="1"/>
          <p:nvPr/>
        </p:nvSpPr>
        <p:spPr>
          <a:xfrm>
            <a:off x="10668000" y="1905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32–36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EA728A5-D2A0-7A41-9D8A-E1802F08649B}"/>
              </a:ext>
            </a:extLst>
          </p:cNvPr>
          <p:cNvSpPr/>
          <p:nvPr/>
        </p:nvSpPr>
        <p:spPr>
          <a:xfrm>
            <a:off x="6286500" y="25146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E615D8B-517A-8145-A579-244836FE98E4}"/>
              </a:ext>
            </a:extLst>
          </p:cNvPr>
          <p:cNvSpPr txBox="1"/>
          <p:nvPr/>
        </p:nvSpPr>
        <p:spPr>
          <a:xfrm>
            <a:off x="6896100" y="25146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CI/CD-Integration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244CDA8-FB88-CE4A-B9C6-EE207D7D896D}"/>
              </a:ext>
            </a:extLst>
          </p:cNvPr>
          <p:cNvSpPr txBox="1"/>
          <p:nvPr/>
        </p:nvSpPr>
        <p:spPr>
          <a:xfrm>
            <a:off x="6896100" y="27940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Gate, Waiver, Regelintegrität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9FF00F9-ABCB-CF4D-880E-B76F7ADE6BEC}"/>
              </a:ext>
            </a:extLst>
          </p:cNvPr>
          <p:cNvSpPr txBox="1"/>
          <p:nvPr/>
        </p:nvSpPr>
        <p:spPr>
          <a:xfrm>
            <a:off x="10668000" y="26416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37–46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9BBDFB9-A690-3A45-B4FA-8EEDE6FC184B}"/>
              </a:ext>
            </a:extLst>
          </p:cNvPr>
          <p:cNvSpPr/>
          <p:nvPr/>
        </p:nvSpPr>
        <p:spPr>
          <a:xfrm>
            <a:off x="6286500" y="3251200"/>
            <a:ext cx="4826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9F4C21D-2196-B140-8881-1862F1DF5109}"/>
              </a:ext>
            </a:extLst>
          </p:cNvPr>
          <p:cNvSpPr txBox="1"/>
          <p:nvPr/>
        </p:nvSpPr>
        <p:spPr>
          <a:xfrm>
            <a:off x="6896100" y="3251200"/>
            <a:ext cx="3746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Betrieb, Debugging &amp; Grenzen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CCBD558-E5F5-134B-865D-50DBDA3A763D}"/>
              </a:ext>
            </a:extLst>
          </p:cNvPr>
          <p:cNvSpPr txBox="1"/>
          <p:nvPr/>
        </p:nvSpPr>
        <p:spPr>
          <a:xfrm>
            <a:off x="6896100" y="3530600"/>
            <a:ext cx="37465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Fehlersuche, False Positives, Roadmap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481AED1-6E6B-A04A-B1F3-1EFD41896201}"/>
              </a:ext>
            </a:extLst>
          </p:cNvPr>
          <p:cNvSpPr txBox="1"/>
          <p:nvPr/>
        </p:nvSpPr>
        <p:spPr>
          <a:xfrm>
            <a:off x="10668000" y="3378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S. 47–52</a:t>
            </a:r>
          </a:p>
        </p:txBody>
      </p:sp>
    </p:spTree>
    <p:extLst>
      <p:ext uri="{BB962C8B-B14F-4D97-AF65-F5344CB8AC3E}">
        <p14:creationId xmlns:p14="http://schemas.microsoft.com/office/powerpoint/2010/main" val="270893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99BC8B7-FA2A-3D4E-BBA1-BF2FFD5BABE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MANAGEMENT SUMMARY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917239-B378-1549-B234-8E685A88C131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ACI in 60 Sekunden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5F86C0-037A-6A41-B3EB-FB07144BDFB5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2F2AD1-AD4F-8544-B495-9895B8999094}"/>
              </a:ext>
            </a:extLst>
          </p:cNvPr>
          <p:cNvSpPr/>
          <p:nvPr/>
        </p:nvSpPr>
        <p:spPr>
          <a:xfrm>
            <a:off x="762000" y="1778000"/>
            <a:ext cx="2540000" cy="1397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D8BC232-A238-C74E-8472-0E96571F7DAD}"/>
              </a:ext>
            </a:extLst>
          </p:cNvPr>
          <p:cNvSpPr/>
          <p:nvPr/>
        </p:nvSpPr>
        <p:spPr>
          <a:xfrm>
            <a:off x="762000" y="1778000"/>
            <a:ext cx="2540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530EA1-817A-BB48-BB5E-B06601A7D88F}"/>
              </a:ext>
            </a:extLst>
          </p:cNvPr>
          <p:cNvSpPr txBox="1"/>
          <p:nvPr/>
        </p:nvSpPr>
        <p:spPr>
          <a:xfrm>
            <a:off x="939800" y="1955800"/>
            <a:ext cx="2184400" cy="609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4000" b="1">
                <a:solidFill>
                  <a:srgbClr val="156082"/>
                </a:solidFill>
                <a:latin typeface="Calibri Light"/>
                <a:cs typeface="Calibri Light"/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739DF1-4E6C-3943-8BB3-61215D474D29}"/>
              </a:ext>
            </a:extLst>
          </p:cNvPr>
          <p:cNvSpPr txBox="1"/>
          <p:nvPr/>
        </p:nvSpPr>
        <p:spPr>
          <a:xfrm>
            <a:off x="939800" y="2590800"/>
            <a:ext cx="2184400" cy="254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Prüfgruppen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D995D57-02AD-474B-A118-92584E00CC12}"/>
              </a:ext>
            </a:extLst>
          </p:cNvPr>
          <p:cNvSpPr txBox="1"/>
          <p:nvPr/>
        </p:nvSpPr>
        <p:spPr>
          <a:xfrm>
            <a:off x="939800" y="284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Sicherheit &amp; Coding Guidelines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083D549-3C4E-E64B-9707-D92EA4E81B6B}"/>
              </a:ext>
            </a:extLst>
          </p:cNvPr>
          <p:cNvSpPr/>
          <p:nvPr/>
        </p:nvSpPr>
        <p:spPr>
          <a:xfrm>
            <a:off x="3467100" y="1778000"/>
            <a:ext cx="2540000" cy="1397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44D0C6-38BC-2D4D-B768-473B6ECAC017}"/>
              </a:ext>
            </a:extLst>
          </p:cNvPr>
          <p:cNvSpPr/>
          <p:nvPr/>
        </p:nvSpPr>
        <p:spPr>
          <a:xfrm>
            <a:off x="3467100" y="1778000"/>
            <a:ext cx="2540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E108406-3516-D24B-B3B1-B33C528D7716}"/>
              </a:ext>
            </a:extLst>
          </p:cNvPr>
          <p:cNvSpPr txBox="1"/>
          <p:nvPr/>
        </p:nvSpPr>
        <p:spPr>
          <a:xfrm>
            <a:off x="3644900" y="1955800"/>
            <a:ext cx="2184400" cy="609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4000" b="1">
                <a:solidFill>
                  <a:srgbClr val="E97132"/>
                </a:solidFill>
                <a:latin typeface="Calibri Light"/>
                <a:cs typeface="Calibri Light"/>
              </a:rPr>
              <a:t>~40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64B162F-341B-F049-BB02-1774DE16CB2F}"/>
              </a:ext>
            </a:extLst>
          </p:cNvPr>
          <p:cNvSpPr txBox="1"/>
          <p:nvPr/>
        </p:nvSpPr>
        <p:spPr>
          <a:xfrm>
            <a:off x="3644900" y="2590800"/>
            <a:ext cx="2184400" cy="254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Aktive Regeln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2C71E27-6CF0-4340-8439-F0448A648867}"/>
              </a:ext>
            </a:extLst>
          </p:cNvPr>
          <p:cNvSpPr txBox="1"/>
          <p:nvPr/>
        </p:nvSpPr>
        <p:spPr>
          <a:xfrm>
            <a:off x="3644900" y="284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5 Security + ~35 Guidelines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BC42CE7-5CFC-E642-B172-957AF8FC61E7}"/>
              </a:ext>
            </a:extLst>
          </p:cNvPr>
          <p:cNvSpPr/>
          <p:nvPr/>
        </p:nvSpPr>
        <p:spPr>
          <a:xfrm>
            <a:off x="6172200" y="1778000"/>
            <a:ext cx="2540000" cy="1397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2BAFD5A-7CBC-6C46-8DC3-D8B47F28D540}"/>
              </a:ext>
            </a:extLst>
          </p:cNvPr>
          <p:cNvSpPr/>
          <p:nvPr/>
        </p:nvSpPr>
        <p:spPr>
          <a:xfrm>
            <a:off x="6172200" y="1778000"/>
            <a:ext cx="2540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D3A847D-8ADA-204C-A8E0-D437220367F8}"/>
              </a:ext>
            </a:extLst>
          </p:cNvPr>
          <p:cNvSpPr txBox="1"/>
          <p:nvPr/>
        </p:nvSpPr>
        <p:spPr>
          <a:xfrm>
            <a:off x="6350000" y="1955800"/>
            <a:ext cx="2184400" cy="609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4000" b="1">
                <a:solidFill>
                  <a:srgbClr val="196B24"/>
                </a:solidFill>
                <a:latin typeface="Calibri Light"/>
                <a:cs typeface="Calibri Light"/>
              </a:rPr>
              <a:t>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4AA53F6-B4CE-7044-BF92-1783D39BE9FF}"/>
              </a:ext>
            </a:extLst>
          </p:cNvPr>
          <p:cNvSpPr txBox="1"/>
          <p:nvPr/>
        </p:nvSpPr>
        <p:spPr>
          <a:xfrm>
            <a:off x="6350000" y="2590800"/>
            <a:ext cx="2184400" cy="254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SQL-Dialekte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3BB202C-D63D-BE43-8BBC-EDB91D87C780}"/>
              </a:ext>
            </a:extLst>
          </p:cNvPr>
          <p:cNvSpPr txBox="1"/>
          <p:nvPr/>
        </p:nvSpPr>
        <p:spPr>
          <a:xfrm>
            <a:off x="6350000" y="284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Oracle · PostgreSQL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8A166ED-0505-A74F-989E-F31BED2037D2}"/>
              </a:ext>
            </a:extLst>
          </p:cNvPr>
          <p:cNvSpPr/>
          <p:nvPr/>
        </p:nvSpPr>
        <p:spPr>
          <a:xfrm>
            <a:off x="8877300" y="1778000"/>
            <a:ext cx="2540000" cy="1397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22DAAED-303B-C74C-AAE4-9715A8F0EBD5}"/>
              </a:ext>
            </a:extLst>
          </p:cNvPr>
          <p:cNvSpPr/>
          <p:nvPr/>
        </p:nvSpPr>
        <p:spPr>
          <a:xfrm>
            <a:off x="8877300" y="1778000"/>
            <a:ext cx="2540000" cy="508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75DBE30-15AB-8841-83AC-B1BB96C173AF}"/>
              </a:ext>
            </a:extLst>
          </p:cNvPr>
          <p:cNvSpPr txBox="1"/>
          <p:nvPr/>
        </p:nvSpPr>
        <p:spPr>
          <a:xfrm>
            <a:off x="9055100" y="1955800"/>
            <a:ext cx="2184400" cy="609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4000" b="1">
                <a:solidFill>
                  <a:srgbClr val="0F9ED5"/>
                </a:solidFill>
                <a:latin typeface="Calibri Light"/>
                <a:cs typeface="Calibri Light"/>
              </a:rPr>
              <a:t>4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0F89F6B-3771-C144-BAEF-97BD1A99229F}"/>
              </a:ext>
            </a:extLst>
          </p:cNvPr>
          <p:cNvSpPr txBox="1"/>
          <p:nvPr/>
        </p:nvSpPr>
        <p:spPr>
          <a:xfrm>
            <a:off x="9055100" y="2590800"/>
            <a:ext cx="2184400" cy="254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Reportformate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75ABB41-EFF7-CD4F-92C3-78BD966D99F6}"/>
              </a:ext>
            </a:extLst>
          </p:cNvPr>
          <p:cNvSpPr txBox="1"/>
          <p:nvPr/>
        </p:nvSpPr>
        <p:spPr>
          <a:xfrm>
            <a:off x="9055100" y="284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Console · JSON · HTML · SARIF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B897063-52AD-CE46-A3C6-F48485AA1D89}"/>
              </a:ext>
            </a:extLst>
          </p:cNvPr>
          <p:cNvSpPr/>
          <p:nvPr/>
        </p:nvSpPr>
        <p:spPr>
          <a:xfrm>
            <a:off x="762000" y="3619500"/>
            <a:ext cx="279400" cy="2794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EE42507-8829-704C-9BCD-B7423DB0DCF4}"/>
              </a:ext>
            </a:extLst>
          </p:cNvPr>
          <p:cNvSpPr txBox="1"/>
          <p:nvPr/>
        </p:nvSpPr>
        <p:spPr>
          <a:xfrm>
            <a:off x="1143000" y="36195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Statische Analyse — kein Datenbankzugriff, keine Laufzeitabhängigkeiten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FB9159-610D-FD4A-9506-AA23E6BF8745}"/>
              </a:ext>
            </a:extLst>
          </p:cNvPr>
          <p:cNvSpPr/>
          <p:nvPr/>
        </p:nvSpPr>
        <p:spPr>
          <a:xfrm>
            <a:off x="6286500" y="3619500"/>
            <a:ext cx="279400" cy="2794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8AE06B3-305D-3D4B-BC0B-480C9B1F99C9}"/>
              </a:ext>
            </a:extLst>
          </p:cNvPr>
          <p:cNvSpPr txBox="1"/>
          <p:nvPr/>
        </p:nvSpPr>
        <p:spPr>
          <a:xfrm>
            <a:off x="6667500" y="36195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Reine Python-Standardbibliothek — keine externen Pakete nötig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5B36E1-36C3-DB4D-B509-7E3A217CBDDB}"/>
              </a:ext>
            </a:extLst>
          </p:cNvPr>
          <p:cNvSpPr/>
          <p:nvPr/>
        </p:nvSpPr>
        <p:spPr>
          <a:xfrm>
            <a:off x="762000" y="4076700"/>
            <a:ext cx="279400" cy="2794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260AA3-9C04-BE4B-9C3E-E2532752FA97}"/>
              </a:ext>
            </a:extLst>
          </p:cNvPr>
          <p:cNvSpPr txBox="1"/>
          <p:nvPr/>
        </p:nvSpPr>
        <p:spPr>
          <a:xfrm>
            <a:off x="1143000" y="40767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JSON-Regeldateien — Erweiterung ohne Code-Änderung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1B2DF5-69F6-E246-9BD8-4146945EF33D}"/>
              </a:ext>
            </a:extLst>
          </p:cNvPr>
          <p:cNvSpPr/>
          <p:nvPr/>
        </p:nvSpPr>
        <p:spPr>
          <a:xfrm>
            <a:off x="6286500" y="4076700"/>
            <a:ext cx="279400" cy="2794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C0024EA-8868-5646-BF8B-C47DE7D96D2A}"/>
              </a:ext>
            </a:extLst>
          </p:cNvPr>
          <p:cNvSpPr txBox="1"/>
          <p:nvPr/>
        </p:nvSpPr>
        <p:spPr>
          <a:xfrm>
            <a:off x="6667500" y="40767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CI/CD-fähig — Exit-Codes, Waiver, Ruleset-Hash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CC5E42F-A148-4241-9871-34CE1E5EF605}"/>
              </a:ext>
            </a:extLst>
          </p:cNvPr>
          <p:cNvSpPr/>
          <p:nvPr/>
        </p:nvSpPr>
        <p:spPr>
          <a:xfrm>
            <a:off x="762000" y="4533900"/>
            <a:ext cx="279400" cy="2794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0DC6C30-A830-324E-AB48-D1BAF3EE2B35}"/>
              </a:ext>
            </a:extLst>
          </p:cNvPr>
          <p:cNvSpPr txBox="1"/>
          <p:nvPr/>
        </p:nvSpPr>
        <p:spPr>
          <a:xfrm>
            <a:off x="1143000" y="45339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Heuristisch — ersetzt kein manuelles Code-Review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256B7-F689-3244-AB33-C14F5C7C4218}"/>
              </a:ext>
            </a:extLst>
          </p:cNvPr>
          <p:cNvSpPr/>
          <p:nvPr/>
        </p:nvSpPr>
        <p:spPr>
          <a:xfrm>
            <a:off x="6286500" y="4533900"/>
            <a:ext cx="279400" cy="2794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0C7C85A-6A2D-1340-8E56-E769C646BF3B}"/>
              </a:ext>
            </a:extLst>
          </p:cNvPr>
          <p:cNvSpPr txBox="1"/>
          <p:nvPr/>
        </p:nvSpPr>
        <p:spPr>
          <a:xfrm>
            <a:off x="6667500" y="4533900"/>
            <a:ext cx="47625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Empfehlung für CI-Gate: --fail-on high (nicht critical)</a:t>
            </a:r>
          </a:p>
        </p:txBody>
      </p:sp>
    </p:spTree>
    <p:extLst>
      <p:ext uri="{BB962C8B-B14F-4D97-AF65-F5344CB8AC3E}">
        <p14:creationId xmlns:p14="http://schemas.microsoft.com/office/powerpoint/2010/main" val="180216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087C1CF-193E-7F4D-87C8-C654B013EFAF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GRUNDLAGEN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FE3708-5137-4242-BC3C-C4910BD8B52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Was ist ACI?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3BEB3C3-F968-0C48-ABF3-37AFC90C5856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0514F02-7B97-3240-B7AB-E1AA2DA2903D}"/>
              </a:ext>
            </a:extLst>
          </p:cNvPr>
          <p:cNvSpPr/>
          <p:nvPr/>
        </p:nvSpPr>
        <p:spPr>
          <a:xfrm>
            <a:off x="762000" y="1778000"/>
            <a:ext cx="10668000" cy="1143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479CB-ADD4-FE4B-8E45-29A97167C4CB}"/>
              </a:ext>
            </a:extLst>
          </p:cNvPr>
          <p:cNvSpPr txBox="1"/>
          <p:nvPr/>
        </p:nvSpPr>
        <p:spPr>
          <a:xfrm>
            <a:off x="1016000" y="19685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ACI (Automated Code Inspection) ist ein statisches Analyse-Werkzeug,
das Oracle PL/SQL und PostgreSQL PL/pgSQL prüft — ohne den Code auszuführen.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CA7AE0-7E73-6F4E-9B83-71B61E61C0BB}"/>
              </a:ext>
            </a:extLst>
          </p:cNvPr>
          <p:cNvSpPr/>
          <p:nvPr/>
        </p:nvSpPr>
        <p:spPr>
          <a:xfrm>
            <a:off x="762000" y="3175000"/>
            <a:ext cx="3429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FB7D140-8DD2-6541-A0A2-4A283AC2BAD9}"/>
              </a:ext>
            </a:extLst>
          </p:cNvPr>
          <p:cNvSpPr/>
          <p:nvPr/>
        </p:nvSpPr>
        <p:spPr>
          <a:xfrm>
            <a:off x="762000" y="3175000"/>
            <a:ext cx="3429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75731B-4EA8-8D4D-92F3-9672519032E8}"/>
              </a:ext>
            </a:extLst>
          </p:cNvPr>
          <p:cNvSpPr txBox="1"/>
          <p:nvPr/>
        </p:nvSpPr>
        <p:spPr>
          <a:xfrm>
            <a:off x="965200" y="3378200"/>
            <a:ext cx="30226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b="1">
                <a:solidFill>
                  <a:srgbClr val="156082"/>
                </a:solidFill>
              </a:rPr>
              <a:t>Sicherheit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F94CC6-4EAA-0C4C-A7BC-4B91FC8F182E}"/>
              </a:ext>
            </a:extLst>
          </p:cNvPr>
          <p:cNvSpPr txBox="1"/>
          <p:nvPr/>
        </p:nvSpPr>
        <p:spPr>
          <a:xfrm>
            <a:off x="965200" y="3810000"/>
            <a:ext cx="3022600" cy="1905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•  SQL-Injection
•  Unerwünschte Packages
•  Obfuskierter Code
•  DDL im Code
•  Namenskonventionen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CA79066-6ED8-EC4A-BC05-8735BEBA0217}"/>
              </a:ext>
            </a:extLst>
          </p:cNvPr>
          <p:cNvSpPr txBox="1"/>
          <p:nvPr/>
        </p:nvSpPr>
        <p:spPr>
          <a:xfrm>
            <a:off x="965200" y="5943600"/>
            <a:ext cx="30226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666666"/>
                </a:solidFill>
              </a:rPr>
              <a:t>Skala: Warning · High · Critical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EC91D7-5305-F746-ADEB-ECD0B43FF1AA}"/>
              </a:ext>
            </a:extLst>
          </p:cNvPr>
          <p:cNvSpPr/>
          <p:nvPr/>
        </p:nvSpPr>
        <p:spPr>
          <a:xfrm>
            <a:off x="4381500" y="3175000"/>
            <a:ext cx="3429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3F804E4-010B-9247-AA7A-0366DB2088C8}"/>
              </a:ext>
            </a:extLst>
          </p:cNvPr>
          <p:cNvSpPr/>
          <p:nvPr/>
        </p:nvSpPr>
        <p:spPr>
          <a:xfrm>
            <a:off x="4381500" y="3175000"/>
            <a:ext cx="3429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DC322D8-1062-E646-A697-A71FF087CFC0}"/>
              </a:ext>
            </a:extLst>
          </p:cNvPr>
          <p:cNvSpPr txBox="1"/>
          <p:nvPr/>
        </p:nvSpPr>
        <p:spPr>
          <a:xfrm>
            <a:off x="4584700" y="3378200"/>
            <a:ext cx="30226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b="1">
                <a:solidFill>
                  <a:srgbClr val="E97132"/>
                </a:solidFill>
              </a:rPr>
              <a:t>MITRE ATT&amp;CK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CCF4B28-2F4E-254D-950F-790DAA4403CA}"/>
              </a:ext>
            </a:extLst>
          </p:cNvPr>
          <p:cNvSpPr txBox="1"/>
          <p:nvPr/>
        </p:nvSpPr>
        <p:spPr>
          <a:xfrm>
            <a:off x="4584700" y="3810000"/>
            <a:ext cx="3022600" cy="1905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•  Persistence-Indikatoren
•  Defense Evasion
•  Credential Access
•  Lateral Movement
•  C2 / Exfiltration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09422A5-C2BE-6046-8E61-42BC85AF0D02}"/>
              </a:ext>
            </a:extLst>
          </p:cNvPr>
          <p:cNvSpPr txBox="1"/>
          <p:nvPr/>
        </p:nvSpPr>
        <p:spPr>
          <a:xfrm>
            <a:off x="4584700" y="5943600"/>
            <a:ext cx="30226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666666"/>
                </a:solidFill>
              </a:rPr>
              <a:t>Oracle + PostgreSQL · ergänzt Sicherheit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CE58DB6-518A-D540-8E45-5D85AEC9CFA1}"/>
              </a:ext>
            </a:extLst>
          </p:cNvPr>
          <p:cNvSpPr/>
          <p:nvPr/>
        </p:nvSpPr>
        <p:spPr>
          <a:xfrm>
            <a:off x="8001000" y="3175000"/>
            <a:ext cx="3429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2BD767D-1067-E04E-B596-B43CCF36B556}"/>
              </a:ext>
            </a:extLst>
          </p:cNvPr>
          <p:cNvSpPr/>
          <p:nvPr/>
        </p:nvSpPr>
        <p:spPr>
          <a:xfrm>
            <a:off x="8001000" y="3175000"/>
            <a:ext cx="3429000" cy="63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056F653-2BFC-5641-B551-15FFBF890861}"/>
              </a:ext>
            </a:extLst>
          </p:cNvPr>
          <p:cNvSpPr txBox="1"/>
          <p:nvPr/>
        </p:nvSpPr>
        <p:spPr>
          <a:xfrm>
            <a:off x="8204200" y="3378200"/>
            <a:ext cx="30226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b="1">
                <a:solidFill>
                  <a:srgbClr val="196B24"/>
                </a:solidFill>
              </a:rPr>
              <a:t>Coding Guidelines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278A566-5F07-984F-AF7E-E8BD594DD6F3}"/>
              </a:ext>
            </a:extLst>
          </p:cNvPr>
          <p:cNvSpPr txBox="1"/>
          <p:nvPr/>
        </p:nvSpPr>
        <p:spPr>
          <a:xfrm>
            <a:off x="8204200" y="3810000"/>
            <a:ext cx="3022600" cy="1905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•  Oracle: Trivadis v4.4, ~35 Regeln
•  PostgreSQL: ACI-eigen, 16 Regeln
•  Stil, Wartbarkeit, Zuverlässigkeit
•  IDs: G-NNNN / PG-NNNN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5379542-2031-A145-9D49-BF176A997825}"/>
              </a:ext>
            </a:extLst>
          </p:cNvPr>
          <p:cNvSpPr txBox="1"/>
          <p:nvPr/>
        </p:nvSpPr>
        <p:spPr>
          <a:xfrm>
            <a:off x="8204200" y="5943600"/>
            <a:ext cx="30226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666666"/>
                </a:solidFill>
              </a:rPr>
              <a:t>Skala: Info · Minor · Major · Critical · Blocker</a:t>
            </a:r>
          </a:p>
        </p:txBody>
      </p:sp>
    </p:spTree>
    <p:extLst>
      <p:ext uri="{BB962C8B-B14F-4D97-AF65-F5344CB8AC3E}">
        <p14:creationId xmlns:p14="http://schemas.microsoft.com/office/powerpoint/2010/main" val="269829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087C1CF-193E-7F4D-87C8-C654B013EFAF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HISTORIE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FE3708-5137-4242-BC3C-C4910BD8B52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ACI Historie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3BEB3C3-F968-0C48-ABF3-37AFC90C5856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0514F02-7B97-3240-B7AB-E1AA2DA2903D}"/>
              </a:ext>
            </a:extLst>
          </p:cNvPr>
          <p:cNvSpPr/>
          <p:nvPr/>
        </p:nvSpPr>
        <p:spPr>
          <a:xfrm>
            <a:off x="762000" y="1778000"/>
            <a:ext cx="10668000" cy="1143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479CB-ADD4-FE4B-8E45-29A97167C4CB}"/>
              </a:ext>
            </a:extLst>
          </p:cNvPr>
          <p:cNvSpPr txBox="1"/>
          <p:nvPr/>
        </p:nvSpPr>
        <p:spPr>
          <a:xfrm>
            <a:off x="1016000" y="19685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Von Version 0.01 zum heutigen ACI 2.20.1 — die wichtigsten qualitativen Sprünge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F5D3A65-2FFF-8FA0-E27C-F09A2DE2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492500"/>
            <a:ext cx="5461000" cy="2159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F6B2A4F2-D4AD-DF42-8676-B22B1948C40C}"/>
              </a:ext>
            </a:extLst>
          </p:cNvPr>
          <p:cNvSpPr/>
          <p:nvPr/>
        </p:nvSpPr>
        <p:spPr>
          <a:xfrm>
            <a:off x="6223000" y="3048000"/>
            <a:ext cx="5461000" cy="355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Version 2.20.1 — heute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30BA0F-08F1-2649-B5F1-A510BCEE4897}"/>
              </a:ext>
            </a:extLst>
          </p:cNvPr>
          <p:cNvSpPr txBox="1"/>
          <p:nvPr/>
        </p:nvSpPr>
        <p:spPr>
          <a:xfrm>
            <a:off x="508000" y="5994400"/>
            <a:ext cx="1117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de-DE" sz="1100" b="1">
                <a:solidFill>
                  <a:srgbClr val="0E2841"/>
                </a:solidFill>
              </a:rPr>
              <a:t>Vom Suchen zum Verstehen  ·  SQL-Injection statt Regex-Alarm  ·  ROT13 → Integritäts-Hash  ·  Produktreife (1057 Tests, 4 Reportformate, CI/CD)</a:t>
            </a:r>
            <a:r>
              <a:rPr lang="de-DE" sz="1100">
                <a:solidFill>
                  <a:srgbClr val="1A1A1A"/>
                </a:solidFill>
              </a:rPr>
              <a:t/>
            </a:r>
            <a:r>
              <a:rPr lang="de-DE" sz="1100" b="1">
                <a:solidFill>
                  <a:srgbClr val="0E2841"/>
                </a:solidFill>
              </a:rPr>
              <a:t/>
            </a:r>
            <a:r>
              <a:rPr lang="de-DE" sz="1100">
                <a:solidFill>
                  <a:srgbClr val="1A1A1A"/>
                </a:solidFill>
              </a:rPr>
              <a:t/>
            </a:r>
            <a:r>
              <a:rPr lang="de-DE" sz="1100" b="1">
                <a:solidFill>
                  <a:srgbClr val="0E2841"/>
                </a:solidFill>
              </a:rPr>
              <a:t/>
            </a:r>
            <a:r>
              <a:rPr lang="de-DE" sz="1100">
                <a:solidFill>
                  <a:srgbClr val="1A1A1A"/>
                </a:solidFill>
              </a:rPr>
              <a:t/>
            </a:r>
            <a:r>
              <a:rPr lang="de-DE" sz="1100" b="1">
                <a:solidFill>
                  <a:srgbClr val="0E2841"/>
                </a:solidFill>
              </a:rPr>
              <a:t/>
            </a:r>
            <a:r>
              <a:rPr lang="de-DE" sz="1100">
                <a:solidFill>
                  <a:srgbClr val="1A1A1A"/>
                </a:solidFill>
              </a:rPr>
              <a:t/>
            </a:r>
          </a:p>
          <a:p>
            <a:pPr algn="ctr">
              <a:spcBef>
                <a:spcPts val="300"/>
              </a:spcBef>
              <a:buNone/>
            </a:pPr>
            <a:r>
              <a:rPr lang="de-DE" sz="1000" i="1">
                <a:solidFill>
                  <a:srgbClr val="595959"/>
                </a:solidFill>
              </a:rPr>
              <a:t>Gleich geblieben: regelbasierte statische Prüfung mit nach Schweregrad sortierten Befunden — und der Name ACI.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E25751-E856-C945-8350-925C1AA1E345}"/>
              </a:ext>
            </a:extLst>
          </p:cNvPr>
          <p:cNvSpPr/>
          <p:nvPr/>
        </p:nvSpPr>
        <p:spPr>
          <a:xfrm>
            <a:off x="508000" y="3048000"/>
            <a:ext cx="5461000" cy="355600"/>
          </a:xfrm>
          <a:prstGeom prst="rect">
            <a:avLst/>
          </a:prstGeom>
          <a:solidFill>
            <a:srgbClr val="59595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Version 0.01 — Prototyp (2025)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B9D737E-A58B-697F-C592-BA2C73479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530600"/>
            <a:ext cx="54610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0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2AD1A94-7215-E840-9964-4296AAD26C62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b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  <a:latin typeface="Calibri"/>
                <a:cs typeface="Calibri"/>
              </a:rPr>
              <a:t>ÜBERBLICK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89060BE-496A-B944-9F75-5C7177347CB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Hauptmerkmale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51FBC6-07E2-2F40-A0F5-C3C2BD0E0381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BBCA8E9-D153-D44E-9BAC-0429CEDA9FBA}"/>
              </a:ext>
            </a:extLst>
          </p:cNvPr>
          <p:cNvSpPr/>
          <p:nvPr/>
        </p:nvSpPr>
        <p:spPr>
          <a:xfrm>
            <a:off x="762000" y="1841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71D317-428E-2748-B97F-27861832580F}"/>
              </a:ext>
            </a:extLst>
          </p:cNvPr>
          <p:cNvSpPr/>
          <p:nvPr/>
        </p:nvSpPr>
        <p:spPr>
          <a:xfrm>
            <a:off x="990600" y="2070100"/>
            <a:ext cx="558800" cy="5588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4776FB-AFDF-964C-BD30-91AD8156AA14}"/>
              </a:ext>
            </a:extLst>
          </p:cNvPr>
          <p:cNvSpPr txBox="1"/>
          <p:nvPr/>
        </p:nvSpPr>
        <p:spPr>
          <a:xfrm>
            <a:off x="1714500" y="2095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Zwei Prüfgruppen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CAD534-BF2C-5B44-99E6-78208428BFD3}"/>
              </a:ext>
            </a:extLst>
          </p:cNvPr>
          <p:cNvSpPr txBox="1"/>
          <p:nvPr/>
        </p:nvSpPr>
        <p:spPr>
          <a:xfrm>
            <a:off x="1714500" y="2425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333333"/>
                </a:solidFill>
              </a:rPr>
              <a:t>Sicherheit und Coding Guidelines mit getrennten Schweregrad-Skalen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A037B69-08DA-F549-ACBF-BCCAECDB3F85}"/>
              </a:ext>
            </a:extLst>
          </p:cNvPr>
          <p:cNvSpPr/>
          <p:nvPr/>
        </p:nvSpPr>
        <p:spPr>
          <a:xfrm>
            <a:off x="4368800" y="1841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BFF436-4B68-E342-8012-E66A2BA8C45F}"/>
              </a:ext>
            </a:extLst>
          </p:cNvPr>
          <p:cNvSpPr/>
          <p:nvPr/>
        </p:nvSpPr>
        <p:spPr>
          <a:xfrm>
            <a:off x="4597400" y="2070100"/>
            <a:ext cx="558800" cy="5588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F8B1ED0-D5F2-1244-A708-2C4E09606AF5}"/>
              </a:ext>
            </a:extLst>
          </p:cNvPr>
          <p:cNvSpPr txBox="1"/>
          <p:nvPr/>
        </p:nvSpPr>
        <p:spPr>
          <a:xfrm>
            <a:off x="5321300" y="2095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5 Sicherheits-Checks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53BA34D-0554-9A4E-8579-BFCD8EEE9C9C}"/>
              </a:ext>
            </a:extLst>
          </p:cNvPr>
          <p:cNvSpPr txBox="1"/>
          <p:nvPr/>
        </p:nvSpPr>
        <p:spPr>
          <a:xfrm>
            <a:off x="5321300" y="2425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333333"/>
                </a:solidFill>
              </a:rPr>
              <a:t>Plus ca. 35 Oracle-Guidelines (Trivadis v4.4) und 16 PostgreSQL-Guidelines (ACI-eigen)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9B1E3FC-898A-7A44-8E1A-C6F79F267A0B}"/>
              </a:ext>
            </a:extLst>
          </p:cNvPr>
          <p:cNvSpPr/>
          <p:nvPr/>
        </p:nvSpPr>
        <p:spPr>
          <a:xfrm>
            <a:off x="7975600" y="1841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455B03-97FE-6B4D-9D12-2479815DE92D}"/>
              </a:ext>
            </a:extLst>
          </p:cNvPr>
          <p:cNvSpPr/>
          <p:nvPr/>
        </p:nvSpPr>
        <p:spPr>
          <a:xfrm>
            <a:off x="8204200" y="2070100"/>
            <a:ext cx="558800" cy="5588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0D50AC1-97EB-DC48-AA6F-E363D9A17F61}"/>
              </a:ext>
            </a:extLst>
          </p:cNvPr>
          <p:cNvSpPr txBox="1"/>
          <p:nvPr/>
        </p:nvSpPr>
        <p:spPr>
          <a:xfrm>
            <a:off x="8928100" y="2095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2 SQL-Dialekte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4C9ED8B-69FD-2B45-8A5A-D7EB23BB99F4}"/>
              </a:ext>
            </a:extLst>
          </p:cNvPr>
          <p:cNvSpPr txBox="1"/>
          <p:nvPr/>
        </p:nvSpPr>
        <p:spPr>
          <a:xfrm>
            <a:off x="8928100" y="2425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333333"/>
                </a:solidFill>
              </a:rPr>
              <a:t>Oracle PL/SQL und PostgreSQL PL/pgSQL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A19F19A-98B3-EC48-9625-18E6C00E95B5}"/>
              </a:ext>
            </a:extLst>
          </p:cNvPr>
          <p:cNvSpPr/>
          <p:nvPr/>
        </p:nvSpPr>
        <p:spPr>
          <a:xfrm>
            <a:off x="762000" y="3873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63A408-976E-9A42-A3CD-7833615614D1}"/>
              </a:ext>
            </a:extLst>
          </p:cNvPr>
          <p:cNvSpPr/>
          <p:nvPr/>
        </p:nvSpPr>
        <p:spPr>
          <a:xfrm>
            <a:off x="990600" y="4102100"/>
            <a:ext cx="558800" cy="558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4D118C9-6D74-7A4E-BEC3-5413E53E10FF}"/>
              </a:ext>
            </a:extLst>
          </p:cNvPr>
          <p:cNvSpPr txBox="1"/>
          <p:nvPr/>
        </p:nvSpPr>
        <p:spPr>
          <a:xfrm>
            <a:off x="1714500" y="4127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4 Ausgabeformate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35AD8BA-8BF7-B64D-A105-E828E3D65F87}"/>
              </a:ext>
            </a:extLst>
          </p:cNvPr>
          <p:cNvSpPr txBox="1"/>
          <p:nvPr/>
        </p:nvSpPr>
        <p:spPr>
          <a:xfrm>
            <a:off x="1714500" y="4457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333333"/>
                </a:solidFill>
              </a:rPr>
              <a:t>Konsole, JSON, HTML und SARIF für Code-Scanning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0E0384E-7817-E840-AED5-767F8F11E9C7}"/>
              </a:ext>
            </a:extLst>
          </p:cNvPr>
          <p:cNvSpPr/>
          <p:nvPr/>
        </p:nvSpPr>
        <p:spPr>
          <a:xfrm>
            <a:off x="4368800" y="3873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62B02E-273D-7649-9687-3DF19F1805F7}"/>
              </a:ext>
            </a:extLst>
          </p:cNvPr>
          <p:cNvSpPr/>
          <p:nvPr/>
        </p:nvSpPr>
        <p:spPr>
          <a:xfrm>
            <a:off x="4597400" y="4102100"/>
            <a:ext cx="558800" cy="5588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EA4717E-556B-AB4C-B3C0-42B23110CCA1}"/>
              </a:ext>
            </a:extLst>
          </p:cNvPr>
          <p:cNvSpPr txBox="1"/>
          <p:nvPr/>
        </p:nvSpPr>
        <p:spPr>
          <a:xfrm>
            <a:off x="5321300" y="4127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JSON-Regeldateien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09C1DEB-FEC9-8B41-A482-574D78895553}"/>
              </a:ext>
            </a:extLst>
          </p:cNvPr>
          <p:cNvSpPr txBox="1"/>
          <p:nvPr/>
        </p:nvSpPr>
        <p:spPr>
          <a:xfrm>
            <a:off x="5321300" y="4457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333333"/>
                </a:solidFill>
              </a:rPr>
              <a:t>Extern, ohne Code-Änderung erweiterbar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653F0D3-2A76-6F48-8246-7AC6CF2695A8}"/>
              </a:ext>
            </a:extLst>
          </p:cNvPr>
          <p:cNvSpPr/>
          <p:nvPr/>
        </p:nvSpPr>
        <p:spPr>
          <a:xfrm>
            <a:off x="7975600" y="3873500"/>
            <a:ext cx="3454400" cy="18796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86BC67-AC98-D843-A7F8-8D2B0460B17D}"/>
              </a:ext>
            </a:extLst>
          </p:cNvPr>
          <p:cNvSpPr/>
          <p:nvPr/>
        </p:nvSpPr>
        <p:spPr>
          <a:xfrm>
            <a:off x="8204200" y="4102100"/>
            <a:ext cx="558800" cy="5588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F8C24AD-C28E-F34A-9B8A-F4C515067336}"/>
              </a:ext>
            </a:extLst>
          </p:cNvPr>
          <p:cNvSpPr txBox="1"/>
          <p:nvPr/>
        </p:nvSpPr>
        <p:spPr>
          <a:xfrm>
            <a:off x="8928100" y="41275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CI/CD-fähig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1BFFE12-BB32-FB4C-80AC-99F5495F94DD}"/>
              </a:ext>
            </a:extLst>
          </p:cNvPr>
          <p:cNvSpPr txBox="1"/>
          <p:nvPr/>
        </p:nvSpPr>
        <p:spPr>
          <a:xfrm>
            <a:off x="8928100" y="4457700"/>
            <a:ext cx="2311400" cy="1117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333333"/>
                </a:solidFill>
              </a:rPr>
              <a:t>Auswertbare Exit-Codes, Waiver, Ruleset-Hash</a:t>
            </a:r>
          </a:p>
        </p:txBody>
      </p:sp>
    </p:spTree>
    <p:extLst>
      <p:ext uri="{BB962C8B-B14F-4D97-AF65-F5344CB8AC3E}">
        <p14:creationId xmlns:p14="http://schemas.microsoft.com/office/powerpoint/2010/main" val="80713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B2C261-1647-E24C-8F2F-DFE04350AEE7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AUDIT-HINWEISE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BB59B8-EEAF-E44C-AA19-30102D8D636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Kritische Einschränkungen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166F2C-B68E-0E43-85EF-9534EE70B33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B722325-F8D1-494C-BFD7-8A92FD7118D0}"/>
              </a:ext>
            </a:extLst>
          </p:cNvPr>
          <p:cNvSpPr/>
          <p:nvPr/>
        </p:nvSpPr>
        <p:spPr>
          <a:xfrm>
            <a:off x="762000" y="1651000"/>
            <a:ext cx="10668000" cy="711200"/>
          </a:xfrm>
          <a:prstGeom prst="rect">
            <a:avLst/>
          </a:prstGeom>
          <a:solidFill>
            <a:srgbClr val="FDF2E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5637CA-5BA7-A341-B68C-CE315BABA65A}"/>
              </a:ext>
            </a:extLst>
          </p:cNvPr>
          <p:cNvSpPr/>
          <p:nvPr/>
        </p:nvSpPr>
        <p:spPr>
          <a:xfrm>
            <a:off x="762000" y="1651000"/>
            <a:ext cx="63500" cy="711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Dreieck 6">
            <a:extLst>
              <a:ext uri="{FF2B5EF4-FFF2-40B4-BE49-F238E27FC236}">
                <a16:creationId xmlns:a16="http://schemas.microsoft.com/office/drawing/2014/main" id="{6D0C8F06-F7DD-AD47-A96D-CF873A69743F}"/>
              </a:ext>
            </a:extLst>
          </p:cNvPr>
          <p:cNvSpPr/>
          <p:nvPr/>
        </p:nvSpPr>
        <p:spPr>
          <a:xfrm>
            <a:off x="990600" y="1841500"/>
            <a:ext cx="355600" cy="330200"/>
          </a:xfrm>
          <a:prstGeom prst="triangl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D2BC53-95E4-5D41-9848-C211C1E8DA05}"/>
              </a:ext>
            </a:extLst>
          </p:cNvPr>
          <p:cNvSpPr txBox="1"/>
          <p:nvPr/>
        </p:nvSpPr>
        <p:spPr>
          <a:xfrm>
            <a:off x="990600" y="1930400"/>
            <a:ext cx="3556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F0B1848-7DAD-364F-B8CC-F4ABD6FBAF3C}"/>
              </a:ext>
            </a:extLst>
          </p:cNvPr>
          <p:cNvSpPr txBox="1"/>
          <p:nvPr/>
        </p:nvSpPr>
        <p:spPr>
          <a:xfrm>
            <a:off x="1524000" y="1778000"/>
            <a:ext cx="9779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ACI ist kein vollständiger SQL-Compiler — es bleibt ein heuristischer statischer Scanner.
Für Audit und Freigabe sind die folgenden Grenzen maßgeblich.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53EAD33-E31C-DE45-A34B-1D80BF95C031}"/>
              </a:ext>
            </a:extLst>
          </p:cNvPr>
          <p:cNvSpPr/>
          <p:nvPr/>
        </p:nvSpPr>
        <p:spPr>
          <a:xfrm>
            <a:off x="762000" y="2667000"/>
            <a:ext cx="3429000" cy="1651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113149-355F-7C42-8679-F942830F84ED}"/>
              </a:ext>
            </a:extLst>
          </p:cNvPr>
          <p:cNvSpPr/>
          <p:nvPr/>
        </p:nvSpPr>
        <p:spPr>
          <a:xfrm>
            <a:off x="762000" y="2667000"/>
            <a:ext cx="50800" cy="165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E3B9D9-F727-994F-9D15-5071D00B9232}"/>
              </a:ext>
            </a:extLst>
          </p:cNvPr>
          <p:cNvSpPr txBox="1"/>
          <p:nvPr/>
        </p:nvSpPr>
        <p:spPr>
          <a:xfrm>
            <a:off x="990600" y="2870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False Positives / Negatives möglich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1301A5A-5505-EE49-B98F-FF3C2830954D}"/>
              </a:ext>
            </a:extLst>
          </p:cNvPr>
          <p:cNvSpPr txBox="1"/>
          <p:nvPr/>
        </p:nvSpPr>
        <p:spPr>
          <a:xfrm>
            <a:off x="990600" y="3429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ACI ersetzt kein manuelles Review. Befunde sind Indikatoren, keine Beweise.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02DE327-D1E1-0149-A1FF-2C6E08F27814}"/>
              </a:ext>
            </a:extLst>
          </p:cNvPr>
          <p:cNvSpPr/>
          <p:nvPr/>
        </p:nvSpPr>
        <p:spPr>
          <a:xfrm>
            <a:off x="4381500" y="2667000"/>
            <a:ext cx="3429000" cy="1651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88F27BD-1F57-E642-A916-F75FD901F5C7}"/>
              </a:ext>
            </a:extLst>
          </p:cNvPr>
          <p:cNvSpPr/>
          <p:nvPr/>
        </p:nvSpPr>
        <p:spPr>
          <a:xfrm>
            <a:off x="4381500" y="2667000"/>
            <a:ext cx="50800" cy="165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87ED1BC-0E98-FD49-8365-08DEE3441FA6}"/>
              </a:ext>
            </a:extLst>
          </p:cNvPr>
          <p:cNvSpPr txBox="1"/>
          <p:nvPr/>
        </p:nvSpPr>
        <p:spPr>
          <a:xfrm>
            <a:off x="4610100" y="2870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Dynamisches SQL nicht vollständig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9FF44F5-9D80-6147-8F2D-31EA92D7ADC2}"/>
              </a:ext>
            </a:extLst>
          </p:cNvPr>
          <p:cNvSpPr txBox="1"/>
          <p:nvPr/>
        </p:nvSpPr>
        <p:spPr>
          <a:xfrm>
            <a:off x="4610100" y="3429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Cross-Datei-Konkatenation, Templates, Migrations-Generatoren, datengetriebenes SQL bleiben blind.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D4F2957-0F71-804B-91BC-EBBF68666133}"/>
              </a:ext>
            </a:extLst>
          </p:cNvPr>
          <p:cNvSpPr/>
          <p:nvPr/>
        </p:nvSpPr>
        <p:spPr>
          <a:xfrm>
            <a:off x="8001000" y="2667000"/>
            <a:ext cx="3429000" cy="1651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433A5D3-29F9-ED45-8159-F81A90B5B0B8}"/>
              </a:ext>
            </a:extLst>
          </p:cNvPr>
          <p:cNvSpPr/>
          <p:nvPr/>
        </p:nvSpPr>
        <p:spPr>
          <a:xfrm>
            <a:off x="8001000" y="2667000"/>
            <a:ext cx="50800" cy="165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F13181F-6C84-ED4E-8312-2F74E6831689}"/>
              </a:ext>
            </a:extLst>
          </p:cNvPr>
          <p:cNvSpPr txBox="1"/>
          <p:nvPr/>
        </p:nvSpPr>
        <p:spPr>
          <a:xfrm>
            <a:off x="8229600" y="2870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Regeldateien = Trust Boundary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781FE50-5479-0A4E-B343-7D828FEC98DC}"/>
              </a:ext>
            </a:extLst>
          </p:cNvPr>
          <p:cNvSpPr txBox="1"/>
          <p:nvPr/>
        </p:nvSpPr>
        <p:spPr>
          <a:xfrm>
            <a:off x="8229600" y="34290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Wer aci/rules/ manipulieren kann, schwächt den CI/CD-Gate. Ruleset-Hash prüfen.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9067741-C4A9-9545-89C2-FCAF0A2BAE44}"/>
              </a:ext>
            </a:extLst>
          </p:cNvPr>
          <p:cNvSpPr/>
          <p:nvPr/>
        </p:nvSpPr>
        <p:spPr>
          <a:xfrm>
            <a:off x="762000" y="4508500"/>
            <a:ext cx="3429000" cy="1651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1ED2CC2-EB73-184D-BF4F-FD2BBC0E6B94}"/>
              </a:ext>
            </a:extLst>
          </p:cNvPr>
          <p:cNvSpPr/>
          <p:nvPr/>
        </p:nvSpPr>
        <p:spPr>
          <a:xfrm>
            <a:off x="762000" y="4508500"/>
            <a:ext cx="50800" cy="165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7E66D41-7B79-064D-9C6C-349000D67658}"/>
              </a:ext>
            </a:extLst>
          </p:cNvPr>
          <p:cNvSpPr txBox="1"/>
          <p:nvPr/>
        </p:nvSpPr>
        <p:spPr>
          <a:xfrm>
            <a:off x="990600" y="47117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Critical ≠ ausreichend für Gate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471CF2E-5DD4-0649-9521-BBB3220B2192}"/>
              </a:ext>
            </a:extLst>
          </p:cNvPr>
          <p:cNvSpPr txBox="1"/>
          <p:nvPr/>
        </p:nvSpPr>
        <p:spPr>
          <a:xfrm>
            <a:off x="990600" y="52705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Viele CI-relevante Befunde sind High, nicht Critical. Empfehlung: --fail-on high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8561E09-1120-DB41-9CED-AAF4B14AFF8A}"/>
              </a:ext>
            </a:extLst>
          </p:cNvPr>
          <p:cNvSpPr/>
          <p:nvPr/>
        </p:nvSpPr>
        <p:spPr>
          <a:xfrm>
            <a:off x="4381500" y="4508500"/>
            <a:ext cx="3429000" cy="1651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353FAB6-673B-C948-BEBF-F652C3D47AD4}"/>
              </a:ext>
            </a:extLst>
          </p:cNvPr>
          <p:cNvSpPr/>
          <p:nvPr/>
        </p:nvSpPr>
        <p:spPr>
          <a:xfrm>
            <a:off x="4381500" y="4508500"/>
            <a:ext cx="50800" cy="165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6D9DE76-2F36-104D-812F-E937F76A009E}"/>
              </a:ext>
            </a:extLst>
          </p:cNvPr>
          <p:cNvSpPr txBox="1"/>
          <p:nvPr/>
        </p:nvSpPr>
        <p:spPr>
          <a:xfrm>
            <a:off x="4610100" y="47117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PostgreSQL-Policies verstreut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DD1C33-A622-F447-90AF-88F18620F9BB}"/>
              </a:ext>
            </a:extLst>
          </p:cNvPr>
          <p:cNvSpPr txBox="1"/>
          <p:nvPr/>
        </p:nvSpPr>
        <p:spPr>
          <a:xfrm>
            <a:off x="4610100" y="52705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Critical-CI/CD-Policies teils in MITRE/Spezialdetektoren, nicht alle in ddl_in_code.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CB21518-3B88-524B-9EA6-B98B217D0479}"/>
              </a:ext>
            </a:extLst>
          </p:cNvPr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Empfehlung: ACI als ersten automatisierten Filter einsetzen — Findings sind Ausgangspunkt für gezieltes manuelles Review.</a:t>
            </a:r>
          </a:p>
        </p:txBody>
      </p:sp>
    </p:spTree>
    <p:extLst>
      <p:ext uri="{BB962C8B-B14F-4D97-AF65-F5344CB8AC3E}">
        <p14:creationId xmlns:p14="http://schemas.microsoft.com/office/powerpoint/2010/main" val="111445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DFDCBA4-3D78-374F-94F8-690B61205177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ARCHITEKTUR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6968D9E-EF22-4A4B-BEB4-8A3A30062BCF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High-Level-Pipeline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37E498-8B0D-CA49-8A20-9087E52C03E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8FC2034-B69D-0146-98A8-DB7E205BEC4A}"/>
              </a:ext>
            </a:extLst>
          </p:cNvPr>
          <p:cNvSpPr txBox="1"/>
          <p:nvPr/>
        </p:nvSpPr>
        <p:spPr>
          <a:xfrm>
            <a:off x="762000" y="1651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 i="1">
                <a:solidFill>
                  <a:srgbClr val="555555"/>
                </a:solidFill>
              </a:rPr>
              <a:t>Quelltext durchläuft eine feste Kette von Modulen — von der lexikalischen Analyse bis zum Report.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CACD410E-F464-7C48-AC44-4A467C5E2417}"/>
              </a:ext>
            </a:extLst>
          </p:cNvPr>
          <p:cNvSpPr/>
          <p:nvPr/>
        </p:nvSpPr>
        <p:spPr>
          <a:xfrm>
            <a:off x="749300" y="2222500"/>
            <a:ext cx="1549400" cy="190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12F022-B28D-1444-B05C-640647F533D6}"/>
              </a:ext>
            </a:extLst>
          </p:cNvPr>
          <p:cNvSpPr/>
          <p:nvPr/>
        </p:nvSpPr>
        <p:spPr>
          <a:xfrm>
            <a:off x="8509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1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ADDED60-98BD-414C-9F0B-56AB4645558B}"/>
              </a:ext>
            </a:extLst>
          </p:cNvPr>
          <p:cNvSpPr txBox="1"/>
          <p:nvPr/>
        </p:nvSpPr>
        <p:spPr>
          <a:xfrm>
            <a:off x="8763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Lexer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A1C2508-F315-9845-8A0E-D008D1C90982}"/>
              </a:ext>
            </a:extLst>
          </p:cNvPr>
          <p:cNvSpPr txBox="1"/>
          <p:nvPr/>
        </p:nvSpPr>
        <p:spPr>
          <a:xfrm>
            <a:off x="8763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aci/lexer.py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FC57EC0-846B-C24C-BD49-EED8BA404B0E}"/>
              </a:ext>
            </a:extLst>
          </p:cNvPr>
          <p:cNvSpPr txBox="1"/>
          <p:nvPr/>
        </p:nvSpPr>
        <p:spPr>
          <a:xfrm>
            <a:off x="8763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Tokens, Maskierung
von Strings &amp; Kommentaren</a:t>
            </a:r>
          </a:p>
        </p:txBody>
      </p:sp>
      <p:sp>
        <p:nvSpPr>
          <p:cNvPr id="46" name="Pfeil nach rechts 45">
            <a:extLst>
              <a:ext uri="{FF2B5EF4-FFF2-40B4-BE49-F238E27FC236}">
                <a16:creationId xmlns:a16="http://schemas.microsoft.com/office/drawing/2014/main" id="{3FCA290D-E8BF-E541-8221-F81BEBE594A0}"/>
              </a:ext>
            </a:extLst>
          </p:cNvPr>
          <p:cNvSpPr/>
          <p:nvPr/>
        </p:nvSpPr>
        <p:spPr>
          <a:xfrm>
            <a:off x="2324100" y="3035300"/>
            <a:ext cx="2286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D29836E-F442-F840-81CD-B74ED44E96DF}"/>
              </a:ext>
            </a:extLst>
          </p:cNvPr>
          <p:cNvSpPr/>
          <p:nvPr/>
        </p:nvSpPr>
        <p:spPr>
          <a:xfrm>
            <a:off x="2578100" y="2222500"/>
            <a:ext cx="1549400" cy="1905000"/>
          </a:xfrm>
          <a:prstGeom prst="rect">
            <a:avLst/>
          </a:prstGeom>
          <a:solidFill>
            <a:srgbClr val="1E7A9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5EB1198-E0A0-CF4B-B9E7-46E75B2D9329}"/>
              </a:ext>
            </a:extLst>
          </p:cNvPr>
          <p:cNvSpPr/>
          <p:nvPr/>
        </p:nvSpPr>
        <p:spPr>
          <a:xfrm>
            <a:off x="26797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1E7A9E"/>
                </a:solidFill>
              </a:rPr>
              <a:t>2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2FF03A4C-C684-494D-9856-665FB1A7A3F8}"/>
              </a:ext>
            </a:extLst>
          </p:cNvPr>
          <p:cNvSpPr txBox="1"/>
          <p:nvPr/>
        </p:nvSpPr>
        <p:spPr>
          <a:xfrm>
            <a:off x="27051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Parser / IR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385FE11-140B-F945-BD8E-3F2E4331877F}"/>
              </a:ext>
            </a:extLst>
          </p:cNvPr>
          <p:cNvSpPr txBox="1"/>
          <p:nvPr/>
        </p:nvSpPr>
        <p:spPr>
          <a:xfrm>
            <a:off x="27051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aci/parser.py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E1B43E6-D360-9D4B-8ACD-CC8AE8D1CEDE}"/>
              </a:ext>
            </a:extLst>
          </p:cNvPr>
          <p:cNvSpPr txBox="1"/>
          <p:nvPr/>
        </p:nvSpPr>
        <p:spPr>
          <a:xfrm>
            <a:off x="27051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Routinen, Statements,
dynamisches SQL</a:t>
            </a:r>
          </a:p>
        </p:txBody>
      </p:sp>
      <p:sp>
        <p:nvSpPr>
          <p:cNvPr id="52" name="Pfeil nach rechts 51">
            <a:extLst>
              <a:ext uri="{FF2B5EF4-FFF2-40B4-BE49-F238E27FC236}">
                <a16:creationId xmlns:a16="http://schemas.microsoft.com/office/drawing/2014/main" id="{35C31C0C-38CD-7340-9A78-765188BE8D28}"/>
              </a:ext>
            </a:extLst>
          </p:cNvPr>
          <p:cNvSpPr/>
          <p:nvPr/>
        </p:nvSpPr>
        <p:spPr>
          <a:xfrm>
            <a:off x="4152900" y="3035300"/>
            <a:ext cx="2286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440BDAEA-AD5D-144A-81B5-98EE95866A4E}"/>
              </a:ext>
            </a:extLst>
          </p:cNvPr>
          <p:cNvSpPr/>
          <p:nvPr/>
        </p:nvSpPr>
        <p:spPr>
          <a:xfrm>
            <a:off x="4406900" y="2222500"/>
            <a:ext cx="1549400" cy="1905000"/>
          </a:xfrm>
          <a:prstGeom prst="rect">
            <a:avLst/>
          </a:prstGeom>
          <a:solidFill>
            <a:srgbClr val="2890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C7ECFDE-CF67-944A-828A-7AF116C46ED3}"/>
              </a:ext>
            </a:extLst>
          </p:cNvPr>
          <p:cNvSpPr/>
          <p:nvPr/>
        </p:nvSpPr>
        <p:spPr>
          <a:xfrm>
            <a:off x="45085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2890B5"/>
                </a:solidFill>
              </a:rPr>
              <a:t>3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5AA8B4B0-40F4-C54A-A126-4A702EBB8CDA}"/>
              </a:ext>
            </a:extLst>
          </p:cNvPr>
          <p:cNvSpPr txBox="1"/>
          <p:nvPr/>
        </p:nvSpPr>
        <p:spPr>
          <a:xfrm>
            <a:off x="45339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Source-Fassade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E302383-75FA-A34A-A4A3-AE6297DA02BE}"/>
              </a:ext>
            </a:extLst>
          </p:cNvPr>
          <p:cNvSpPr txBox="1"/>
          <p:nvPr/>
        </p:nvSpPr>
        <p:spPr>
          <a:xfrm>
            <a:off x="45339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aci/source.py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D0459FD0-9025-E348-B1B5-6E68BE110A64}"/>
              </a:ext>
            </a:extLst>
          </p:cNvPr>
          <p:cNvSpPr txBox="1"/>
          <p:nvPr/>
        </p:nvSpPr>
        <p:spPr>
          <a:xfrm>
            <a:off x="45339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Bündelt Lexer + IR
pro Datei</a:t>
            </a:r>
          </a:p>
        </p:txBody>
      </p:sp>
      <p:sp>
        <p:nvSpPr>
          <p:cNvPr id="58" name="Pfeil nach rechts 57">
            <a:extLst>
              <a:ext uri="{FF2B5EF4-FFF2-40B4-BE49-F238E27FC236}">
                <a16:creationId xmlns:a16="http://schemas.microsoft.com/office/drawing/2014/main" id="{7888A231-7CC6-BF4F-8D86-5165DEF402A6}"/>
              </a:ext>
            </a:extLst>
          </p:cNvPr>
          <p:cNvSpPr/>
          <p:nvPr/>
        </p:nvSpPr>
        <p:spPr>
          <a:xfrm>
            <a:off x="5981700" y="3035300"/>
            <a:ext cx="2286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7C8CE69-9574-D04F-B523-F87E3BA41BA2}"/>
              </a:ext>
            </a:extLst>
          </p:cNvPr>
          <p:cNvSpPr/>
          <p:nvPr/>
        </p:nvSpPr>
        <p:spPr>
          <a:xfrm>
            <a:off x="6235700" y="2222500"/>
            <a:ext cx="1549400" cy="1905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2450825-DD11-3C47-A96F-D5624527153A}"/>
              </a:ext>
            </a:extLst>
          </p:cNvPr>
          <p:cNvSpPr/>
          <p:nvPr/>
        </p:nvSpPr>
        <p:spPr>
          <a:xfrm>
            <a:off x="63373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E97132"/>
                </a:solidFill>
              </a:rPr>
              <a:t>4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1CCE5010-1967-2B40-B8BF-9B3D2F429541}"/>
              </a:ext>
            </a:extLst>
          </p:cNvPr>
          <p:cNvSpPr txBox="1"/>
          <p:nvPr/>
        </p:nvSpPr>
        <p:spPr>
          <a:xfrm>
            <a:off x="63627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Checks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DABF5906-8AAC-4242-99C1-F31C65C5E2F2}"/>
              </a:ext>
            </a:extLst>
          </p:cNvPr>
          <p:cNvSpPr txBox="1"/>
          <p:nvPr/>
        </p:nvSpPr>
        <p:spPr>
          <a:xfrm>
            <a:off x="63627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aci/checks.py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2E38B75A-9E41-4E40-BEF2-6516FD8ECE93}"/>
              </a:ext>
            </a:extLst>
          </p:cNvPr>
          <p:cNvSpPr txBox="1"/>
          <p:nvPr/>
        </p:nvSpPr>
        <p:spPr>
          <a:xfrm>
            <a:off x="63627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Security, Guideline-,
MITRE-Detektoren</a:t>
            </a:r>
          </a:p>
        </p:txBody>
      </p:sp>
      <p:sp>
        <p:nvSpPr>
          <p:cNvPr id="64" name="Pfeil nach rechts 63">
            <a:extLst>
              <a:ext uri="{FF2B5EF4-FFF2-40B4-BE49-F238E27FC236}">
                <a16:creationId xmlns:a16="http://schemas.microsoft.com/office/drawing/2014/main" id="{B3AEED43-CCDF-9A4E-B386-0B2FC482D070}"/>
              </a:ext>
            </a:extLst>
          </p:cNvPr>
          <p:cNvSpPr/>
          <p:nvPr/>
        </p:nvSpPr>
        <p:spPr>
          <a:xfrm>
            <a:off x="7810500" y="3035300"/>
            <a:ext cx="2286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7C34BBF-A32F-7042-A99A-19997F2BDF8F}"/>
              </a:ext>
            </a:extLst>
          </p:cNvPr>
          <p:cNvSpPr/>
          <p:nvPr/>
        </p:nvSpPr>
        <p:spPr>
          <a:xfrm>
            <a:off x="8064500" y="2222500"/>
            <a:ext cx="1549400" cy="1905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D0D0026-A043-864A-8AA4-78A3CC20B455}"/>
              </a:ext>
            </a:extLst>
          </p:cNvPr>
          <p:cNvSpPr/>
          <p:nvPr/>
        </p:nvSpPr>
        <p:spPr>
          <a:xfrm>
            <a:off x="81661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196B24"/>
                </a:solidFill>
              </a:rPr>
              <a:t>5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111E548-8132-2941-954C-9DD1BA328C65}"/>
              </a:ext>
            </a:extLst>
          </p:cNvPr>
          <p:cNvSpPr txBox="1"/>
          <p:nvPr/>
        </p:nvSpPr>
        <p:spPr>
          <a:xfrm>
            <a:off x="81915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Findings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FE9D0EAF-CB89-104C-90EA-B6215645265F}"/>
              </a:ext>
            </a:extLst>
          </p:cNvPr>
          <p:cNvSpPr txBox="1"/>
          <p:nvPr/>
        </p:nvSpPr>
        <p:spPr>
          <a:xfrm>
            <a:off x="81915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finding · waivers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14E76A20-D257-714E-BE98-D6F7A7877EF3}"/>
              </a:ext>
            </a:extLst>
          </p:cNvPr>
          <p:cNvSpPr txBox="1"/>
          <p:nvPr/>
        </p:nvSpPr>
        <p:spPr>
          <a:xfrm>
            <a:off x="81915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Severity, Fingerprint;
Waiver anwenden</a:t>
            </a:r>
          </a:p>
        </p:txBody>
      </p:sp>
      <p:sp>
        <p:nvSpPr>
          <p:cNvPr id="70" name="Pfeil nach rechts 69">
            <a:extLst>
              <a:ext uri="{FF2B5EF4-FFF2-40B4-BE49-F238E27FC236}">
                <a16:creationId xmlns:a16="http://schemas.microsoft.com/office/drawing/2014/main" id="{068B825F-EA7A-9446-82D7-579BE4E211B3}"/>
              </a:ext>
            </a:extLst>
          </p:cNvPr>
          <p:cNvSpPr/>
          <p:nvPr/>
        </p:nvSpPr>
        <p:spPr>
          <a:xfrm>
            <a:off x="9639300" y="3035300"/>
            <a:ext cx="2286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E14D4632-ABC2-4440-8BAF-A82224E82965}"/>
              </a:ext>
            </a:extLst>
          </p:cNvPr>
          <p:cNvSpPr/>
          <p:nvPr/>
        </p:nvSpPr>
        <p:spPr>
          <a:xfrm>
            <a:off x="9893300" y="2222500"/>
            <a:ext cx="1549400" cy="1905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55051ED-A354-E147-836C-4E93D56DFF8E}"/>
              </a:ext>
            </a:extLst>
          </p:cNvPr>
          <p:cNvSpPr/>
          <p:nvPr/>
        </p:nvSpPr>
        <p:spPr>
          <a:xfrm>
            <a:off x="9994900" y="2324100"/>
            <a:ext cx="330200" cy="330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F9ED5"/>
                </a:solidFill>
              </a:rPr>
              <a:t>6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90AC6BE2-8ACB-174C-B33D-A27C3DADEC0B}"/>
              </a:ext>
            </a:extLst>
          </p:cNvPr>
          <p:cNvSpPr txBox="1"/>
          <p:nvPr/>
        </p:nvSpPr>
        <p:spPr>
          <a:xfrm>
            <a:off x="10020300" y="2781300"/>
            <a:ext cx="1295400" cy="3302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Reporter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8479CDA-5E66-7E4E-B908-1286792069D5}"/>
              </a:ext>
            </a:extLst>
          </p:cNvPr>
          <p:cNvSpPr txBox="1"/>
          <p:nvPr/>
        </p:nvSpPr>
        <p:spPr>
          <a:xfrm>
            <a:off x="10020300" y="3111500"/>
            <a:ext cx="12954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E8E8E8"/>
                </a:solidFill>
                <a:latin typeface="Consolas"/>
                <a:cs typeface="Consolas"/>
              </a:rPr>
              <a:t>aci/reporting.py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B90E89A6-EF93-464F-9C49-F6E7B1716762}"/>
              </a:ext>
            </a:extLst>
          </p:cNvPr>
          <p:cNvSpPr txBox="1"/>
          <p:nvPr/>
        </p:nvSpPr>
        <p:spPr>
          <a:xfrm>
            <a:off x="10020300" y="3390900"/>
            <a:ext cx="1295400" cy="660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Console / JSON,
HTML / SARIF</a:t>
            </a:r>
          </a:p>
        </p:txBody>
      </p:sp>
      <p:sp>
        <p:nvSpPr>
          <p:cNvPr id="76" name="Abgerundetes Rechteck 75">
            <a:extLst>
              <a:ext uri="{FF2B5EF4-FFF2-40B4-BE49-F238E27FC236}">
                <a16:creationId xmlns:a16="http://schemas.microsoft.com/office/drawing/2014/main" id="{F7693CF0-D987-5840-B0A8-9ACB582F144D}"/>
              </a:ext>
            </a:extLst>
          </p:cNvPr>
          <p:cNvSpPr/>
          <p:nvPr/>
        </p:nvSpPr>
        <p:spPr>
          <a:xfrm>
            <a:off x="1016000" y="4508500"/>
            <a:ext cx="27940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15F73D8E-AC5C-9E4C-A769-0F87DEEF8023}"/>
              </a:ext>
            </a:extLst>
          </p:cNvPr>
          <p:cNvSpPr txBox="1"/>
          <p:nvPr/>
        </p:nvSpPr>
        <p:spPr>
          <a:xfrm>
            <a:off x="1117600" y="4572000"/>
            <a:ext cx="25908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</a:rPr>
              <a:t>EINGABE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EB8333C1-7D56-F340-BBCA-252E983FC77D}"/>
              </a:ext>
            </a:extLst>
          </p:cNvPr>
          <p:cNvSpPr txBox="1"/>
          <p:nvPr/>
        </p:nvSpPr>
        <p:spPr>
          <a:xfrm>
            <a:off x="1117600" y="4826000"/>
            <a:ext cx="2590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SQL-Quelltext (Oracle / PostgreSQL)</a:t>
            </a:r>
          </a:p>
        </p:txBody>
      </p:sp>
      <p:sp>
        <p:nvSpPr>
          <p:cNvPr id="79" name="Abgerundetes Rechteck 78">
            <a:extLst>
              <a:ext uri="{FF2B5EF4-FFF2-40B4-BE49-F238E27FC236}">
                <a16:creationId xmlns:a16="http://schemas.microsoft.com/office/drawing/2014/main" id="{CF2C3556-5DDC-784E-8798-8E57DEDF2BCE}"/>
              </a:ext>
            </a:extLst>
          </p:cNvPr>
          <p:cNvSpPr/>
          <p:nvPr/>
        </p:nvSpPr>
        <p:spPr>
          <a:xfrm>
            <a:off x="8382000" y="4508500"/>
            <a:ext cx="27940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0F9E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C4C6801-88AF-4D43-8EA7-151824519CDE}"/>
              </a:ext>
            </a:extLst>
          </p:cNvPr>
          <p:cNvSpPr txBox="1"/>
          <p:nvPr/>
        </p:nvSpPr>
        <p:spPr>
          <a:xfrm>
            <a:off x="8483600" y="4572000"/>
            <a:ext cx="25908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F9ED5"/>
                </a:solidFill>
              </a:rPr>
              <a:t>AUSGABE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3B02171F-D57E-DB46-8B9A-81874CC1EA99}"/>
              </a:ext>
            </a:extLst>
          </p:cNvPr>
          <p:cNvSpPr txBox="1"/>
          <p:nvPr/>
        </p:nvSpPr>
        <p:spPr>
          <a:xfrm>
            <a:off x="8483600" y="4826000"/>
            <a:ext cx="2590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Reports + Exit-Code (0 / 1 / 2)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D03342C9-1B26-2B41-84E2-E023D1032893}"/>
              </a:ext>
            </a:extLst>
          </p:cNvPr>
          <p:cNvSpPr txBox="1"/>
          <p:nvPr/>
        </p:nvSpPr>
        <p:spPr>
          <a:xfrm>
            <a:off x="762000" y="5524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666666"/>
                </a:solidFill>
              </a:rPr>
              <a:t>Orchestrierung: aci/cli.py:_run() lädt Regeln, prüft Optionen, verifiziert Regel-Integrität (Ruleset-Hash), scannt, wendet Waiver an und schreibt Reports.</a:t>
            </a:r>
          </a:p>
        </p:txBody>
      </p:sp>
    </p:spTree>
    <p:extLst>
      <p:ext uri="{BB962C8B-B14F-4D97-AF65-F5344CB8AC3E}">
        <p14:creationId xmlns:p14="http://schemas.microsoft.com/office/powerpoint/2010/main" val="247536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E0E527-ED39-B84C-BEF1-CEE2F4992AB3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ARCHITEKTUR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DF3076-2B42-524B-8DDD-7FF29A6464D7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Kernkonzepte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1972A82-22B4-6843-BCD2-872379546E8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0EFED4-707E-5448-9551-2909EF05CE6C}"/>
              </a:ext>
            </a:extLst>
          </p:cNvPr>
          <p:cNvSpPr/>
          <p:nvPr/>
        </p:nvSpPr>
        <p:spPr>
          <a:xfrm>
            <a:off x="762000" y="17780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8ABF0DF-4C20-B643-BBCE-053CAA307913}"/>
              </a:ext>
            </a:extLst>
          </p:cNvPr>
          <p:cNvSpPr/>
          <p:nvPr/>
        </p:nvSpPr>
        <p:spPr>
          <a:xfrm>
            <a:off x="762000" y="1778000"/>
            <a:ext cx="1143000" cy="2032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B64154-A49D-2544-AF59-57AC8CAA34D0}"/>
              </a:ext>
            </a:extLst>
          </p:cNvPr>
          <p:cNvSpPr txBox="1"/>
          <p:nvPr/>
        </p:nvSpPr>
        <p:spPr>
          <a:xfrm>
            <a:off x="762000" y="2616200"/>
            <a:ext cx="1143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IR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C3F6C00-E840-7548-9E2C-E6E64A12BAC4}"/>
              </a:ext>
            </a:extLst>
          </p:cNvPr>
          <p:cNvSpPr txBox="1"/>
          <p:nvPr/>
        </p:nvSpPr>
        <p:spPr>
          <a:xfrm>
            <a:off x="2095500" y="19812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Intermediate Representation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75C9F0-92AA-BF49-8A34-0CF02EE8542C}"/>
              </a:ext>
            </a:extLst>
          </p:cNvPr>
          <p:cNvSpPr txBox="1"/>
          <p:nvPr/>
        </p:nvSpPr>
        <p:spPr>
          <a:xfrm>
            <a:off x="2095500" y="23876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Leichtgewichtige Zwischenform: Routinen, Statements, Zuweisungen, dynamisches SQL. Kein vollständiger SQL-Compiler — bewahrt aber Statement- und Routine-Grenzen sowie die Reihenfolge von Zuweisungen.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7FEF8A2-A2C4-B24E-902F-3EFDBA984FA9}"/>
              </a:ext>
            </a:extLst>
          </p:cNvPr>
          <p:cNvSpPr/>
          <p:nvPr/>
        </p:nvSpPr>
        <p:spPr>
          <a:xfrm>
            <a:off x="6223000" y="17780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8560FC8-D7F3-4343-A61D-EB0336CF0409}"/>
              </a:ext>
            </a:extLst>
          </p:cNvPr>
          <p:cNvSpPr/>
          <p:nvPr/>
        </p:nvSpPr>
        <p:spPr>
          <a:xfrm>
            <a:off x="6223000" y="1778000"/>
            <a:ext cx="1143000" cy="2032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8B564AA-F8A6-6A41-BDBB-9DCDDFD276DD}"/>
              </a:ext>
            </a:extLst>
          </p:cNvPr>
          <p:cNvSpPr txBox="1"/>
          <p:nvPr/>
        </p:nvSpPr>
        <p:spPr>
          <a:xfrm>
            <a:off x="6223000" y="2616200"/>
            <a:ext cx="1143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MASK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E1E3A30-F73A-564B-831A-F7C117E6ECD6}"/>
              </a:ext>
            </a:extLst>
          </p:cNvPr>
          <p:cNvSpPr txBox="1"/>
          <p:nvPr/>
        </p:nvSpPr>
        <p:spPr>
          <a:xfrm>
            <a:off x="7556500" y="19812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Maskierung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2F9E505-08B2-384B-AED4-E63CC40ED3EC}"/>
              </a:ext>
            </a:extLst>
          </p:cNvPr>
          <p:cNvSpPr txBox="1"/>
          <p:nvPr/>
        </p:nvSpPr>
        <p:spPr>
          <a:xfrm>
            <a:off x="7556500" y="23876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code_masked ersetzt Kommentar- und String-Inhalte. So lösen Schlüsselwörter in Kommentaren keine Fehlalarme aus, und Detektoren können gezielt im Code oder im String-Inhalt suchen.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33D1C7C-2D8D-2F41-BEB6-5994E50AD2DE}"/>
              </a:ext>
            </a:extLst>
          </p:cNvPr>
          <p:cNvSpPr/>
          <p:nvPr/>
        </p:nvSpPr>
        <p:spPr>
          <a:xfrm>
            <a:off x="762000" y="40640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DB7C821-7809-B645-98C1-573BF4803BC7}"/>
              </a:ext>
            </a:extLst>
          </p:cNvPr>
          <p:cNvSpPr/>
          <p:nvPr/>
        </p:nvSpPr>
        <p:spPr>
          <a:xfrm>
            <a:off x="762000" y="4064000"/>
            <a:ext cx="1143000" cy="2032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39DBCA0-076C-D24C-B87E-8A7F91686609}"/>
              </a:ext>
            </a:extLst>
          </p:cNvPr>
          <p:cNvSpPr txBox="1"/>
          <p:nvPr/>
        </p:nvSpPr>
        <p:spPr>
          <a:xfrm>
            <a:off x="762000" y="4902200"/>
            <a:ext cx="1143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TAINT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981B925-9147-8240-AC9A-43A6CD3739D2}"/>
              </a:ext>
            </a:extLst>
          </p:cNvPr>
          <p:cNvSpPr txBox="1"/>
          <p:nvPr/>
        </p:nvSpPr>
        <p:spPr>
          <a:xfrm>
            <a:off x="2095500" y="42672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Taint-Quelle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F0780E3-D4BD-A849-866B-A700FDE00EAA}"/>
              </a:ext>
            </a:extLst>
          </p:cNvPr>
          <p:cNvSpPr txBox="1"/>
          <p:nvPr/>
        </p:nvSpPr>
        <p:spPr>
          <a:xfrm>
            <a:off x="2095500" y="46736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Bei SQL-Injection wird neben der Fundstelle (Sink) die Herkunft des dynamischen Strings ausgewiesen — die Zuweisung oder der Routinen-Parameter, der ihn aufbaut.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A40DE4A-025F-4441-95A2-C51D08A1F5B2}"/>
              </a:ext>
            </a:extLst>
          </p:cNvPr>
          <p:cNvSpPr/>
          <p:nvPr/>
        </p:nvSpPr>
        <p:spPr>
          <a:xfrm>
            <a:off x="6223000" y="40640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FD43AB3-3341-3344-B910-846B49FF77E1}"/>
              </a:ext>
            </a:extLst>
          </p:cNvPr>
          <p:cNvSpPr/>
          <p:nvPr/>
        </p:nvSpPr>
        <p:spPr>
          <a:xfrm>
            <a:off x="6223000" y="4064000"/>
            <a:ext cx="1143000" cy="2032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D6CEDDF-E219-F04C-8EF2-98883ED21CF3}"/>
              </a:ext>
            </a:extLst>
          </p:cNvPr>
          <p:cNvSpPr txBox="1"/>
          <p:nvPr/>
        </p:nvSpPr>
        <p:spPr>
          <a:xfrm>
            <a:off x="6223000" y="4902200"/>
            <a:ext cx="1143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09BA654-14B8-F447-8E94-9EC934874F14}"/>
              </a:ext>
            </a:extLst>
          </p:cNvPr>
          <p:cNvSpPr txBox="1"/>
          <p:nvPr/>
        </p:nvSpPr>
        <p:spPr>
          <a:xfrm>
            <a:off x="7556500" y="42672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Regeln sind Daten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053AA17-2BA6-2842-86F2-12044E3BC5D5}"/>
              </a:ext>
            </a:extLst>
          </p:cNvPr>
          <p:cNvSpPr txBox="1"/>
          <p:nvPr/>
        </p:nvSpPr>
        <p:spPr>
          <a:xfrm>
            <a:off x="7556500" y="4673600"/>
            <a:ext cx="3683000" cy="1270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Checks lesen JSON aus aci/rules/. Neue Regeln brauchen i.d.R. keinen Code — eine weitere Regel in der passenden Kategoriedatei genügt.</a:t>
            </a:r>
          </a:p>
        </p:txBody>
      </p:sp>
    </p:spTree>
    <p:extLst>
      <p:ext uri="{BB962C8B-B14F-4D97-AF65-F5344CB8AC3E}">
        <p14:creationId xmlns:p14="http://schemas.microsoft.com/office/powerpoint/2010/main" val="296364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AF9749F-48DB-7345-91EB-BE77E6744BB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ARCHITEKTUR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D4E30D5-E1B8-D842-B111-5B31141B60A5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Modulstruktur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6EE719-1161-6549-B3FF-D7FF5953B5B9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7088CD-6985-FF40-9BCA-89E0A2A3562D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Python-Paket — checks/ und reporting/ als Unterpakete; jede Datei kapselt eine Pipeline-Stufe.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BB265FF-BF39-864C-B973-B47153979CA0}"/>
              </a:ext>
            </a:extLst>
          </p:cNvPr>
          <p:cNvSpPr/>
          <p:nvPr/>
        </p:nvSpPr>
        <p:spPr>
          <a:xfrm>
            <a:off x="762000" y="2095500"/>
            <a:ext cx="5588000" cy="43815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41F27DB-571A-4140-AFD6-F277B4D5E04D}"/>
              </a:ext>
            </a:extLst>
          </p:cNvPr>
          <p:cNvSpPr txBox="1"/>
          <p:nvPr/>
        </p:nvSpPr>
        <p:spPr>
          <a:xfrm>
            <a:off x="965200" y="2260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E97132"/>
                </a:solidFill>
                <a:latin typeface="Consolas"/>
                <a:cs typeface="Consolas"/>
              </a:rPr>
              <a:t>ACI/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46FC30A-494A-334C-A9E8-22AAC8EA0F86}"/>
              </a:ext>
            </a:extLst>
          </p:cNvPr>
          <p:cNvSpPr txBox="1"/>
          <p:nvPr/>
        </p:nvSpPr>
        <p:spPr>
          <a:xfrm>
            <a:off x="965200" y="2603500"/>
            <a:ext cx="5207000" cy="37465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8E8E8"/>
                </a:solidFill>
                <a:latin typeface="Consolas"/>
                <a:cs typeface="Consolas"/>
              </a:rPr>
              <a:t>│
├─ aci.py                  CLI-Einstiegspunkt
├─ aci/                    Python-Paket
│   ├─ cli.py              _run() Orchestrierung
│   ├─ finding.py          Finding, Severity
│   ├─ lexer.py            Tokens, Maskierung
│   ├─ parser.py / ir.py   Parser- / IR-Schicht
│   ├─ source.py           Vorverarbeitung
│   ├─ rules.py            Regel-Loader
│   ├─ scanner.py          Scan-Engine
│   ├─ waivers.py          Ausnahmen
│   ├─ integrity.py        Ruleset-Hash
│   ├─ checks/             Unterpaket (Checks)
│   └─ reporting/          Unterpaket (Reports)
├─ rules/                  Regeldateien
│   ├─ oracle.json         Sicherheit (Oracle)
│   ├─ postgresql.json     Sicherheit (PG)
│   ├─ guidelines/oracle/  Coding Guidelines
│   └─ mitre/oracle/       MITRE-Indikatoren
├─ samples/                Beispieldateien
└─ docs/                   Dokumentation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98C9A5-26B1-DA48-B576-08393561FDD4}"/>
              </a:ext>
            </a:extLst>
          </p:cNvPr>
          <p:cNvSpPr/>
          <p:nvPr/>
        </p:nvSpPr>
        <p:spPr>
          <a:xfrm>
            <a:off x="6604000" y="20955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E9DE6BC-97D7-B945-B70C-0BC598FAAAF5}"/>
              </a:ext>
            </a:extLst>
          </p:cNvPr>
          <p:cNvSpPr/>
          <p:nvPr/>
        </p:nvSpPr>
        <p:spPr>
          <a:xfrm>
            <a:off x="6604000" y="2095500"/>
            <a:ext cx="50800" cy="660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D937AF-D55A-6143-9261-927CA97BD2E8}"/>
              </a:ext>
            </a:extLst>
          </p:cNvPr>
          <p:cNvSpPr txBox="1"/>
          <p:nvPr/>
        </p:nvSpPr>
        <p:spPr>
          <a:xfrm>
            <a:off x="6807200" y="21971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  <a:latin typeface="Consolas"/>
                <a:cs typeface="Consolas"/>
              </a:rPr>
              <a:t>finding.py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ADE0CFF-D3C2-184B-90E8-29C7DF606A0B}"/>
              </a:ext>
            </a:extLst>
          </p:cNvPr>
          <p:cNvSpPr txBox="1"/>
          <p:nvPr/>
        </p:nvSpPr>
        <p:spPr>
          <a:xfrm>
            <a:off x="6807200" y="2425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Finding, Severity, Fingerprint, Gruppen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26D7467-0C34-A246-BB6B-8496CF3DC686}"/>
              </a:ext>
            </a:extLst>
          </p:cNvPr>
          <p:cNvSpPr/>
          <p:nvPr/>
        </p:nvSpPr>
        <p:spPr>
          <a:xfrm>
            <a:off x="6604000" y="28321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5B978B9-51EB-354D-8477-0D4E2D95D4FB}"/>
              </a:ext>
            </a:extLst>
          </p:cNvPr>
          <p:cNvSpPr/>
          <p:nvPr/>
        </p:nvSpPr>
        <p:spPr>
          <a:xfrm>
            <a:off x="6604000" y="2832100"/>
            <a:ext cx="50800" cy="660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1E6A621-6EC8-D64B-A002-7759DE296F4B}"/>
              </a:ext>
            </a:extLst>
          </p:cNvPr>
          <p:cNvSpPr txBox="1"/>
          <p:nvPr/>
        </p:nvSpPr>
        <p:spPr>
          <a:xfrm>
            <a:off x="6807200" y="29337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7C61"/>
                </a:solidFill>
                <a:latin typeface="Consolas"/>
                <a:cs typeface="Consolas"/>
              </a:rPr>
              <a:t>parser.py / ir.py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A6FA9FD-CEB9-9240-849B-8B2EC0B1740C}"/>
              </a:ext>
            </a:extLst>
          </p:cNvPr>
          <p:cNvSpPr txBox="1"/>
          <p:nvPr/>
        </p:nvSpPr>
        <p:spPr>
          <a:xfrm>
            <a:off x="6807200" y="31623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Leichte IR: Routinen, Statements, dyn. SQL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065C204-77F2-FA42-A793-5E8C3C127621}"/>
              </a:ext>
            </a:extLst>
          </p:cNvPr>
          <p:cNvSpPr/>
          <p:nvPr/>
        </p:nvSpPr>
        <p:spPr>
          <a:xfrm>
            <a:off x="6604000" y="35687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24AF8AA-AD05-9C46-B067-463DAC68A7DD}"/>
              </a:ext>
            </a:extLst>
          </p:cNvPr>
          <p:cNvSpPr/>
          <p:nvPr/>
        </p:nvSpPr>
        <p:spPr>
          <a:xfrm>
            <a:off x="6604000" y="3568700"/>
            <a:ext cx="50800" cy="660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F9242E9-5EE4-3542-935F-4852D78BDB89}"/>
              </a:ext>
            </a:extLst>
          </p:cNvPr>
          <p:cNvSpPr txBox="1"/>
          <p:nvPr/>
        </p:nvSpPr>
        <p:spPr>
          <a:xfrm>
            <a:off x="6807200" y="36703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E97132"/>
                </a:solidFill>
                <a:latin typeface="Consolas"/>
                <a:cs typeface="Consolas"/>
              </a:rPr>
              <a:t>checks/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F55404F-9BF2-E940-81F8-1509A0AD0B97}"/>
              </a:ext>
            </a:extLst>
          </p:cNvPr>
          <p:cNvSpPr txBox="1"/>
          <p:nvPr/>
        </p:nvSpPr>
        <p:spPr>
          <a:xfrm>
            <a:off x="6807200" y="38989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base · lexical · sqli · ddl · detectors · guidelines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D71B477-00BB-0248-BB66-75F8D30C5503}"/>
              </a:ext>
            </a:extLst>
          </p:cNvPr>
          <p:cNvSpPr/>
          <p:nvPr/>
        </p:nvSpPr>
        <p:spPr>
          <a:xfrm>
            <a:off x="6604000" y="43053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8C38BDD-5A6C-AB47-B41A-5B1EE7167308}"/>
              </a:ext>
            </a:extLst>
          </p:cNvPr>
          <p:cNvSpPr/>
          <p:nvPr/>
        </p:nvSpPr>
        <p:spPr>
          <a:xfrm>
            <a:off x="6604000" y="4305300"/>
            <a:ext cx="50800" cy="660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4BCE1DA-A57E-7540-9DEC-AAA7E87C4976}"/>
              </a:ext>
            </a:extLst>
          </p:cNvPr>
          <p:cNvSpPr txBox="1"/>
          <p:nvPr/>
        </p:nvSpPr>
        <p:spPr>
          <a:xfrm>
            <a:off x="6807200" y="44069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7A5CFF"/>
                </a:solidFill>
                <a:latin typeface="Consolas"/>
                <a:cs typeface="Consolas"/>
              </a:rPr>
              <a:t>reporting/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DCF0B52-C971-6048-9595-A8287818E867}"/>
              </a:ext>
            </a:extLst>
          </p:cNvPr>
          <p:cNvSpPr txBox="1"/>
          <p:nvPr/>
        </p:nvSpPr>
        <p:spPr>
          <a:xfrm>
            <a:off x="6807200" y="4635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report · console · json_report · sarif · html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3771986-D100-384F-BEA3-EA4B7F8AFE72}"/>
              </a:ext>
            </a:extLst>
          </p:cNvPr>
          <p:cNvSpPr/>
          <p:nvPr/>
        </p:nvSpPr>
        <p:spPr>
          <a:xfrm>
            <a:off x="6604000" y="50419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25C73DD-ED2F-BD42-9334-04BB9E9CACBF}"/>
              </a:ext>
            </a:extLst>
          </p:cNvPr>
          <p:cNvSpPr/>
          <p:nvPr/>
        </p:nvSpPr>
        <p:spPr>
          <a:xfrm>
            <a:off x="6604000" y="5041900"/>
            <a:ext cx="50800" cy="6604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F268BD2-4714-3B42-8013-A0EA4DD02B96}"/>
              </a:ext>
            </a:extLst>
          </p:cNvPr>
          <p:cNvSpPr txBox="1"/>
          <p:nvPr/>
        </p:nvSpPr>
        <p:spPr>
          <a:xfrm>
            <a:off x="6807200" y="51435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B33A6A"/>
                </a:solidFill>
                <a:latin typeface="Consolas"/>
                <a:cs typeface="Consolas"/>
              </a:rPr>
              <a:t>waivers.py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0E4FD0C-E264-7B40-BF20-6A6324BC73DD}"/>
              </a:ext>
            </a:extLst>
          </p:cNvPr>
          <p:cNvSpPr txBox="1"/>
          <p:nvPr/>
        </p:nvSpPr>
        <p:spPr>
          <a:xfrm>
            <a:off x="6807200" y="53721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Ausnahmen mit Fingerprint-Bindung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AC341A9-3120-CC4E-A2BB-7BF2829FF406}"/>
              </a:ext>
            </a:extLst>
          </p:cNvPr>
          <p:cNvSpPr/>
          <p:nvPr/>
        </p:nvSpPr>
        <p:spPr>
          <a:xfrm>
            <a:off x="6604000" y="5778500"/>
            <a:ext cx="4826000" cy="660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5B6DF03-BAA0-7E4F-895D-8CB38E347650}"/>
              </a:ext>
            </a:extLst>
          </p:cNvPr>
          <p:cNvSpPr/>
          <p:nvPr/>
        </p:nvSpPr>
        <p:spPr>
          <a:xfrm>
            <a:off x="6604000" y="5778500"/>
            <a:ext cx="50800" cy="660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05D355E-A011-014F-9163-9A6B1FD2148D}"/>
              </a:ext>
            </a:extLst>
          </p:cNvPr>
          <p:cNvSpPr txBox="1"/>
          <p:nvPr/>
        </p:nvSpPr>
        <p:spPr>
          <a:xfrm>
            <a:off x="6807200" y="5880100"/>
            <a:ext cx="4445000" cy="2286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C75F00"/>
                </a:solidFill>
                <a:latin typeface="Consolas"/>
                <a:cs typeface="Consolas"/>
              </a:rPr>
              <a:t>integrity.py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FE35504-5D21-AB47-B03E-4D029F0A2149}"/>
              </a:ext>
            </a:extLst>
          </p:cNvPr>
          <p:cNvSpPr txBox="1"/>
          <p:nvPr/>
        </p:nvSpPr>
        <p:spPr>
          <a:xfrm>
            <a:off x="6807200" y="6108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Ruleset-Hash · Trust-Status je Regeldatei</a:t>
            </a:r>
          </a:p>
        </p:txBody>
      </p:sp>
    </p:spTree>
    <p:extLst>
      <p:ext uri="{BB962C8B-B14F-4D97-AF65-F5344CB8AC3E}">
        <p14:creationId xmlns:p14="http://schemas.microsoft.com/office/powerpoint/2010/main" val="4109615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2AFE076-D0F7-8748-80C9-E7C88B9E14A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FUNKTIONSWEISE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11147F-71DE-D64B-B505-070B89EF5FD1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Ein Scan in vier Schritten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AB2A7FA-9742-0D4A-9D7F-4CEABB7210ED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F34E9F9-F0A4-C14E-B861-62DEAD278371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Jede Datei durchläuft dieselbe Sequenz — von der Regel-Initialisierung bis zum Report.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C49494-5749-2545-B811-6B101CFA7902}"/>
              </a:ext>
            </a:extLst>
          </p:cNvPr>
          <p:cNvSpPr/>
          <p:nvPr/>
        </p:nvSpPr>
        <p:spPr>
          <a:xfrm>
            <a:off x="1657350" y="2032000"/>
            <a:ext cx="762000" cy="762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C981F43-C97F-E244-8EB7-8B538B6D1BAE}"/>
              </a:ext>
            </a:extLst>
          </p:cNvPr>
          <p:cNvSpPr/>
          <p:nvPr/>
        </p:nvSpPr>
        <p:spPr>
          <a:xfrm>
            <a:off x="768350" y="2921000"/>
            <a:ext cx="2540000" cy="3175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3ED63F-8DF5-2043-BCC8-E0A4E3C7C250}"/>
              </a:ext>
            </a:extLst>
          </p:cNvPr>
          <p:cNvSpPr txBox="1"/>
          <p:nvPr/>
        </p:nvSpPr>
        <p:spPr>
          <a:xfrm>
            <a:off x="946150" y="3098800"/>
            <a:ext cx="21844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156082"/>
                </a:solidFill>
              </a:rPr>
              <a:t>Regeln laden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176FF9-DBBB-2E4B-BC33-7BA74DD4455B}"/>
              </a:ext>
            </a:extLst>
          </p:cNvPr>
          <p:cNvSpPr txBox="1"/>
          <p:nvPr/>
        </p:nvSpPr>
        <p:spPr>
          <a:xfrm>
            <a:off x="946150" y="3530600"/>
            <a:ext cx="2184400" cy="2286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 dirty="0">
                <a:solidFill>
                  <a:srgbClr val="1A1A1A"/>
                </a:solidFill>
              </a:rPr>
              <a:t>Sicherheits-Regeldatei des Dialekts und die Coding-Guideline-Kategoriedateien werden eingelesen und validiert.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E499EB5E-B306-B540-BD30-3F195B07DAB0}"/>
              </a:ext>
            </a:extLst>
          </p:cNvPr>
          <p:cNvSpPr/>
          <p:nvPr/>
        </p:nvSpPr>
        <p:spPr>
          <a:xfrm>
            <a:off x="3321050" y="3962400"/>
            <a:ext cx="139700" cy="203200"/>
          </a:xfrm>
          <a:prstGeom prst="rightArrow">
            <a:avLst/>
          </a:prstGeom>
          <a:solidFill>
            <a:srgbClr val="9999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E4E58A-CE3B-A448-A673-520551BD67CB}"/>
              </a:ext>
            </a:extLst>
          </p:cNvPr>
          <p:cNvSpPr/>
          <p:nvPr/>
        </p:nvSpPr>
        <p:spPr>
          <a:xfrm>
            <a:off x="4362450" y="2032000"/>
            <a:ext cx="762000" cy="762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34EB379-07B5-D047-8915-E54367FC42EF}"/>
              </a:ext>
            </a:extLst>
          </p:cNvPr>
          <p:cNvSpPr/>
          <p:nvPr/>
        </p:nvSpPr>
        <p:spPr>
          <a:xfrm>
            <a:off x="3473450" y="2921000"/>
            <a:ext cx="2540000" cy="3175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64B3E02-8186-8246-8B66-A19B5DAB3BF6}"/>
              </a:ext>
            </a:extLst>
          </p:cNvPr>
          <p:cNvSpPr txBox="1"/>
          <p:nvPr/>
        </p:nvSpPr>
        <p:spPr>
          <a:xfrm>
            <a:off x="3651250" y="3098800"/>
            <a:ext cx="21844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E97132"/>
                </a:solidFill>
              </a:rPr>
              <a:t>Vorverarbeitung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368633-3A48-2A40-8ED2-D294E91306FF}"/>
              </a:ext>
            </a:extLst>
          </p:cNvPr>
          <p:cNvSpPr txBox="1"/>
          <p:nvPr/>
        </p:nvSpPr>
        <p:spPr>
          <a:xfrm>
            <a:off x="3651250" y="3530600"/>
            <a:ext cx="2184400" cy="2286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Kommentare entfernen, String-Literale erkennen. Zwei Textvarianten entstehen: ohne Kommentare und zusätzlich maskiert. Zeichengenau gleiche Länge — exakte Zeilen/Spalten bleiben erhalten.</a:t>
            </a:r>
          </a:p>
        </p:txBody>
      </p:sp>
      <p:sp>
        <p:nvSpPr>
          <p:cNvPr id="15" name="Pfeil nach rechts 14">
            <a:extLst>
              <a:ext uri="{FF2B5EF4-FFF2-40B4-BE49-F238E27FC236}">
                <a16:creationId xmlns:a16="http://schemas.microsoft.com/office/drawing/2014/main" id="{01F5ED0D-223C-434D-974C-8CB330D36E68}"/>
              </a:ext>
            </a:extLst>
          </p:cNvPr>
          <p:cNvSpPr/>
          <p:nvPr/>
        </p:nvSpPr>
        <p:spPr>
          <a:xfrm>
            <a:off x="6026150" y="3962400"/>
            <a:ext cx="139700" cy="203200"/>
          </a:xfrm>
          <a:prstGeom prst="rightArrow">
            <a:avLst/>
          </a:prstGeom>
          <a:solidFill>
            <a:srgbClr val="9999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595FDE-0846-CE4C-89D7-CE3CFF9B7B2D}"/>
              </a:ext>
            </a:extLst>
          </p:cNvPr>
          <p:cNvSpPr/>
          <p:nvPr/>
        </p:nvSpPr>
        <p:spPr>
          <a:xfrm>
            <a:off x="7067550" y="2032000"/>
            <a:ext cx="762000" cy="7620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F51B371-2CDD-A042-A24B-6E0EC95A4701}"/>
              </a:ext>
            </a:extLst>
          </p:cNvPr>
          <p:cNvSpPr/>
          <p:nvPr/>
        </p:nvSpPr>
        <p:spPr>
          <a:xfrm>
            <a:off x="6178550" y="2921000"/>
            <a:ext cx="2540000" cy="3175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09E100-F76E-BD45-8EF7-3BB8AA060C41}"/>
              </a:ext>
            </a:extLst>
          </p:cNvPr>
          <p:cNvSpPr txBox="1"/>
          <p:nvPr/>
        </p:nvSpPr>
        <p:spPr>
          <a:xfrm>
            <a:off x="6356350" y="3098800"/>
            <a:ext cx="21844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196B24"/>
                </a:solidFill>
              </a:rPr>
              <a:t>Checks ausführen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0B36DA9-0104-2040-8E80-07D7225271E1}"/>
              </a:ext>
            </a:extLst>
          </p:cNvPr>
          <p:cNvSpPr txBox="1"/>
          <p:nvPr/>
        </p:nvSpPr>
        <p:spPr>
          <a:xfrm>
            <a:off x="6356350" y="3530600"/>
            <a:ext cx="2184400" cy="2286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Alle aktiven Checks beider Gruppen laufen über die Quelldatei. Jeder liefert Findings (Regel, Schweregrad, Position, Meldung, ggf. Codeausschnitt und Empfehlung).</a:t>
            </a:r>
          </a:p>
        </p:txBody>
      </p:sp>
      <p:sp>
        <p:nvSpPr>
          <p:cNvPr id="20" name="Pfeil nach rechts 19">
            <a:extLst>
              <a:ext uri="{FF2B5EF4-FFF2-40B4-BE49-F238E27FC236}">
                <a16:creationId xmlns:a16="http://schemas.microsoft.com/office/drawing/2014/main" id="{A260E2F6-DA5C-9141-AEAB-E4FDFD65CFBE}"/>
              </a:ext>
            </a:extLst>
          </p:cNvPr>
          <p:cNvSpPr/>
          <p:nvPr/>
        </p:nvSpPr>
        <p:spPr>
          <a:xfrm>
            <a:off x="8731250" y="3962400"/>
            <a:ext cx="139700" cy="203200"/>
          </a:xfrm>
          <a:prstGeom prst="rightArrow">
            <a:avLst/>
          </a:prstGeom>
          <a:solidFill>
            <a:srgbClr val="9999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AA7E62-5F6F-2E44-9D10-DAE35E0F04D0}"/>
              </a:ext>
            </a:extLst>
          </p:cNvPr>
          <p:cNvSpPr/>
          <p:nvPr/>
        </p:nvSpPr>
        <p:spPr>
          <a:xfrm>
            <a:off x="9772650" y="2032000"/>
            <a:ext cx="762000" cy="7620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1841F12-DEF8-5643-A3AC-D926C9F4C091}"/>
              </a:ext>
            </a:extLst>
          </p:cNvPr>
          <p:cNvSpPr/>
          <p:nvPr/>
        </p:nvSpPr>
        <p:spPr>
          <a:xfrm>
            <a:off x="8883650" y="2921000"/>
            <a:ext cx="2540000" cy="31750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6F1D37B-5174-A14E-B82A-A0B8AC43F139}"/>
              </a:ext>
            </a:extLst>
          </p:cNvPr>
          <p:cNvSpPr txBox="1"/>
          <p:nvPr/>
        </p:nvSpPr>
        <p:spPr>
          <a:xfrm>
            <a:off x="9061450" y="3098800"/>
            <a:ext cx="21844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F9ED5"/>
                </a:solidFill>
              </a:rPr>
              <a:t>Bericht erstellen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3CBC1F9-3DC6-0849-A47A-AC80FC77814F}"/>
              </a:ext>
            </a:extLst>
          </p:cNvPr>
          <p:cNvSpPr txBox="1"/>
          <p:nvPr/>
        </p:nvSpPr>
        <p:spPr>
          <a:xfrm>
            <a:off x="9061450" y="3530600"/>
            <a:ext cx="2184400" cy="2286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Findings nach Gruppe getrennt zusammenführen, sortieren und in den gewählten Formaten ausgeben. Waiver werden angewendet — gewaiverte Findings bleiben sichtbar, zählen nicht für --fail-on.</a:t>
            </a:r>
          </a:p>
        </p:txBody>
      </p:sp>
    </p:spTree>
    <p:extLst>
      <p:ext uri="{BB962C8B-B14F-4D97-AF65-F5344CB8AC3E}">
        <p14:creationId xmlns:p14="http://schemas.microsoft.com/office/powerpoint/2010/main" val="362186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98B2557-631C-F84D-A354-676D39DD4DA0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ARCHITEKTUR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8497E83-3A58-4D4F-8E4A-890AE787AD0F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Parser / IR — die Zwischenform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1C2F55A-506B-3C47-87B1-A944CA1B6B07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70FC849-720B-F541-9BA4-3783E256B190}"/>
              </a:ext>
            </a:extLst>
          </p:cNvPr>
          <p:cNvSpPr/>
          <p:nvPr/>
        </p:nvSpPr>
        <p:spPr>
          <a:xfrm>
            <a:off x="762000" y="1778000"/>
            <a:ext cx="52070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F2E3E65-48A6-9C47-BA4F-2ACF48545016}"/>
              </a:ext>
            </a:extLst>
          </p:cNvPr>
          <p:cNvSpPr/>
          <p:nvPr/>
        </p:nvSpPr>
        <p:spPr>
          <a:xfrm>
            <a:off x="762000" y="1778000"/>
            <a:ext cx="5207000" cy="63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4D4014-C926-2C44-837F-3A6E9287DFBB}"/>
              </a:ext>
            </a:extLst>
          </p:cNvPr>
          <p:cNvSpPr txBox="1"/>
          <p:nvPr/>
        </p:nvSpPr>
        <p:spPr>
          <a:xfrm>
            <a:off x="1016000" y="20066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b="1">
                <a:solidFill>
                  <a:srgbClr val="196B24"/>
                </a:solidFill>
              </a:rPr>
              <a:t>Was die IR leistet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412A4D-73FE-A442-A3DD-CB40B8EB0C38}"/>
              </a:ext>
            </a:extLst>
          </p:cNvPr>
          <p:cNvSpPr txBox="1"/>
          <p:nvPr/>
        </p:nvSpPr>
        <p:spPr>
          <a:xfrm>
            <a:off x="1016000" y="2489200"/>
            <a:ext cx="4699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✓  Statement-Grenzen bewahren (;-Region)
✓  Routine-Grenzen erkennen (END &lt;name&gt;;)
✓  Reihenfolge von Zuweisungen erfassen
✓  Dynamisches SQL aus Variablen verfolgen
✓  1st-/2nd-order Taint-Klassifikation
✓  Shallow Expression-Modell (Calls, Konkatenation)
✓  Coarse Control-Block-Marker
✓  SELECT/FETCH … INTO-Quelle erkennen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EC7AF5E-F830-F24A-9408-CCC2352F95ED}"/>
              </a:ext>
            </a:extLst>
          </p:cNvPr>
          <p:cNvSpPr/>
          <p:nvPr/>
        </p:nvSpPr>
        <p:spPr>
          <a:xfrm>
            <a:off x="6223000" y="1778000"/>
            <a:ext cx="52070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2C7D45E-5AE0-394E-8D2B-0FDBD1C596BE}"/>
              </a:ext>
            </a:extLst>
          </p:cNvPr>
          <p:cNvSpPr/>
          <p:nvPr/>
        </p:nvSpPr>
        <p:spPr>
          <a:xfrm>
            <a:off x="6223000" y="1778000"/>
            <a:ext cx="5207000" cy="635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05266D-5A3B-264D-9037-25E8F2B84098}"/>
              </a:ext>
            </a:extLst>
          </p:cNvPr>
          <p:cNvSpPr txBox="1"/>
          <p:nvPr/>
        </p:nvSpPr>
        <p:spPr>
          <a:xfrm>
            <a:off x="6477000" y="20066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b="1">
                <a:solidFill>
                  <a:srgbClr val="C00000"/>
                </a:solidFill>
              </a:rPr>
              <a:t>Was die IR NICHT leistet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6E8A6B1-92F5-8E40-B3C6-0AF3822580F7}"/>
              </a:ext>
            </a:extLst>
          </p:cNvPr>
          <p:cNvSpPr txBox="1"/>
          <p:nvPr/>
        </p:nvSpPr>
        <p:spPr>
          <a:xfrm>
            <a:off x="6477000" y="2489200"/>
            <a:ext cx="4699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✗  Kein vollständiger PL/SQL- oder PL/pgSQL-Compiler
✗  Keine vollständige Kontrollflussanalyse
✗  Keine inter-prozedurale Datenflussanalyse
✗  Keine semantische Validierung gegen DB
✗  Begrenztes Verständnis generierter SQL-Fragmente
✗  Keine Cross-Datei-Datenflussverfolgung
✗  False Positives und Negatives bleiben möglich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D3FEF26-670B-2442-A8A0-172349B071CB}"/>
              </a:ext>
            </a:extLst>
          </p:cNvPr>
          <p:cNvSpPr txBox="1"/>
          <p:nvPr/>
        </p:nvSpPr>
        <p:spPr>
          <a:xfrm>
            <a:off x="762000" y="61849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 dirty="0" err="1">
                <a:solidFill>
                  <a:srgbClr val="666666"/>
                </a:solidFill>
              </a:rPr>
              <a:t>Debug</a:t>
            </a:r>
            <a:r>
              <a:rPr lang="de-DE" sz="1100" i="1" dirty="0">
                <a:solidFill>
                  <a:srgbClr val="666666"/>
                </a:solidFill>
              </a:rPr>
              <a:t>: </a:t>
            </a:r>
            <a:r>
              <a:rPr lang="de-DE" sz="1100" i="1" dirty="0" err="1">
                <a:solidFill>
                  <a:srgbClr val="666666"/>
                </a:solidFill>
              </a:rPr>
              <a:t>python</a:t>
            </a:r>
            <a:r>
              <a:rPr lang="de-DE" sz="1100" i="1" dirty="0">
                <a:solidFill>
                  <a:srgbClr val="666666"/>
                </a:solidFill>
              </a:rPr>
              <a:t> -m </a:t>
            </a:r>
            <a:r>
              <a:rPr lang="de-DE" sz="1100" i="1" dirty="0" err="1">
                <a:solidFill>
                  <a:srgbClr val="666666"/>
                </a:solidFill>
              </a:rPr>
              <a:t>aci</a:t>
            </a:r>
            <a:r>
              <a:rPr lang="de-DE" sz="1100" i="1" dirty="0">
                <a:solidFill>
                  <a:srgbClr val="666666"/>
                </a:solidFill>
              </a:rPr>
              <a:t> </a:t>
            </a:r>
            <a:r>
              <a:rPr lang="de-DE" sz="1100" i="1" dirty="0" err="1">
                <a:solidFill>
                  <a:srgbClr val="666666"/>
                </a:solidFill>
              </a:rPr>
              <a:t>datei.sql</a:t>
            </a:r>
            <a:r>
              <a:rPr lang="de-DE" sz="1100" i="1" dirty="0">
                <a:solidFill>
                  <a:srgbClr val="666666"/>
                </a:solidFill>
              </a:rPr>
              <a:t> --dump-</a:t>
            </a:r>
            <a:r>
              <a:rPr lang="de-DE" sz="1100" i="1" dirty="0" err="1">
                <a:solidFill>
                  <a:srgbClr val="666666"/>
                </a:solidFill>
              </a:rPr>
              <a:t>ir</a:t>
            </a:r>
            <a:r>
              <a:rPr lang="de-DE" sz="1100" i="1" dirty="0">
                <a:solidFill>
                  <a:srgbClr val="666666"/>
                </a:solidFill>
              </a:rPr>
              <a:t> gibt die IR einer Datei als JSON aus — zeigt, wie ACI Routinen, Statements und dynamisches SQL erkannt hat.</a:t>
            </a:r>
          </a:p>
        </p:txBody>
      </p:sp>
    </p:spTree>
    <p:extLst>
      <p:ext uri="{BB962C8B-B14F-4D97-AF65-F5344CB8AC3E}">
        <p14:creationId xmlns:p14="http://schemas.microsoft.com/office/powerpoint/2010/main" val="58397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52BFDD4-E3C5-8348-B71C-EB65B27CE262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DATENFLUSSANALYSE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85A11D-0AFB-E340-8314-A228F48DEF78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Taint — Herkunft des dynamischen SQL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751B22-0976-5443-B7B6-8E5326942281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CA0B985-4BC9-374F-85EC-E166CB8A6FAC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Die Analyse ist routine-lokal. Werte über Routinegrenzen gelten konservativ als getaint (lieber False Positive als False Negative).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A307F7-B8A0-EA44-8CE4-D739FA61F947}"/>
              </a:ext>
            </a:extLst>
          </p:cNvPr>
          <p:cNvSpPr/>
          <p:nvPr/>
        </p:nvSpPr>
        <p:spPr>
          <a:xfrm>
            <a:off x="762000" y="2095500"/>
            <a:ext cx="52070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5DCF1DD-2F6C-CD49-A0B6-E0BF73C9F17B}"/>
              </a:ext>
            </a:extLst>
          </p:cNvPr>
          <p:cNvSpPr/>
          <p:nvPr/>
        </p:nvSpPr>
        <p:spPr>
          <a:xfrm>
            <a:off x="762000" y="2095500"/>
            <a:ext cx="5207000" cy="5588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A68774-E8FB-6D4E-8ACD-53EE46D4EE2E}"/>
              </a:ext>
            </a:extLst>
          </p:cNvPr>
          <p:cNvSpPr txBox="1"/>
          <p:nvPr/>
        </p:nvSpPr>
        <p:spPr>
          <a:xfrm>
            <a:off x="990600" y="21971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1st-order  ·  CRITICAL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8DA68C-8BEF-E943-AC75-814BB31E033B}"/>
              </a:ext>
            </a:extLst>
          </p:cNvPr>
          <p:cNvSpPr txBox="1"/>
          <p:nvPr/>
        </p:nvSpPr>
        <p:spPr>
          <a:xfrm>
            <a:off x="990600" y="2794000"/>
            <a:ext cx="4749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Dynamisches SQL aus einem ungeprüften Routine-Parameter — Eingabe direkt vom Aufrufer.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A11E299-B6BB-4C4A-AF72-4E11E1A4A47A}"/>
              </a:ext>
            </a:extLst>
          </p:cNvPr>
          <p:cNvSpPr/>
          <p:nvPr/>
        </p:nvSpPr>
        <p:spPr>
          <a:xfrm>
            <a:off x="990600" y="3429000"/>
            <a:ext cx="4749800" cy="13335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B0ED776-3437-4E4B-842E-C15C224BE60F}"/>
              </a:ext>
            </a:extLst>
          </p:cNvPr>
          <p:cNvSpPr txBox="1"/>
          <p:nvPr/>
        </p:nvSpPr>
        <p:spPr>
          <a:xfrm>
            <a:off x="1117600" y="3530600"/>
            <a:ext cx="4495800" cy="1143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E8E8E8"/>
                </a:solidFill>
                <a:latin typeface="Consolas"/>
                <a:cs typeface="Consolas"/>
              </a:rPr>
              <a:t>PROCEDURE delete_user(p_id VARCHAR2) IS
BEGIN
  EXECUTE IMMEDIATE
    'DELETE FROM users WHERE id=''' || p_id || '''';
END;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35D2290-46EE-7245-9B26-D11347B7EEE5}"/>
              </a:ext>
            </a:extLst>
          </p:cNvPr>
          <p:cNvSpPr txBox="1"/>
          <p:nvPr/>
        </p:nvSpPr>
        <p:spPr>
          <a:xfrm>
            <a:off x="990600" y="4902200"/>
            <a:ext cx="4749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C00000"/>
                </a:solidFill>
              </a:rPr>
              <a:t>Taint-Quelle: Routinen-Header  →  Sink: EXECUTE IMMEDIATE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1B45CF6-02F3-4846-B296-84DD2126C414}"/>
              </a:ext>
            </a:extLst>
          </p:cNvPr>
          <p:cNvSpPr/>
          <p:nvPr/>
        </p:nvSpPr>
        <p:spPr>
          <a:xfrm>
            <a:off x="6223000" y="2095500"/>
            <a:ext cx="5207000" cy="444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4713A22-C136-E343-91BB-350D62DABE6B}"/>
              </a:ext>
            </a:extLst>
          </p:cNvPr>
          <p:cNvSpPr/>
          <p:nvPr/>
        </p:nvSpPr>
        <p:spPr>
          <a:xfrm>
            <a:off x="6223000" y="2095500"/>
            <a:ext cx="5207000" cy="558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D1B03F-8901-4B4D-8CE0-4BFE82BD5D8A}"/>
              </a:ext>
            </a:extLst>
          </p:cNvPr>
          <p:cNvSpPr txBox="1"/>
          <p:nvPr/>
        </p:nvSpPr>
        <p:spPr>
          <a:xfrm>
            <a:off x="6451600" y="21971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2nd-order  ·  CRITICAL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838F00-CAA6-7742-BFBE-19D6D1795DA8}"/>
              </a:ext>
            </a:extLst>
          </p:cNvPr>
          <p:cNvSpPr txBox="1"/>
          <p:nvPr/>
        </p:nvSpPr>
        <p:spPr>
          <a:xfrm>
            <a:off x="6451600" y="2794000"/>
            <a:ext cx="4749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Dynamisches SQL aus einem Tabellen- oder Cursor-Wert — zuvor gespeichert oder gelesen.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E6D4DB9-7CB9-984D-9597-5AF3D20AFDC6}"/>
              </a:ext>
            </a:extLst>
          </p:cNvPr>
          <p:cNvSpPr/>
          <p:nvPr/>
        </p:nvSpPr>
        <p:spPr>
          <a:xfrm>
            <a:off x="6451600" y="3429000"/>
            <a:ext cx="4749800" cy="13335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641C524-0579-934E-B498-DDAEA71E3E7C}"/>
              </a:ext>
            </a:extLst>
          </p:cNvPr>
          <p:cNvSpPr txBox="1"/>
          <p:nvPr/>
        </p:nvSpPr>
        <p:spPr>
          <a:xfrm>
            <a:off x="6578600" y="3530600"/>
            <a:ext cx="4495800" cy="1143000"/>
          </a:xfrm>
          <a:prstGeom prst="rect">
            <a:avLst/>
          </a:prstGeom>
          <a:noFill/>
        </p:spPr>
        <p:txBody>
          <a:bodyPr vertOverflow="overflow" vert="horz" wrap="square" lIns="0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E8E8E8"/>
                </a:solidFill>
                <a:latin typeface="Consolas"/>
                <a:cs typeface="Consolas"/>
              </a:rPr>
              <a:t>SELECT col INTO v_cmd FROM config
 WHERE key = 'cleanup_sql';
EXECUTE IMMEDIATE v_cmd;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A260482-5AA4-2243-8BE3-800A5B94EEE8}"/>
              </a:ext>
            </a:extLst>
          </p:cNvPr>
          <p:cNvSpPr txBox="1"/>
          <p:nvPr/>
        </p:nvSpPr>
        <p:spPr>
          <a:xfrm>
            <a:off x="6451600" y="4902200"/>
            <a:ext cx="4749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E97132"/>
                </a:solidFill>
              </a:rPr>
              <a:t>Taint-Quelle: SELECT INTO aus Tabelle  →  Sink: EXECUTE IMMEDIATE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A8CCD10-BD36-3841-A860-4FCEE98C0546}"/>
              </a:ext>
            </a:extLst>
          </p:cNvPr>
          <p:cNvSpPr txBox="1"/>
          <p:nvPr/>
        </p:nvSpPr>
        <p:spPr>
          <a:xfrm>
            <a:off x="762000" y="6578600"/>
            <a:ext cx="1066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000" i="1">
                <a:solidFill>
                  <a:srgbClr val="666666"/>
                </a:solidFill>
              </a:rPr>
              <a:t>Konstante Literale = kein Risiko    ·    Sanitizer-geschützter Wert = sanitized    ·    Konkatenation nur aus Literalen = non-critical</a:t>
            </a:r>
          </a:p>
        </p:txBody>
      </p:sp>
    </p:spTree>
    <p:extLst>
      <p:ext uri="{BB962C8B-B14F-4D97-AF65-F5344CB8AC3E}">
        <p14:creationId xmlns:p14="http://schemas.microsoft.com/office/powerpoint/2010/main" val="1943047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9091860-F6F9-AF4C-BA73-31469FD64B90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DIALEKT-HANDLING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7276251-9192-CC4E-AF66-A4B366661663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Oracle vs. PostgreSQL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4C2ABF-FC5B-6645-A0F1-7611953D122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4D4E01D-BA8B-324E-A9B9-8961AAF2B06F}"/>
              </a:ext>
            </a:extLst>
          </p:cNvPr>
          <p:cNvSpPr/>
          <p:nvPr/>
        </p:nvSpPr>
        <p:spPr>
          <a:xfrm>
            <a:off x="762000" y="1651000"/>
            <a:ext cx="10668000" cy="533400"/>
          </a:xfrm>
          <a:prstGeom prst="rect">
            <a:avLst/>
          </a:prstGeom>
          <a:solidFill>
            <a:srgbClr val="FDF2E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A4AA626-E2CD-DE4E-BEC5-2488BC6C6E89}"/>
              </a:ext>
            </a:extLst>
          </p:cNvPr>
          <p:cNvSpPr/>
          <p:nvPr/>
        </p:nvSpPr>
        <p:spPr>
          <a:xfrm>
            <a:off x="762000" y="1651000"/>
            <a:ext cx="50800" cy="533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9CC2EC7-D10C-F241-BBC0-3722652E5536}"/>
              </a:ext>
            </a:extLst>
          </p:cNvPr>
          <p:cNvSpPr txBox="1"/>
          <p:nvPr/>
        </p:nvSpPr>
        <p:spPr>
          <a:xfrm>
            <a:off x="990600" y="1778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⚠  Der Dialekt wird nicht erraten — ohne --dialect postgresql gilt der Oracle-Regelsatz.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50C7E33-7E05-104F-8A9D-74D4AFD0270F}"/>
              </a:ext>
            </a:extLst>
          </p:cNvPr>
          <p:cNvSpPr/>
          <p:nvPr/>
        </p:nvSpPr>
        <p:spPr>
          <a:xfrm>
            <a:off x="762000" y="2387600"/>
            <a:ext cx="5207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7514C24-98B3-1742-90FC-09E83BDDBB5A}"/>
              </a:ext>
            </a:extLst>
          </p:cNvPr>
          <p:cNvSpPr/>
          <p:nvPr/>
        </p:nvSpPr>
        <p:spPr>
          <a:xfrm>
            <a:off x="762000" y="2387600"/>
            <a:ext cx="5207000" cy="635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2BCBA79-DBD9-DF40-9643-38DBB9B0FF8D}"/>
              </a:ext>
            </a:extLst>
          </p:cNvPr>
          <p:cNvSpPr/>
          <p:nvPr/>
        </p:nvSpPr>
        <p:spPr>
          <a:xfrm>
            <a:off x="965200" y="2565400"/>
            <a:ext cx="952500" cy="279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C00000"/>
                </a:solidFill>
              </a:rPr>
              <a:t>ORACLE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8DC5F92-B354-204B-BA75-154DFEDA165C}"/>
              </a:ext>
            </a:extLst>
          </p:cNvPr>
          <p:cNvSpPr txBox="1"/>
          <p:nvPr/>
        </p:nvSpPr>
        <p:spPr>
          <a:xfrm>
            <a:off x="2032000" y="25527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FFFFFF"/>
                </a:solidFill>
              </a:rPr>
              <a:t>Oracle PL/SQL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C23EE74-903A-684A-8678-1A679A3A0A79}"/>
              </a:ext>
            </a:extLst>
          </p:cNvPr>
          <p:cNvSpPr txBox="1"/>
          <p:nvPr/>
        </p:nvSpPr>
        <p:spPr>
          <a:xfrm>
            <a:off x="965200" y="3149600"/>
            <a:ext cx="48006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rules/oracle.json + rules/guidelines/oracle/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DFD37D2-5B29-384E-A9C2-022C46D3BBE4}"/>
              </a:ext>
            </a:extLst>
          </p:cNvPr>
          <p:cNvSpPr txBox="1"/>
          <p:nvPr/>
        </p:nvSpPr>
        <p:spPr>
          <a:xfrm>
            <a:off x="965200" y="3530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Sicherheits-Checks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72B0099-C5F5-4949-8458-409CD07BC880}"/>
              </a:ext>
            </a:extLst>
          </p:cNvPr>
          <p:cNvSpPr txBox="1"/>
          <p:nvPr/>
        </p:nvSpPr>
        <p:spPr>
          <a:xfrm>
            <a:off x="3505200" y="35306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alle 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83BF289-C33F-CC42-A5CF-FDBA256A47AE}"/>
              </a:ext>
            </a:extLst>
          </p:cNvPr>
          <p:cNvSpPr txBox="1"/>
          <p:nvPr/>
        </p:nvSpPr>
        <p:spPr>
          <a:xfrm>
            <a:off x="965200" y="3937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MITRE ATT&amp;CK-Indikatoren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36106E7-EB4A-1540-8CF4-BE098554AB0F}"/>
              </a:ext>
            </a:extLst>
          </p:cNvPr>
          <p:cNvSpPr txBox="1"/>
          <p:nvPr/>
        </p:nvSpPr>
        <p:spPr>
          <a:xfrm>
            <a:off x="3505200" y="39370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rules/mitre/oracle/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E55AE28-FA14-1841-9442-88AA0286B417}"/>
              </a:ext>
            </a:extLst>
          </p:cNvPr>
          <p:cNvSpPr txBox="1"/>
          <p:nvPr/>
        </p:nvSpPr>
        <p:spPr>
          <a:xfrm>
            <a:off x="965200" y="4343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Coding Guidelines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4F9915-5ED9-4B4F-9F4C-1355ABA36231}"/>
              </a:ext>
            </a:extLst>
          </p:cNvPr>
          <p:cNvSpPr txBox="1"/>
          <p:nvPr/>
        </p:nvSpPr>
        <p:spPr>
          <a:xfrm>
            <a:off x="3505200" y="43434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Trivadis v4.4, ~35 Regeln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C117C1-432D-584B-8FF7-9FD6ACD58C97}"/>
              </a:ext>
            </a:extLst>
          </p:cNvPr>
          <p:cNvSpPr txBox="1"/>
          <p:nvPr/>
        </p:nvSpPr>
        <p:spPr>
          <a:xfrm>
            <a:off x="965200" y="4749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Dollar-Quotes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7212B33-A7B3-2241-8575-D1777730374C}"/>
              </a:ext>
            </a:extLst>
          </p:cNvPr>
          <p:cNvSpPr txBox="1"/>
          <p:nvPr/>
        </p:nvSpPr>
        <p:spPr>
          <a:xfrm>
            <a:off x="3505200" y="47498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—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0C5FD42-E938-664E-B800-D887B08392AE}"/>
              </a:ext>
            </a:extLst>
          </p:cNvPr>
          <p:cNvSpPr txBox="1"/>
          <p:nvPr/>
        </p:nvSpPr>
        <p:spPr>
          <a:xfrm>
            <a:off x="965200" y="5156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EnterpriseDB-Pakete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EDFC95B-577A-5C4D-8336-113A6665D256}"/>
              </a:ext>
            </a:extLst>
          </p:cNvPr>
          <p:cNvSpPr txBox="1"/>
          <p:nvPr/>
        </p:nvSpPr>
        <p:spPr>
          <a:xfrm>
            <a:off x="3505200" y="51562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—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1533D5D-F13D-D245-9640-B14DD3B8B29C}"/>
              </a:ext>
            </a:extLst>
          </p:cNvPr>
          <p:cNvSpPr txBox="1"/>
          <p:nvPr/>
        </p:nvSpPr>
        <p:spPr>
          <a:xfrm>
            <a:off x="965200" y="60452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Standarddialekt — volle Abdeckung beider Gruppen.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FDB5FCC-94EB-2B46-B013-BA10E3CF00E3}"/>
              </a:ext>
            </a:extLst>
          </p:cNvPr>
          <p:cNvSpPr/>
          <p:nvPr/>
        </p:nvSpPr>
        <p:spPr>
          <a:xfrm>
            <a:off x="6223000" y="2387600"/>
            <a:ext cx="5207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2B5E1ED-7ADB-AF49-963D-4161A6A25895}"/>
              </a:ext>
            </a:extLst>
          </p:cNvPr>
          <p:cNvSpPr/>
          <p:nvPr/>
        </p:nvSpPr>
        <p:spPr>
          <a:xfrm>
            <a:off x="6223000" y="2387600"/>
            <a:ext cx="5207000" cy="635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E7183AC-E698-384A-ACF1-E18C52B6C600}"/>
              </a:ext>
            </a:extLst>
          </p:cNvPr>
          <p:cNvSpPr/>
          <p:nvPr/>
        </p:nvSpPr>
        <p:spPr>
          <a:xfrm>
            <a:off x="6426200" y="2565400"/>
            <a:ext cx="952500" cy="279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0F9ED5"/>
                </a:solidFill>
              </a:rPr>
              <a:t>POSTGRES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3E3D1C1-1939-7D43-9089-111CAB043470}"/>
              </a:ext>
            </a:extLst>
          </p:cNvPr>
          <p:cNvSpPr txBox="1"/>
          <p:nvPr/>
        </p:nvSpPr>
        <p:spPr>
          <a:xfrm>
            <a:off x="7493000" y="25527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FFFFFF"/>
                </a:solidFill>
              </a:rPr>
              <a:t>PostgreSQL PL/pgSQL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2B78EFE-35F0-564C-B3BB-07C1572EFC15}"/>
              </a:ext>
            </a:extLst>
          </p:cNvPr>
          <p:cNvSpPr txBox="1"/>
          <p:nvPr/>
        </p:nvSpPr>
        <p:spPr>
          <a:xfrm>
            <a:off x="6426200" y="3149600"/>
            <a:ext cx="48006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rules/postgresql.json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639DEF5-7213-904A-8C8E-7BBF7A0F8105}"/>
              </a:ext>
            </a:extLst>
          </p:cNvPr>
          <p:cNvSpPr txBox="1"/>
          <p:nvPr/>
        </p:nvSpPr>
        <p:spPr>
          <a:xfrm>
            <a:off x="6426200" y="3530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Sicherheits-Checks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D810950-1313-C646-B71A-495E2AC603CF}"/>
              </a:ext>
            </a:extLst>
          </p:cNvPr>
          <p:cNvSpPr txBox="1"/>
          <p:nvPr/>
        </p:nvSpPr>
        <p:spPr>
          <a:xfrm>
            <a:off x="8966200" y="35306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angepasst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7F6D1AC-0C1A-8E4B-A6DA-91001E24A3E4}"/>
              </a:ext>
            </a:extLst>
          </p:cNvPr>
          <p:cNvSpPr txBox="1"/>
          <p:nvPr/>
        </p:nvSpPr>
        <p:spPr>
          <a:xfrm>
            <a:off x="6426200" y="3937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MITRE ATT&amp;CK-Indikatoren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CBADEE6-927C-3E4B-AEC8-372399D9C5A3}"/>
              </a:ext>
            </a:extLst>
          </p:cNvPr>
          <p:cNvSpPr txBox="1"/>
          <p:nvPr/>
        </p:nvSpPr>
        <p:spPr>
          <a:xfrm>
            <a:off x="8966200" y="39370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PG-spezifisch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422EC8F-43F5-6B48-9A3F-02F698609144}"/>
              </a:ext>
            </a:extLst>
          </p:cNvPr>
          <p:cNvSpPr txBox="1"/>
          <p:nvPr/>
        </p:nvSpPr>
        <p:spPr>
          <a:xfrm>
            <a:off x="6426200" y="4343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Coding Guidelines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10446A8-9B26-1445-A28C-16466EDB3732}"/>
              </a:ext>
            </a:extLst>
          </p:cNvPr>
          <p:cNvSpPr txBox="1"/>
          <p:nvPr/>
        </p:nvSpPr>
        <p:spPr>
          <a:xfrm>
            <a:off x="8966200" y="43434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ACI-eigen, 16 Regeln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487B042-1304-3D4D-966E-B83CA2C31A4C}"/>
              </a:ext>
            </a:extLst>
          </p:cNvPr>
          <p:cNvSpPr txBox="1"/>
          <p:nvPr/>
        </p:nvSpPr>
        <p:spPr>
          <a:xfrm>
            <a:off x="6426200" y="4749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Dollar-Quotes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ACC1F6-8FBB-474B-8B91-4719BC2F2019}"/>
              </a:ext>
            </a:extLst>
          </p:cNvPr>
          <p:cNvSpPr txBox="1"/>
          <p:nvPr/>
        </p:nvSpPr>
        <p:spPr>
          <a:xfrm>
            <a:off x="8966200" y="47498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$func$ / $msg$ verschachteln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7884EAE7-5F7D-1842-BA0E-1903DB64527D}"/>
              </a:ext>
            </a:extLst>
          </p:cNvPr>
          <p:cNvSpPr txBox="1"/>
          <p:nvPr/>
        </p:nvSpPr>
        <p:spPr>
          <a:xfrm>
            <a:off x="6426200" y="5156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333333"/>
                </a:solidFill>
              </a:rPr>
              <a:t>EnterpriseDB-Pakete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24144A8-B27B-D846-BE5F-68062AB3523D}"/>
              </a:ext>
            </a:extLst>
          </p:cNvPr>
          <p:cNvSpPr txBox="1"/>
          <p:nvPr/>
        </p:nvSpPr>
        <p:spPr>
          <a:xfrm>
            <a:off x="8966200" y="5156200"/>
            <a:ext cx="226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96B24"/>
                </a:solidFill>
              </a:rPr>
              <a:t>✓ UTL_HTTP, DBMS_SQL, …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696C85F-6543-7248-AA3D-5E7DF8322545}"/>
              </a:ext>
            </a:extLst>
          </p:cNvPr>
          <p:cNvSpPr txBox="1"/>
          <p:nvPr/>
        </p:nvSpPr>
        <p:spPr>
          <a:xfrm>
            <a:off x="6426200" y="60452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i="1">
                <a:solidFill>
                  <a:srgbClr val="555555"/>
                </a:solidFill>
              </a:rPr>
              <a:t>PostgreSQL: ACI-eigene Detektoren + 16 Coding Guidelines (PG-NNNN).</a:t>
            </a:r>
          </a:p>
        </p:txBody>
      </p:sp>
    </p:spTree>
    <p:extLst>
      <p:ext uri="{BB962C8B-B14F-4D97-AF65-F5344CB8AC3E}">
        <p14:creationId xmlns:p14="http://schemas.microsoft.com/office/powerpoint/2010/main" val="3355870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8F5BC5C-F567-D04B-97FB-ED537B97437B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PRÜFUNGEN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BD6015-E17F-3D4B-B708-0D794F84B019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Zwei Prüfgruppen, zwei Skalen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CC8A31-14C6-EF46-8524-A3ED83FA7935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F8387BF-C9E5-D645-A719-0CAFB3D54C57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Jedes Finding gehört zu genau einer Gruppe und trägt einen Schweregrad aus deren Skala. Im Report werden die Gruppen getrennt dargestellt.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65F4387-6203-2846-91B5-ED1A82EAA572}"/>
              </a:ext>
            </a:extLst>
          </p:cNvPr>
          <p:cNvSpPr/>
          <p:nvPr/>
        </p:nvSpPr>
        <p:spPr>
          <a:xfrm>
            <a:off x="762000" y="2095500"/>
            <a:ext cx="5207000" cy="393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2B9A28-B68E-6B4A-B050-4DD7DFB853DA}"/>
              </a:ext>
            </a:extLst>
          </p:cNvPr>
          <p:cNvSpPr/>
          <p:nvPr/>
        </p:nvSpPr>
        <p:spPr>
          <a:xfrm>
            <a:off x="762000" y="2095500"/>
            <a:ext cx="5207000" cy="7112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EFBE798-8445-724F-8DC3-B265389FA4C0}"/>
              </a:ext>
            </a:extLst>
          </p:cNvPr>
          <p:cNvSpPr/>
          <p:nvPr/>
        </p:nvSpPr>
        <p:spPr>
          <a:xfrm>
            <a:off x="990600" y="2311400"/>
            <a:ext cx="1143000" cy="279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C00000"/>
                </a:solidFill>
              </a:rPr>
              <a:t>SECURITY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AFDED6D-2380-2948-9C92-43132433083F}"/>
              </a:ext>
            </a:extLst>
          </p:cNvPr>
          <p:cNvSpPr txBox="1"/>
          <p:nvPr/>
        </p:nvSpPr>
        <p:spPr>
          <a:xfrm>
            <a:off x="2260600" y="22733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Gruppe Sicherheit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9CBC279-A60A-B441-A904-CF9963F80FAB}"/>
              </a:ext>
            </a:extLst>
          </p:cNvPr>
          <p:cNvSpPr txBox="1"/>
          <p:nvPr/>
        </p:nvSpPr>
        <p:spPr>
          <a:xfrm>
            <a:off x="990600" y="2984500"/>
            <a:ext cx="4749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Sicherheitsrelevante Befunde — gate-relevant für CI/CD-Pipelines.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CA79704-146F-2B44-B4DC-7C112A363F06}"/>
              </a:ext>
            </a:extLst>
          </p:cNvPr>
          <p:cNvSpPr txBox="1"/>
          <p:nvPr/>
        </p:nvSpPr>
        <p:spPr>
          <a:xfrm>
            <a:off x="990600" y="3619500"/>
            <a:ext cx="4749800" cy="177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•  5 Kern-Checks (SQL-Injection, Packages, …)
•  MITRE ATT&amp;CK-Indikatoren (nur Oracle)
•  PostgreSQL-Spezifika (ALTER SYSTEM, RLS)
•  Beide Dialekte verfügbar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BDED3F1-3EEC-DB4F-BCC1-E3EE1D799DEE}"/>
              </a:ext>
            </a:extLst>
          </p:cNvPr>
          <p:cNvSpPr/>
          <p:nvPr/>
        </p:nvSpPr>
        <p:spPr>
          <a:xfrm>
            <a:off x="762000" y="5575300"/>
            <a:ext cx="5207000" cy="4572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311B797-35D7-6948-BFA7-1310725478E4}"/>
              </a:ext>
            </a:extLst>
          </p:cNvPr>
          <p:cNvSpPr txBox="1"/>
          <p:nvPr/>
        </p:nvSpPr>
        <p:spPr>
          <a:xfrm>
            <a:off x="990600" y="5651500"/>
            <a:ext cx="4749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C00000"/>
                </a:solidFill>
              </a:rPr>
              <a:t>Skala: Warning · High · Critical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45C87CE-436F-2B42-8A2B-A18B2DC324D9}"/>
              </a:ext>
            </a:extLst>
          </p:cNvPr>
          <p:cNvSpPr/>
          <p:nvPr/>
        </p:nvSpPr>
        <p:spPr>
          <a:xfrm>
            <a:off x="6223000" y="2095500"/>
            <a:ext cx="5207000" cy="393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E4270B4-71A0-C44C-AC3A-FCAA7E3C7640}"/>
              </a:ext>
            </a:extLst>
          </p:cNvPr>
          <p:cNvSpPr/>
          <p:nvPr/>
        </p:nvSpPr>
        <p:spPr>
          <a:xfrm>
            <a:off x="6223000" y="2095500"/>
            <a:ext cx="5207000" cy="711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98262-05EF-2A48-A297-3702A48304BC}"/>
              </a:ext>
            </a:extLst>
          </p:cNvPr>
          <p:cNvSpPr/>
          <p:nvPr/>
        </p:nvSpPr>
        <p:spPr>
          <a:xfrm>
            <a:off x="6451600" y="2311400"/>
            <a:ext cx="1143000" cy="279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156082"/>
                </a:solidFill>
              </a:rPr>
              <a:t>GUIDELINES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583716E-7553-4547-93FF-BFA8688EC1F6}"/>
              </a:ext>
            </a:extLst>
          </p:cNvPr>
          <p:cNvSpPr txBox="1"/>
          <p:nvPr/>
        </p:nvSpPr>
        <p:spPr>
          <a:xfrm>
            <a:off x="7721600" y="22733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Gruppe Coding Guidelines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CE9D3B0-4545-7948-9C0B-9DE54E082DC8}"/>
              </a:ext>
            </a:extLst>
          </p:cNvPr>
          <p:cNvSpPr txBox="1"/>
          <p:nvPr/>
        </p:nvSpPr>
        <p:spPr>
          <a:xfrm>
            <a:off x="6451600" y="2984500"/>
            <a:ext cx="4749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Stil, Wartbarkeit und Zuverlässigkeit — beratend, nicht blockierend.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6E5F68C-4FBD-9641-8F1C-971A9265B8F9}"/>
              </a:ext>
            </a:extLst>
          </p:cNvPr>
          <p:cNvSpPr txBox="1"/>
          <p:nvPr/>
        </p:nvSpPr>
        <p:spPr>
          <a:xfrm>
            <a:off x="6451600" y="3619500"/>
            <a:ext cx="4749800" cy="177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dirty="0">
                <a:solidFill>
                  <a:srgbClr val="1A1A1A"/>
                </a:solidFill>
              </a:rPr>
              <a:t>•  </a:t>
            </a:r>
            <a:r>
              <a:rPr lang="de-DE" sz="1300" dirty="0" err="1">
                <a:solidFill>
                  <a:srgbClr val="1A1A1A"/>
                </a:solidFill>
              </a:rPr>
              <a:t>Trivadis</a:t>
            </a:r>
            <a:r>
              <a:rPr lang="de-DE" sz="1300" dirty="0">
                <a:solidFill>
                  <a:srgbClr val="1A1A1A"/>
                </a:solidFill>
              </a:rPr>
              <a:t> PL/SQL Coding Guidelines v4.4
•  ~35 aktive Regeln (</a:t>
            </a:r>
            <a:r>
              <a:rPr lang="de-DE" sz="1300" dirty="0" err="1">
                <a:solidFill>
                  <a:srgbClr val="1A1A1A"/>
                </a:solidFill>
              </a:rPr>
              <a:t>regex</a:t>
            </a:r>
            <a:r>
              <a:rPr lang="de-DE" sz="1300" dirty="0">
                <a:solidFill>
                  <a:srgbClr val="1A1A1A"/>
                </a:solidFill>
              </a:rPr>
              <a:t> + </a:t>
            </a:r>
            <a:r>
              <a:rPr lang="de-DE" sz="1300" dirty="0" err="1">
                <a:solidFill>
                  <a:srgbClr val="1A1A1A"/>
                </a:solidFill>
              </a:rPr>
              <a:t>builtin</a:t>
            </a:r>
            <a:r>
              <a:rPr lang="de-DE" sz="1300" dirty="0">
                <a:solidFill>
                  <a:srgbClr val="1A1A1A"/>
                </a:solidFill>
              </a:rPr>
              <a:t>)
•  Original-IDs (G-NNNN) mit Link
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444B17D-8FEC-1F4F-A86C-E5A30DFB1B55}"/>
              </a:ext>
            </a:extLst>
          </p:cNvPr>
          <p:cNvSpPr/>
          <p:nvPr/>
        </p:nvSpPr>
        <p:spPr>
          <a:xfrm>
            <a:off x="6223000" y="5575300"/>
            <a:ext cx="5207000" cy="4572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0AED71B-CB14-334E-B69F-BD976A1FCA4C}"/>
              </a:ext>
            </a:extLst>
          </p:cNvPr>
          <p:cNvSpPr txBox="1"/>
          <p:nvPr/>
        </p:nvSpPr>
        <p:spPr>
          <a:xfrm>
            <a:off x="6451600" y="5651500"/>
            <a:ext cx="4749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</a:rPr>
              <a:t>Skala: Info · Minor · Major · Critical · Blocker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653C27E-3360-D347-B2F7-ED3A6BD6C408}"/>
              </a:ext>
            </a:extLst>
          </p:cNvPr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Gruppenübergreifend: --fail-on und --min-level nutzen interne Gewichte, um Findings beider Skalen vergleichbar zu machen.</a:t>
            </a:r>
          </a:p>
        </p:txBody>
      </p:sp>
    </p:spTree>
    <p:extLst>
      <p:ext uri="{BB962C8B-B14F-4D97-AF65-F5344CB8AC3E}">
        <p14:creationId xmlns:p14="http://schemas.microsoft.com/office/powerpoint/2010/main" val="207416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A86AD7-A0C3-6541-BE58-28FDB0DEA37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SCHWEREGRADE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B0DB6C8-3E35-EB45-BB24-855DDBD7BC03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Skala: Gruppe Sicherheit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DC3C2C4-C3BC-764F-99EF-0FFE1C6A1621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ACA6784-1AD3-AD49-9E5B-0131F60F383A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Drei Stufen — bewusst kompakt. Für ein verlässliches Deployment-Gate gilt mindestens --fail-on high.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2C9111E-C323-B34D-B64C-EADDFA13E200}"/>
              </a:ext>
            </a:extLst>
          </p:cNvPr>
          <p:cNvSpPr/>
          <p:nvPr/>
        </p:nvSpPr>
        <p:spPr>
          <a:xfrm>
            <a:off x="762000" y="20955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C319BD3-8B80-E24C-AF09-9E8ACF3AC00B}"/>
              </a:ext>
            </a:extLst>
          </p:cNvPr>
          <p:cNvSpPr/>
          <p:nvPr/>
        </p:nvSpPr>
        <p:spPr>
          <a:xfrm>
            <a:off x="762000" y="2095500"/>
            <a:ext cx="76200" cy="8128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A5A0AEC-BD3D-D84A-AB21-01B43B861143}"/>
              </a:ext>
            </a:extLst>
          </p:cNvPr>
          <p:cNvSpPr/>
          <p:nvPr/>
        </p:nvSpPr>
        <p:spPr>
          <a:xfrm>
            <a:off x="1066800" y="2298700"/>
            <a:ext cx="1778000" cy="4064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4384CCA-2CB1-0741-AD5B-AC638C250CFF}"/>
              </a:ext>
            </a:extLst>
          </p:cNvPr>
          <p:cNvSpPr txBox="1"/>
          <p:nvPr/>
        </p:nvSpPr>
        <p:spPr>
          <a:xfrm>
            <a:off x="3098800" y="2349500"/>
            <a:ext cx="73152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1A1A1A"/>
                </a:solidFill>
              </a:rPr>
              <a:t>Auffälligkeit oder Verstoß gegen gute Praxis — Hinweis ohne unmittelbares Risiko.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A09DCAE-FAC1-C74D-9A3F-3EAE5D7181A0}"/>
              </a:ext>
            </a:extLst>
          </p:cNvPr>
          <p:cNvSpPr/>
          <p:nvPr/>
        </p:nvSpPr>
        <p:spPr>
          <a:xfrm>
            <a:off x="762000" y="29845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C0A00A9-3F1F-D746-B482-8EDEFDA52A72}"/>
              </a:ext>
            </a:extLst>
          </p:cNvPr>
          <p:cNvSpPr/>
          <p:nvPr/>
        </p:nvSpPr>
        <p:spPr>
          <a:xfrm>
            <a:off x="762000" y="2984500"/>
            <a:ext cx="76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DA20AB6-04FD-4646-81EB-1CC754AAE750}"/>
              </a:ext>
            </a:extLst>
          </p:cNvPr>
          <p:cNvSpPr/>
          <p:nvPr/>
        </p:nvSpPr>
        <p:spPr>
          <a:xfrm>
            <a:off x="1066800" y="3187700"/>
            <a:ext cx="1778000" cy="406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C5F1063-A88A-A84C-A281-218572332D88}"/>
              </a:ext>
            </a:extLst>
          </p:cNvPr>
          <p:cNvSpPr txBox="1"/>
          <p:nvPr/>
        </p:nvSpPr>
        <p:spPr>
          <a:xfrm>
            <a:off x="3098800" y="3238500"/>
            <a:ext cx="73152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1A1A1A"/>
                </a:solidFill>
              </a:rPr>
              <a:t>Ernstzunehmendes Risiko, sollte behoben werden — z.B. dynamisches SQL, ausgehende Netzwerkverbindungen, ALTER SYSTEM.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F14E72A-4BB3-CD4E-895B-F49BB26CBE66}"/>
              </a:ext>
            </a:extLst>
          </p:cNvPr>
          <p:cNvSpPr/>
          <p:nvPr/>
        </p:nvSpPr>
        <p:spPr>
          <a:xfrm>
            <a:off x="762000" y="3873500"/>
            <a:ext cx="10668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4E8EF55-E6F4-9147-BCAB-8CC6D3612260}"/>
              </a:ext>
            </a:extLst>
          </p:cNvPr>
          <p:cNvSpPr/>
          <p:nvPr/>
        </p:nvSpPr>
        <p:spPr>
          <a:xfrm>
            <a:off x="762000" y="3873500"/>
            <a:ext cx="76200" cy="8128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8C292B8-EDA0-7147-BEDD-2207768C4094}"/>
              </a:ext>
            </a:extLst>
          </p:cNvPr>
          <p:cNvSpPr/>
          <p:nvPr/>
        </p:nvSpPr>
        <p:spPr>
          <a:xfrm>
            <a:off x="1066800" y="4076700"/>
            <a:ext cx="1778000" cy="406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74B91E1-EDED-4B47-9C4C-D1F16B93DDCA}"/>
              </a:ext>
            </a:extLst>
          </p:cNvPr>
          <p:cNvSpPr txBox="1"/>
          <p:nvPr/>
        </p:nvSpPr>
        <p:spPr>
          <a:xfrm>
            <a:off x="3098800" y="4127500"/>
            <a:ext cx="73152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1A1A1A"/>
                </a:solidFill>
              </a:rPr>
              <a:t>Schwerwiegende Lücke mit hohem Missbrauchspotenzial — z.B. 1st-order SQL-Injection, obfuskierter Code.</a:t>
            </a:r>
          </a:p>
        </p:txBody>
      </p:sp>
    </p:spTree>
    <p:extLst>
      <p:ext uri="{BB962C8B-B14F-4D97-AF65-F5344CB8AC3E}">
        <p14:creationId xmlns:p14="http://schemas.microsoft.com/office/powerpoint/2010/main" val="420968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FEFB06F-0CD0-314C-8ADB-1CFE47BAF863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SCHWEREGRADE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36BFC0-EDAA-4340-858F-3DEDA2732867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Skala: Gruppe Coding Guidelines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AFA277-6700-C743-84E9-B4DC68D873DF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0665439-D40C-8546-91EE-E1D2DD0C94DA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Fünfstufige Trivadis-Skala. Beratend — Guideline-Findings blockieren standardmäßig keinen CI/CD-Build.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B63CE0-4764-1448-827C-3930B142EA09}"/>
              </a:ext>
            </a:extLst>
          </p:cNvPr>
          <p:cNvSpPr/>
          <p:nvPr/>
        </p:nvSpPr>
        <p:spPr>
          <a:xfrm>
            <a:off x="762000" y="2006600"/>
            <a:ext cx="10668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197290-8BDA-2C4C-9689-9466F6DE50C0}"/>
              </a:ext>
            </a:extLst>
          </p:cNvPr>
          <p:cNvSpPr/>
          <p:nvPr/>
        </p:nvSpPr>
        <p:spPr>
          <a:xfrm>
            <a:off x="762000" y="2006600"/>
            <a:ext cx="76200" cy="660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0F025B6-6CBA-9E4B-8DDE-CBEBD8E7F162}"/>
              </a:ext>
            </a:extLst>
          </p:cNvPr>
          <p:cNvSpPr/>
          <p:nvPr/>
        </p:nvSpPr>
        <p:spPr>
          <a:xfrm>
            <a:off x="1066800" y="2159000"/>
            <a:ext cx="1778000" cy="3556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Info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09A83A-9941-B142-8066-9898FF8B0BD1}"/>
              </a:ext>
            </a:extLst>
          </p:cNvPr>
          <p:cNvSpPr/>
          <p:nvPr/>
        </p:nvSpPr>
        <p:spPr>
          <a:xfrm>
            <a:off x="10845800" y="2184400"/>
            <a:ext cx="381000" cy="381000"/>
          </a:xfrm>
          <a:prstGeom prst="ellipse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017A5BC-5F94-8D44-9597-3E51B8441627}"/>
              </a:ext>
            </a:extLst>
          </p:cNvPr>
          <p:cNvSpPr txBox="1"/>
          <p:nvPr/>
        </p:nvSpPr>
        <p:spPr>
          <a:xfrm>
            <a:off x="3048000" y="22098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Hinweis ohne unmittelbare Auswirkung.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4BC0371-C801-0F42-BA2B-52150A0501DB}"/>
              </a:ext>
            </a:extLst>
          </p:cNvPr>
          <p:cNvSpPr/>
          <p:nvPr/>
        </p:nvSpPr>
        <p:spPr>
          <a:xfrm>
            <a:off x="762000" y="2743200"/>
            <a:ext cx="10668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56FE9B5-08B7-0E4E-9A21-26150E4D35D9}"/>
              </a:ext>
            </a:extLst>
          </p:cNvPr>
          <p:cNvSpPr/>
          <p:nvPr/>
        </p:nvSpPr>
        <p:spPr>
          <a:xfrm>
            <a:off x="762000" y="2743200"/>
            <a:ext cx="76200" cy="660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379967A-A34E-914A-98C0-C5A0DADEB464}"/>
              </a:ext>
            </a:extLst>
          </p:cNvPr>
          <p:cNvSpPr/>
          <p:nvPr/>
        </p:nvSpPr>
        <p:spPr>
          <a:xfrm>
            <a:off x="1066800" y="2895600"/>
            <a:ext cx="1778000" cy="3556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6E220E-4385-6E4D-8314-3DAE5E16D042}"/>
              </a:ext>
            </a:extLst>
          </p:cNvPr>
          <p:cNvSpPr/>
          <p:nvPr/>
        </p:nvSpPr>
        <p:spPr>
          <a:xfrm>
            <a:off x="10845800" y="2921000"/>
            <a:ext cx="381000" cy="381000"/>
          </a:xfrm>
          <a:prstGeom prst="ellipse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133D315-6ABE-FC4A-8C30-B6554F2C081F}"/>
              </a:ext>
            </a:extLst>
          </p:cNvPr>
          <p:cNvSpPr txBox="1"/>
          <p:nvPr/>
        </p:nvSpPr>
        <p:spPr>
          <a:xfrm>
            <a:off x="3048000" y="29464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Geringfügiger Verstoß (Stil, Lesbarkeit).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B9DB11E-F5CD-8849-9101-9B922B52CC3B}"/>
              </a:ext>
            </a:extLst>
          </p:cNvPr>
          <p:cNvSpPr/>
          <p:nvPr/>
        </p:nvSpPr>
        <p:spPr>
          <a:xfrm>
            <a:off x="762000" y="3479800"/>
            <a:ext cx="10668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A95C0AC-63D6-ED43-88FF-DF4C56E663E7}"/>
              </a:ext>
            </a:extLst>
          </p:cNvPr>
          <p:cNvSpPr/>
          <p:nvPr/>
        </p:nvSpPr>
        <p:spPr>
          <a:xfrm>
            <a:off x="762000" y="3479800"/>
            <a:ext cx="76200" cy="6604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6463A88-2FB3-F94C-8D22-6520E1872F20}"/>
              </a:ext>
            </a:extLst>
          </p:cNvPr>
          <p:cNvSpPr/>
          <p:nvPr/>
        </p:nvSpPr>
        <p:spPr>
          <a:xfrm>
            <a:off x="1066800" y="3632200"/>
            <a:ext cx="1778000" cy="355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99194A-F9A9-C344-9202-4B138EFC6CE8}"/>
              </a:ext>
            </a:extLst>
          </p:cNvPr>
          <p:cNvSpPr/>
          <p:nvPr/>
        </p:nvSpPr>
        <p:spPr>
          <a:xfrm>
            <a:off x="10845800" y="3657600"/>
            <a:ext cx="381000" cy="381000"/>
          </a:xfrm>
          <a:prstGeom prst="ellipse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3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D216ECF-7D0D-8D4F-98B4-6DB8E9152394}"/>
              </a:ext>
            </a:extLst>
          </p:cNvPr>
          <p:cNvSpPr txBox="1"/>
          <p:nvPr/>
        </p:nvSpPr>
        <p:spPr>
          <a:xfrm>
            <a:off x="3048000" y="36830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Deutlicher Verstoß gegen Wartbarkeit oder Zuverlässigkeit.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43D770-65D9-4E49-B8BF-5C257D0FA2A5}"/>
              </a:ext>
            </a:extLst>
          </p:cNvPr>
          <p:cNvSpPr/>
          <p:nvPr/>
        </p:nvSpPr>
        <p:spPr>
          <a:xfrm>
            <a:off x="762000" y="4216400"/>
            <a:ext cx="10668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9C44A62-0A41-9747-B341-4F007FFFFDF4}"/>
              </a:ext>
            </a:extLst>
          </p:cNvPr>
          <p:cNvSpPr/>
          <p:nvPr/>
        </p:nvSpPr>
        <p:spPr>
          <a:xfrm>
            <a:off x="762000" y="4216400"/>
            <a:ext cx="76200" cy="660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95CEBAF-BF33-1740-B2D5-B77A751A6975}"/>
              </a:ext>
            </a:extLst>
          </p:cNvPr>
          <p:cNvSpPr/>
          <p:nvPr/>
        </p:nvSpPr>
        <p:spPr>
          <a:xfrm>
            <a:off x="1066800" y="4368800"/>
            <a:ext cx="1778000" cy="355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FD2DA99-981B-9540-8418-969494E06A86}"/>
              </a:ext>
            </a:extLst>
          </p:cNvPr>
          <p:cNvSpPr/>
          <p:nvPr/>
        </p:nvSpPr>
        <p:spPr>
          <a:xfrm>
            <a:off x="10845800" y="4394200"/>
            <a:ext cx="381000" cy="381000"/>
          </a:xfrm>
          <a:prstGeom prst="ellipse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4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AB1C376-1514-CE4A-93B9-09537B65ADB3}"/>
              </a:ext>
            </a:extLst>
          </p:cNvPr>
          <p:cNvSpPr txBox="1"/>
          <p:nvPr/>
        </p:nvSpPr>
        <p:spPr>
          <a:xfrm>
            <a:off x="3048000" y="44196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Schwerwiegender Verstoß — sollte korrigiert werden.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1ABED35-1224-B24E-B15B-B954B1FE0E56}"/>
              </a:ext>
            </a:extLst>
          </p:cNvPr>
          <p:cNvSpPr/>
          <p:nvPr/>
        </p:nvSpPr>
        <p:spPr>
          <a:xfrm>
            <a:off x="762000" y="4953000"/>
            <a:ext cx="10668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6FE9889-D934-AF45-BDEF-4E2F8F63382D}"/>
              </a:ext>
            </a:extLst>
          </p:cNvPr>
          <p:cNvSpPr/>
          <p:nvPr/>
        </p:nvSpPr>
        <p:spPr>
          <a:xfrm>
            <a:off x="762000" y="4953000"/>
            <a:ext cx="76200" cy="660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19449CE-128D-7344-A6AF-595752AC8F70}"/>
              </a:ext>
            </a:extLst>
          </p:cNvPr>
          <p:cNvSpPr/>
          <p:nvPr/>
        </p:nvSpPr>
        <p:spPr>
          <a:xfrm>
            <a:off x="1066800" y="5105400"/>
            <a:ext cx="1778000" cy="3556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Blocker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B73604A-108F-E84E-ACFC-2A0BB751290E}"/>
              </a:ext>
            </a:extLst>
          </p:cNvPr>
          <p:cNvSpPr/>
          <p:nvPr/>
        </p:nvSpPr>
        <p:spPr>
          <a:xfrm>
            <a:off x="10845800" y="5130800"/>
            <a:ext cx="381000" cy="381000"/>
          </a:xfrm>
          <a:prstGeom prst="ellipse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5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38B5336-50AE-1B41-B1AC-C0F56423CF7E}"/>
              </a:ext>
            </a:extLst>
          </p:cNvPr>
          <p:cNvSpPr txBox="1"/>
          <p:nvPr/>
        </p:nvSpPr>
        <p:spPr>
          <a:xfrm>
            <a:off x="3048000" y="51562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Verstoß, der die Auslieferung blockieren sollte.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B4253FA-83C0-8043-A421-01DAAB0E91BA}"/>
              </a:ext>
            </a:extLst>
          </p:cNvPr>
          <p:cNvSpPr txBox="1"/>
          <p:nvPr/>
        </p:nvSpPr>
        <p:spPr>
          <a:xfrm>
            <a:off x="762000" y="5842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Internes Gewicht ermöglicht den Vergleich über beide Skalen (z.B. --fail-on high blockiert sowohl Security-High als auch Guideline-Critical/Blocker).</a:t>
            </a:r>
          </a:p>
        </p:txBody>
      </p:sp>
    </p:spTree>
    <p:extLst>
      <p:ext uri="{BB962C8B-B14F-4D97-AF65-F5344CB8AC3E}">
        <p14:creationId xmlns:p14="http://schemas.microsoft.com/office/powerpoint/2010/main" val="264967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1C23D7B-D01E-5648-A569-D39D527B1E0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PRÜFUNGEN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621AD75-73BB-4347-937D-2454DF3DB27E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Die 5 Sicherheits-Checks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95369D-5593-304B-9AC7-2BC4AE802C1F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1F7831-544D-2148-9D4C-8FEA8E8723CC}"/>
              </a:ext>
            </a:extLst>
          </p:cNvPr>
          <p:cNvSpPr txBox="1"/>
          <p:nvPr/>
        </p:nvSpPr>
        <p:spPr>
          <a:xfrm>
            <a:off x="762000" y="1651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 i="1">
                <a:solidFill>
                  <a:srgbClr val="555555"/>
                </a:solidFill>
              </a:rPr>
              <a:t>Gesteuert über rules/oracle.json bzw. rules/postgresql.json — jeder Check ein- und ausschaltbar.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EA5D6D3B-B00E-1349-A312-D9CA67293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511764"/>
              </p:ext>
            </p:extLst>
          </p:nvPr>
        </p:nvGraphicFramePr>
        <p:xfrm>
          <a:off x="762000" y="2159000"/>
          <a:ext cx="10668000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2908716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217515868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309399691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Prüft auf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98270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156082"/>
                          </a:solidFill>
                          <a:latin typeface="Consolas"/>
                          <a:cs typeface="Consolas"/>
                        </a:rPr>
                        <a:t>ACI-NAME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Namenskonventionen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reservierte Worte als Bezeichner, überlange Namen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4357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156082"/>
                          </a:solidFill>
                          <a:latin typeface="Consolas"/>
                          <a:cs typeface="Consolas"/>
                        </a:rPr>
                        <a:t>ACI-PKG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Unerwünschte Packages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sicherheitskritische Packages/Funktionen/Sprachen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04771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156082"/>
                          </a:solidFill>
                          <a:latin typeface="Consolas"/>
                          <a:cs typeface="Consolas"/>
                        </a:rPr>
                        <a:t>ACI-OBF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Obfuskierter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gewrappter, kodierter oder verschleierter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3313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156082"/>
                          </a:solidFill>
                          <a:latin typeface="Consolas"/>
                          <a:cs typeface="Consolas"/>
                        </a:rPr>
                        <a:t>ACI-SQLI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SQL Injection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dynamisches SQL mit String-Konkatenation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7608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156082"/>
                          </a:solidFill>
                          <a:latin typeface="Consolas"/>
                          <a:cs typeface="Consolas"/>
                        </a:rPr>
                        <a:t>ACI-DDL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DDL im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GRANT / CREATE / ALTER / DROP im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676317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C44F25CE-FCDA-DC4E-8D28-0E2EA7B6C036}"/>
              </a:ext>
            </a:extLst>
          </p:cNvPr>
          <p:cNvSpPr txBox="1"/>
          <p:nvPr/>
        </p:nvSpPr>
        <p:spPr>
          <a:xfrm>
            <a:off x="762000" y="6096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666666"/>
                </a:solidFill>
              </a:rPr>
              <a:t>Zusätzlich: MITRE ATT&amp;CK-Indikatoren (Oracle &amp; PostgreSQL) für persistenz-, defense-evasion-, credential-access- und C2-Muster.</a:t>
            </a:r>
          </a:p>
        </p:txBody>
      </p:sp>
    </p:spTree>
    <p:extLst>
      <p:ext uri="{BB962C8B-B14F-4D97-AF65-F5344CB8AC3E}">
        <p14:creationId xmlns:p14="http://schemas.microsoft.com/office/powerpoint/2010/main" val="275077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feld 21">
            <a:extLst>
              <a:ext uri="{FF2B5EF4-FFF2-40B4-BE49-F238E27FC236}">
                <a16:creationId xmlns:a16="http://schemas.microsoft.com/office/drawing/2014/main" id="{156C4181-A1D1-7146-A720-64EC8FD9F671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SICHERHEIT · MITRE ATT&amp;CK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FAE8A99-88B8-8744-99A4-BB9579E36AA2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MITRE-Angriffsindikatoren — Oracle &amp; PostgreSQL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7186509-2FD6-FF4E-99AE-38D431B839E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85267E6-4402-964B-BC73-284969E99A41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Code-Muster, die auf konkrete Angriffstechniken hindeuten. Ergänzt die fünf Sicherheits-Checks gezielt um Muster, die diese nicht erfassen.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4463580-7C2E-3641-A690-11A67B923FA6}"/>
              </a:ext>
            </a:extLst>
          </p:cNvPr>
          <p:cNvSpPr/>
          <p:nvPr/>
        </p:nvSpPr>
        <p:spPr>
          <a:xfrm>
            <a:off x="762000" y="2057400"/>
            <a:ext cx="5207000" cy="4038600"/>
          </a:xfrm>
          <a:prstGeom prst="rect">
            <a:avLst/>
          </a:prstGeom>
          <a:solidFill>
            <a:srgbClr val="FFF6F6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F50397B-3A81-8A43-9810-1F29B8C993C7}"/>
              </a:ext>
            </a:extLst>
          </p:cNvPr>
          <p:cNvSpPr/>
          <p:nvPr/>
        </p:nvSpPr>
        <p:spPr>
          <a:xfrm>
            <a:off x="762000" y="2057400"/>
            <a:ext cx="5207000" cy="635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B32DF79-CC1E-874C-9A83-C728E611FB81}"/>
              </a:ext>
            </a:extLst>
          </p:cNvPr>
          <p:cNvSpPr/>
          <p:nvPr/>
        </p:nvSpPr>
        <p:spPr>
          <a:xfrm>
            <a:off x="1016000" y="2311400"/>
            <a:ext cx="1270000" cy="279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3B8D28-C97B-2947-83EF-80D3A70CF145}"/>
              </a:ext>
            </a:extLst>
          </p:cNvPr>
          <p:cNvSpPr txBox="1"/>
          <p:nvPr/>
        </p:nvSpPr>
        <p:spPr>
          <a:xfrm>
            <a:off x="1016000" y="27178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Oracle MITRE-Indikatoren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5523FF9-45EE-4842-9857-253FF96213DC}"/>
              </a:ext>
            </a:extLst>
          </p:cNvPr>
          <p:cNvSpPr txBox="1"/>
          <p:nvPr/>
        </p:nvSpPr>
        <p:spPr>
          <a:xfrm>
            <a:off x="1016000" y="30988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C00000"/>
                </a:solidFill>
              </a:rPr>
              <a:t>12 Taktiken · 66 Regeln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8B7C850-704A-E243-90F1-BF2992C68071}"/>
              </a:ext>
            </a:extLst>
          </p:cNvPr>
          <p:cNvSpPr txBox="1"/>
          <p:nvPr/>
        </p:nvSpPr>
        <p:spPr>
          <a:xfrm>
            <a:off x="1016000" y="34036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666666"/>
                </a:solidFill>
              </a:rPr>
              <a:t>TA0002–TA0112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BA5B804-E4AC-7741-9020-3B0A52DCEA10}"/>
              </a:ext>
            </a:extLst>
          </p:cNvPr>
          <p:cNvSpPr/>
          <p:nvPr/>
        </p:nvSpPr>
        <p:spPr>
          <a:xfrm>
            <a:off x="1016000" y="3683000"/>
            <a:ext cx="4699000" cy="127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30EA9E-01EC-6348-B17C-71E8AD8DE58D}"/>
              </a:ext>
            </a:extLst>
          </p:cNvPr>
          <p:cNvSpPr/>
          <p:nvPr/>
        </p:nvSpPr>
        <p:spPr>
          <a:xfrm>
            <a:off x="1041400" y="38354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4B3A43D-F621-D943-953A-27002B059489}"/>
              </a:ext>
            </a:extLst>
          </p:cNvPr>
          <p:cNvSpPr txBox="1"/>
          <p:nvPr/>
        </p:nvSpPr>
        <p:spPr>
          <a:xfrm>
            <a:off x="1193800" y="37846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Execution (DBMS_MLE, CREATE JAVA SOURCE)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683324-00FB-9542-A62D-D1F7C4CD55C6}"/>
              </a:ext>
            </a:extLst>
          </p:cNvPr>
          <p:cNvSpPr/>
          <p:nvPr/>
        </p:nvSpPr>
        <p:spPr>
          <a:xfrm>
            <a:off x="1041400" y="41148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7247362-ACC2-4A48-B84B-5954C06E69DD}"/>
              </a:ext>
            </a:extLst>
          </p:cNvPr>
          <p:cNvSpPr txBox="1"/>
          <p:nvPr/>
        </p:nvSpPr>
        <p:spPr>
          <a:xfrm>
            <a:off x="1193800" y="40640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Persistence (AFTER LOGON, Scheduler-Jobs)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D96FBB-F89C-3B4B-A791-22A8988E5AE7}"/>
              </a:ext>
            </a:extLst>
          </p:cNvPr>
          <p:cNvSpPr/>
          <p:nvPr/>
        </p:nvSpPr>
        <p:spPr>
          <a:xfrm>
            <a:off x="1041400" y="43942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3FC3F71-8E3D-0C4B-962B-29CAAD32DD29}"/>
              </a:ext>
            </a:extLst>
          </p:cNvPr>
          <p:cNvSpPr txBox="1"/>
          <p:nvPr/>
        </p:nvSpPr>
        <p:spPr>
          <a:xfrm>
            <a:off x="1193800" y="43434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Defense Evasion (NOAUDIT, DELETE AUD$)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CE86512-8598-1C45-8E85-1E343020F913}"/>
              </a:ext>
            </a:extLst>
          </p:cNvPr>
          <p:cNvSpPr/>
          <p:nvPr/>
        </p:nvSpPr>
        <p:spPr>
          <a:xfrm>
            <a:off x="1041400" y="4673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8C42076-B028-4845-BBA7-FBC322A04917}"/>
              </a:ext>
            </a:extLst>
          </p:cNvPr>
          <p:cNvSpPr txBox="1"/>
          <p:nvPr/>
        </p:nvSpPr>
        <p:spPr>
          <a:xfrm>
            <a:off x="1193800" y="46228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Credential Access (SYS.USER$)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D10311E-28EA-6C4F-B0D6-F721918C62BF}"/>
              </a:ext>
            </a:extLst>
          </p:cNvPr>
          <p:cNvSpPr/>
          <p:nvPr/>
        </p:nvSpPr>
        <p:spPr>
          <a:xfrm>
            <a:off x="1041400" y="49530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3A7A17C-A0FD-B547-BDC3-33B7ED04212F}"/>
              </a:ext>
            </a:extLst>
          </p:cNvPr>
          <p:cNvSpPr txBox="1"/>
          <p:nvPr/>
        </p:nvSpPr>
        <p:spPr>
          <a:xfrm>
            <a:off x="1193800" y="49022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Lateral Movement (DBMS_FILE_TRANSFER)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1FEBDA-174E-1B45-96A6-56A6ACE104CE}"/>
              </a:ext>
            </a:extLst>
          </p:cNvPr>
          <p:cNvSpPr/>
          <p:nvPr/>
        </p:nvSpPr>
        <p:spPr>
          <a:xfrm>
            <a:off x="1041400" y="52324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F22D117-CC4A-FD41-A23A-5AD4461F7F8F}"/>
              </a:ext>
            </a:extLst>
          </p:cNvPr>
          <p:cNvSpPr txBox="1"/>
          <p:nvPr/>
        </p:nvSpPr>
        <p:spPr>
          <a:xfrm>
            <a:off x="1193800" y="51816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Exfiltration/C2 (JDWP, Relay-URLs)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BE277CE-DE5C-EB4C-B288-F6B82C6F1E5C}"/>
              </a:ext>
            </a:extLst>
          </p:cNvPr>
          <p:cNvSpPr/>
          <p:nvPr/>
        </p:nvSpPr>
        <p:spPr>
          <a:xfrm>
            <a:off x="6223000" y="2057400"/>
            <a:ext cx="5207000" cy="4038600"/>
          </a:xfrm>
          <a:prstGeom prst="rect">
            <a:avLst/>
          </a:prstGeom>
          <a:solidFill>
            <a:srgbClr val="F4FAFD"/>
          </a:solidFill>
          <a:ln w="12700" cap="flat" cmpd="sng" algn="ctr">
            <a:solidFill>
              <a:srgbClr val="0F9E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3B34FE1C-D331-3D42-96F8-DB2549BE62BB}"/>
              </a:ext>
            </a:extLst>
          </p:cNvPr>
          <p:cNvSpPr/>
          <p:nvPr/>
        </p:nvSpPr>
        <p:spPr>
          <a:xfrm>
            <a:off x="6223000" y="2057400"/>
            <a:ext cx="52070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28903B8-EEBD-F04E-8FE2-99B29EBCDBF2}"/>
              </a:ext>
            </a:extLst>
          </p:cNvPr>
          <p:cNvSpPr/>
          <p:nvPr/>
        </p:nvSpPr>
        <p:spPr>
          <a:xfrm>
            <a:off x="6477000" y="2311400"/>
            <a:ext cx="1270000" cy="279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6DACEE8-2EAB-CC46-AC56-9D7660E19D44}"/>
              </a:ext>
            </a:extLst>
          </p:cNvPr>
          <p:cNvSpPr txBox="1"/>
          <p:nvPr/>
        </p:nvSpPr>
        <p:spPr>
          <a:xfrm>
            <a:off x="6477000" y="27178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PostgreSQL MITRE-Indikatoren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2342984-E853-8446-98F6-87DAAB0236E0}"/>
              </a:ext>
            </a:extLst>
          </p:cNvPr>
          <p:cNvSpPr txBox="1"/>
          <p:nvPr/>
        </p:nvSpPr>
        <p:spPr>
          <a:xfrm>
            <a:off x="6477000" y="30988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0F9ED5"/>
                </a:solidFill>
              </a:rPr>
              <a:t>10 Taktiken · 68 Regeln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88DC73B-B1CC-F34D-8003-F5AE266160A2}"/>
              </a:ext>
            </a:extLst>
          </p:cNvPr>
          <p:cNvSpPr txBox="1"/>
          <p:nvPr/>
        </p:nvSpPr>
        <p:spPr>
          <a:xfrm>
            <a:off x="6477000" y="34036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666666"/>
                </a:solidFill>
              </a:rPr>
              <a:t>seit ACI 2.6+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0C1E0452-D636-5E4F-ABDB-82D1165198C3}"/>
              </a:ext>
            </a:extLst>
          </p:cNvPr>
          <p:cNvSpPr/>
          <p:nvPr/>
        </p:nvSpPr>
        <p:spPr>
          <a:xfrm>
            <a:off x="6477000" y="3683000"/>
            <a:ext cx="4699000" cy="127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1BA6C8-F944-6240-9A5E-07E9599E295C}"/>
              </a:ext>
            </a:extLst>
          </p:cNvPr>
          <p:cNvSpPr/>
          <p:nvPr/>
        </p:nvSpPr>
        <p:spPr>
          <a:xfrm>
            <a:off x="6502400" y="38354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A7BFE6EE-A9EC-7744-8A89-20A632CD3186}"/>
              </a:ext>
            </a:extLst>
          </p:cNvPr>
          <p:cNvSpPr txBox="1"/>
          <p:nvPr/>
        </p:nvSpPr>
        <p:spPr>
          <a:xfrm>
            <a:off x="6654800" y="37846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Persistence (Event Trigger, Subscription)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531B307-929F-4245-8A32-D25A0473D63A}"/>
              </a:ext>
            </a:extLst>
          </p:cNvPr>
          <p:cNvSpPr/>
          <p:nvPr/>
        </p:nvSpPr>
        <p:spPr>
          <a:xfrm>
            <a:off x="6502400" y="41148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5B2CCB70-E268-834A-A963-C0C29EBD409F}"/>
              </a:ext>
            </a:extLst>
          </p:cNvPr>
          <p:cNvSpPr txBox="1"/>
          <p:nvPr/>
        </p:nvSpPr>
        <p:spPr>
          <a:xfrm>
            <a:off x="6654800" y="40640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Privilege Escalation (GRANT PUBLIC, Sys-Rollen)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7B015FA-23BA-2F4D-BBD5-EDCFBF4CAA19}"/>
              </a:ext>
            </a:extLst>
          </p:cNvPr>
          <p:cNvSpPr/>
          <p:nvPr/>
        </p:nvSpPr>
        <p:spPr>
          <a:xfrm>
            <a:off x="6502400" y="43942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5914F22A-BFBF-5248-A84F-E5A772915630}"/>
              </a:ext>
            </a:extLst>
          </p:cNvPr>
          <p:cNvSpPr txBox="1"/>
          <p:nvPr/>
        </p:nvSpPr>
        <p:spPr>
          <a:xfrm>
            <a:off x="6654800" y="43434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Defense Evasion (RLS aus, ALTER SYSTEM)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2C9DC2E-F583-6F44-A798-8FECB73AA4CF}"/>
              </a:ext>
            </a:extLst>
          </p:cNvPr>
          <p:cNvSpPr/>
          <p:nvPr/>
        </p:nvSpPr>
        <p:spPr>
          <a:xfrm>
            <a:off x="6502400" y="4673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67CEB2A-5286-9648-84E4-60C3D8CE8C5D}"/>
              </a:ext>
            </a:extLst>
          </p:cNvPr>
          <p:cNvSpPr txBox="1"/>
          <p:nvPr/>
        </p:nvSpPr>
        <p:spPr>
          <a:xfrm>
            <a:off x="6654800" y="46228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Lateral Movement (FDW, dblink)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0B7BE1E-1D23-104C-AE81-A93730E33EC7}"/>
              </a:ext>
            </a:extLst>
          </p:cNvPr>
          <p:cNvSpPr/>
          <p:nvPr/>
        </p:nvSpPr>
        <p:spPr>
          <a:xfrm>
            <a:off x="6502400" y="49530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A15F4B1-43EC-B341-AC13-836712E2F21E}"/>
              </a:ext>
            </a:extLst>
          </p:cNvPr>
          <p:cNvSpPr txBox="1"/>
          <p:nvPr/>
        </p:nvSpPr>
        <p:spPr>
          <a:xfrm>
            <a:off x="6654800" y="49022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Collection (\copy, COPY FROM file)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024636C-A98C-054A-A6C1-4D7EDC1AAB07}"/>
              </a:ext>
            </a:extLst>
          </p:cNvPr>
          <p:cNvSpPr/>
          <p:nvPr/>
        </p:nvSpPr>
        <p:spPr>
          <a:xfrm>
            <a:off x="6502400" y="52324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794DF31C-B9A2-C745-ACF2-DC4DE36C0906}"/>
              </a:ext>
            </a:extLst>
          </p:cNvPr>
          <p:cNvSpPr txBox="1"/>
          <p:nvPr/>
        </p:nvSpPr>
        <p:spPr>
          <a:xfrm>
            <a:off x="6654800" y="51816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Exfiltration (COPY TO file, Replication)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AF9B82EF-55FC-154C-AD82-94ADF378F2C6}"/>
              </a:ext>
            </a:extLst>
          </p:cNvPr>
          <p:cNvSpPr/>
          <p:nvPr/>
        </p:nvSpPr>
        <p:spPr>
          <a:xfrm>
            <a:off x="762000" y="6248400"/>
            <a:ext cx="10668000" cy="3048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1E486F82-7565-8247-9483-983A54D6E46F}"/>
              </a:ext>
            </a:extLst>
          </p:cNvPr>
          <p:cNvSpPr/>
          <p:nvPr/>
        </p:nvSpPr>
        <p:spPr>
          <a:xfrm>
            <a:off x="762000" y="6248400"/>
            <a:ext cx="50800" cy="304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771B8DC-96D2-064D-8F52-280C673FBC2A}"/>
              </a:ext>
            </a:extLst>
          </p:cNvPr>
          <p:cNvSpPr txBox="1"/>
          <p:nvPr/>
        </p:nvSpPr>
        <p:spPr>
          <a:xfrm>
            <a:off x="965200" y="6286500"/>
            <a:ext cx="10414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i="1">
                <a:solidFill>
                  <a:srgbClr val="444444"/>
                </a:solidFill>
              </a:rPr>
              <a:t>Jedes Finding ist mit Taktik (TA…) und Technik (T…) versehen und verlinkt auf attack.mitre.org. MITRE-Findings sind Indikatoren, die ein Review verdienen — kein sicherer Nachweis eines Angriffs.</a:t>
            </a:r>
          </a:p>
        </p:txBody>
      </p:sp>
    </p:spTree>
    <p:extLst>
      <p:ext uri="{BB962C8B-B14F-4D97-AF65-F5344CB8AC3E}">
        <p14:creationId xmlns:p14="http://schemas.microsoft.com/office/powerpoint/2010/main" val="150177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feld 45">
            <a:extLst>
              <a:ext uri="{FF2B5EF4-FFF2-40B4-BE49-F238E27FC236}">
                <a16:creationId xmlns:a16="http://schemas.microsoft.com/office/drawing/2014/main" id="{878BE9AE-1332-774E-A588-FB4B2CB79E8B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SICHERHEIT · MITRE ATT&amp;CK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ECFFF17-D819-A54A-887D-82B8C6834E37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Taktiken im Überblick — Oracle vs. PostgreSQL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A63DFE9-1422-2447-B26E-CD4ED9263259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D01E8AF-D9FF-4341-864E-01E6297C16A8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555555"/>
                </a:solidFill>
              </a:rPr>
              <a:t>Pro Taktik je ein typisches Indikator-Muster. Pflegbar als JSON unter rules/mitre/&lt;dialect&gt;/.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3A5F820-7F52-9740-B6DA-FAF9E70D014C}"/>
              </a:ext>
            </a:extLst>
          </p:cNvPr>
          <p:cNvSpPr/>
          <p:nvPr/>
        </p:nvSpPr>
        <p:spPr>
          <a:xfrm>
            <a:off x="762000" y="2057400"/>
            <a:ext cx="106680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B4A5268-0011-5B4F-BF29-E66433003C13}"/>
              </a:ext>
            </a:extLst>
          </p:cNvPr>
          <p:cNvSpPr txBox="1"/>
          <p:nvPr/>
        </p:nvSpPr>
        <p:spPr>
          <a:xfrm>
            <a:off x="762000" y="20574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lIns="152400" t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Taktik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05C3369-46AB-1448-A555-867C2E48AAEA}"/>
              </a:ext>
            </a:extLst>
          </p:cNvPr>
          <p:cNvSpPr txBox="1"/>
          <p:nvPr/>
        </p:nvSpPr>
        <p:spPr>
          <a:xfrm>
            <a:off x="3683000" y="2057400"/>
            <a:ext cx="3683000" cy="381000"/>
          </a:xfrm>
          <a:prstGeom prst="rect">
            <a:avLst/>
          </a:prstGeom>
          <a:noFill/>
        </p:spPr>
        <p:txBody>
          <a:bodyPr vertOverflow="overflow" vert="horz" wrap="square" lIns="152400" t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6B87CC7B-8608-1345-B42E-79893747DF31}"/>
              </a:ext>
            </a:extLst>
          </p:cNvPr>
          <p:cNvSpPr txBox="1"/>
          <p:nvPr/>
        </p:nvSpPr>
        <p:spPr>
          <a:xfrm>
            <a:off x="7366000" y="2057400"/>
            <a:ext cx="3683000" cy="381000"/>
          </a:xfrm>
          <a:prstGeom prst="rect">
            <a:avLst/>
          </a:prstGeom>
          <a:noFill/>
        </p:spPr>
        <p:txBody>
          <a:bodyPr vertOverflow="overflow" vert="horz" wrap="square" lIns="152400" t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037309B-5530-9744-A804-B0DDB768A6DA}"/>
              </a:ext>
            </a:extLst>
          </p:cNvPr>
          <p:cNvSpPr/>
          <p:nvPr/>
        </p:nvSpPr>
        <p:spPr>
          <a:xfrm>
            <a:off x="762000" y="2438400"/>
            <a:ext cx="10668000" cy="4064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E73EA31-C54B-EE4B-ADDF-21FD74C3EAE6}"/>
              </a:ext>
            </a:extLst>
          </p:cNvPr>
          <p:cNvSpPr txBox="1"/>
          <p:nvPr/>
        </p:nvSpPr>
        <p:spPr>
          <a:xfrm>
            <a:off x="914400" y="24892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Execution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FD6D2EE1-5392-FF47-BADD-BEEB6E7BC858}"/>
              </a:ext>
            </a:extLst>
          </p:cNvPr>
          <p:cNvSpPr txBox="1"/>
          <p:nvPr/>
        </p:nvSpPr>
        <p:spPr>
          <a:xfrm>
            <a:off x="914400" y="26543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TA0002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398C917E-34E3-D64A-8896-0417C014AAF9}"/>
              </a:ext>
            </a:extLst>
          </p:cNvPr>
          <p:cNvSpPr txBox="1"/>
          <p:nvPr/>
        </p:nvSpPr>
        <p:spPr>
          <a:xfrm>
            <a:off x="3835400" y="25400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DBMS_MLE, CREATE JAVA SOURCE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4F041EC-3B1D-5C49-AFB9-43FBCBD42429}"/>
              </a:ext>
            </a:extLst>
          </p:cNvPr>
          <p:cNvSpPr txBox="1"/>
          <p:nvPr/>
        </p:nvSpPr>
        <p:spPr>
          <a:xfrm>
            <a:off x="7518400" y="25400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BBBBBB"/>
                </a:solidFill>
                <a:latin typeface="Consolas"/>
                <a:cs typeface="Consolas"/>
              </a:rPr>
              <a:t>—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4550D492-4D2D-2848-9905-D43B3FF806FC}"/>
              </a:ext>
            </a:extLst>
          </p:cNvPr>
          <p:cNvSpPr/>
          <p:nvPr/>
        </p:nvSpPr>
        <p:spPr>
          <a:xfrm>
            <a:off x="762000" y="28448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7731344-6D39-CF4B-9AAC-DF989C2CCFF9}"/>
              </a:ext>
            </a:extLst>
          </p:cNvPr>
          <p:cNvSpPr txBox="1"/>
          <p:nvPr/>
        </p:nvSpPr>
        <p:spPr>
          <a:xfrm>
            <a:off x="914400" y="28956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Persistence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55183893-47BB-4740-BA02-3B4CF51B67DE}"/>
              </a:ext>
            </a:extLst>
          </p:cNvPr>
          <p:cNvSpPr txBox="1"/>
          <p:nvPr/>
        </p:nvSpPr>
        <p:spPr>
          <a:xfrm>
            <a:off x="914400" y="30607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TA0003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DFBEE12-6146-FD45-A612-5C876BD3D773}"/>
              </a:ext>
            </a:extLst>
          </p:cNvPr>
          <p:cNvSpPr txBox="1"/>
          <p:nvPr/>
        </p:nvSpPr>
        <p:spPr>
          <a:xfrm>
            <a:off x="3835400" y="29464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AFTER LOGON, Scheduler EXECUTABLE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C0F011E-2DCC-8E4D-96A7-0526CB82B139}"/>
              </a:ext>
            </a:extLst>
          </p:cNvPr>
          <p:cNvSpPr txBox="1"/>
          <p:nvPr/>
        </p:nvSpPr>
        <p:spPr>
          <a:xfrm>
            <a:off x="7518400" y="29464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CREATE EVENT TRIGGER, CREATE SUBSCRIPTION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0BFD1C1-11C0-CD47-9835-CAA58214971B}"/>
              </a:ext>
            </a:extLst>
          </p:cNvPr>
          <p:cNvSpPr/>
          <p:nvPr/>
        </p:nvSpPr>
        <p:spPr>
          <a:xfrm>
            <a:off x="762000" y="3251200"/>
            <a:ext cx="10668000" cy="4064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3FA3E867-8163-CC43-AA5F-5E12B05DC7BA}"/>
              </a:ext>
            </a:extLst>
          </p:cNvPr>
          <p:cNvSpPr txBox="1"/>
          <p:nvPr/>
        </p:nvSpPr>
        <p:spPr>
          <a:xfrm>
            <a:off x="914400" y="33020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Privilege Escalation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C041C735-5DC3-9E46-927C-23EA4BE2B0A0}"/>
              </a:ext>
            </a:extLst>
          </p:cNvPr>
          <p:cNvSpPr txBox="1"/>
          <p:nvPr/>
        </p:nvSpPr>
        <p:spPr>
          <a:xfrm>
            <a:off x="914400" y="34671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TA0004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8DADB22-4996-3E4C-ABF0-45BB0D26A2D0}"/>
              </a:ext>
            </a:extLst>
          </p:cNvPr>
          <p:cNvSpPr txBox="1"/>
          <p:nvPr/>
        </p:nvSpPr>
        <p:spPr>
          <a:xfrm>
            <a:off x="3835400" y="33528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AUTHID DEFINER, IDENTIFIED BY VALUES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DD2372FF-E82E-6748-BBA5-7E819ED0A331}"/>
              </a:ext>
            </a:extLst>
          </p:cNvPr>
          <p:cNvSpPr txBox="1"/>
          <p:nvPr/>
        </p:nvSpPr>
        <p:spPr>
          <a:xfrm>
            <a:off x="7518400" y="33528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GRANT … TO PUBLIC, system role grants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CE760F4D-531F-6649-8971-FA46A7E8A338}"/>
              </a:ext>
            </a:extLst>
          </p:cNvPr>
          <p:cNvSpPr/>
          <p:nvPr/>
        </p:nvSpPr>
        <p:spPr>
          <a:xfrm>
            <a:off x="762000" y="36576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A02B0A28-3E80-7A4C-A70B-B452F9D04523}"/>
              </a:ext>
            </a:extLst>
          </p:cNvPr>
          <p:cNvSpPr txBox="1"/>
          <p:nvPr/>
        </p:nvSpPr>
        <p:spPr>
          <a:xfrm>
            <a:off x="914400" y="37084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Defense Evasion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DFC2F37D-C38C-CF4F-8E7C-7854F976EF51}"/>
              </a:ext>
            </a:extLst>
          </p:cNvPr>
          <p:cNvSpPr txBox="1"/>
          <p:nvPr/>
        </p:nvSpPr>
        <p:spPr>
          <a:xfrm>
            <a:off x="914400" y="38735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TA0005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557EB09-1325-FC4E-869B-B1E8A19A4333}"/>
              </a:ext>
            </a:extLst>
          </p:cNvPr>
          <p:cNvSpPr txBox="1"/>
          <p:nvPr/>
        </p:nvSpPr>
        <p:spPr>
          <a:xfrm>
            <a:off x="3835400" y="37592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_oracle_script, NOAUDIT, DELETE AUD$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1B9656F3-9A82-D248-A5FA-66011FFF0CEC}"/>
              </a:ext>
            </a:extLst>
          </p:cNvPr>
          <p:cNvSpPr txBox="1"/>
          <p:nvPr/>
        </p:nvSpPr>
        <p:spPr>
          <a:xfrm>
            <a:off x="7518400" y="37592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RLS disable, ALTER SYSTEM, SET ROLE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F472DC2-D4E9-2043-A254-A7C8F0E832AD}"/>
              </a:ext>
            </a:extLst>
          </p:cNvPr>
          <p:cNvSpPr/>
          <p:nvPr/>
        </p:nvSpPr>
        <p:spPr>
          <a:xfrm>
            <a:off x="762000" y="4064000"/>
            <a:ext cx="10668000" cy="4064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AC2033C-551F-DA46-A9C7-19375C14DE86}"/>
              </a:ext>
            </a:extLst>
          </p:cNvPr>
          <p:cNvSpPr txBox="1"/>
          <p:nvPr/>
        </p:nvSpPr>
        <p:spPr>
          <a:xfrm>
            <a:off x="914400" y="41148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Credential Access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024112C9-FEAE-1147-8F6A-95BE15D804DF}"/>
              </a:ext>
            </a:extLst>
          </p:cNvPr>
          <p:cNvSpPr txBox="1"/>
          <p:nvPr/>
        </p:nvSpPr>
        <p:spPr>
          <a:xfrm>
            <a:off x="914400" y="42799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TA0006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44352C5A-41B3-0A40-8FCD-DFFD0E36A2F7}"/>
              </a:ext>
            </a:extLst>
          </p:cNvPr>
          <p:cNvSpPr txBox="1"/>
          <p:nvPr/>
        </p:nvSpPr>
        <p:spPr>
          <a:xfrm>
            <a:off x="3835400" y="41656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SYS.USER$, DBMS_SYSTEM.GET_ENV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FB24EEBD-F48A-E34D-8359-36DC463BACD7}"/>
              </a:ext>
            </a:extLst>
          </p:cNvPr>
          <p:cNvSpPr txBox="1"/>
          <p:nvPr/>
        </p:nvSpPr>
        <p:spPr>
          <a:xfrm>
            <a:off x="7518400" y="41656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BBBBBB"/>
                </a:solidFill>
                <a:latin typeface="Consolas"/>
                <a:cs typeface="Consolas"/>
              </a:rPr>
              <a:t>—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F82EB7D6-B5AC-3549-826A-E8B33EECAEF4}"/>
              </a:ext>
            </a:extLst>
          </p:cNvPr>
          <p:cNvSpPr/>
          <p:nvPr/>
        </p:nvSpPr>
        <p:spPr>
          <a:xfrm>
            <a:off x="762000" y="44704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69F79971-E519-3F48-9BE3-7BE6CF9C16E8}"/>
              </a:ext>
            </a:extLst>
          </p:cNvPr>
          <p:cNvSpPr txBox="1"/>
          <p:nvPr/>
        </p:nvSpPr>
        <p:spPr>
          <a:xfrm>
            <a:off x="914400" y="45212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Lateral Movement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E3A960F3-02DA-1046-AAF5-4FC84D456FD4}"/>
              </a:ext>
            </a:extLst>
          </p:cNvPr>
          <p:cNvSpPr txBox="1"/>
          <p:nvPr/>
        </p:nvSpPr>
        <p:spPr>
          <a:xfrm>
            <a:off x="914400" y="46863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TA0008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5BA513E1-4357-7A43-A4B9-F852666AD28A}"/>
              </a:ext>
            </a:extLst>
          </p:cNvPr>
          <p:cNvSpPr txBox="1"/>
          <p:nvPr/>
        </p:nvSpPr>
        <p:spPr>
          <a:xfrm>
            <a:off x="3835400" y="45720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DBMS_FILE_TRANSFER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CC63E02-8352-5B42-8AFD-86DEC57F5B2B}"/>
              </a:ext>
            </a:extLst>
          </p:cNvPr>
          <p:cNvSpPr txBox="1"/>
          <p:nvPr/>
        </p:nvSpPr>
        <p:spPr>
          <a:xfrm>
            <a:off x="7518400" y="45720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FDW (CREATE SERVER), dblink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5B675EEC-6A88-904A-805F-1B2D8AA7DDD3}"/>
              </a:ext>
            </a:extLst>
          </p:cNvPr>
          <p:cNvSpPr/>
          <p:nvPr/>
        </p:nvSpPr>
        <p:spPr>
          <a:xfrm>
            <a:off x="762000" y="4876800"/>
            <a:ext cx="10668000" cy="4064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EFF9EBB-7729-E342-9A69-D980E703D17D}"/>
              </a:ext>
            </a:extLst>
          </p:cNvPr>
          <p:cNvSpPr txBox="1"/>
          <p:nvPr/>
        </p:nvSpPr>
        <p:spPr>
          <a:xfrm>
            <a:off x="914400" y="49276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Collection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60D4867-CE4F-C347-A2B5-7A99AA955D2D}"/>
              </a:ext>
            </a:extLst>
          </p:cNvPr>
          <p:cNvSpPr txBox="1"/>
          <p:nvPr/>
        </p:nvSpPr>
        <p:spPr>
          <a:xfrm>
            <a:off x="914400" y="50927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TA0009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86F00D8D-D60E-B440-BA4E-9C9A1D5E60D1}"/>
              </a:ext>
            </a:extLst>
          </p:cNvPr>
          <p:cNvSpPr txBox="1"/>
          <p:nvPr/>
        </p:nvSpPr>
        <p:spPr>
          <a:xfrm>
            <a:off x="3835400" y="49784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BBBBBB"/>
                </a:solidFill>
                <a:latin typeface="Consolas"/>
                <a:cs typeface="Consolas"/>
              </a:rPr>
              <a:t>—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2A1B0C89-DF87-C249-912D-548608539D03}"/>
              </a:ext>
            </a:extLst>
          </p:cNvPr>
          <p:cNvSpPr txBox="1"/>
          <p:nvPr/>
        </p:nvSpPr>
        <p:spPr>
          <a:xfrm>
            <a:off x="7518400" y="49784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\copy, COPY FROM file, Publication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2547275F-7867-4545-88A3-0EF584FC534B}"/>
              </a:ext>
            </a:extLst>
          </p:cNvPr>
          <p:cNvSpPr/>
          <p:nvPr/>
        </p:nvSpPr>
        <p:spPr>
          <a:xfrm>
            <a:off x="762000" y="52832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D3F8CC04-68F1-5E43-A3C1-F51108381FAC}"/>
              </a:ext>
            </a:extLst>
          </p:cNvPr>
          <p:cNvSpPr txBox="1"/>
          <p:nvPr/>
        </p:nvSpPr>
        <p:spPr>
          <a:xfrm>
            <a:off x="914400" y="53340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Exfiltration / C2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AA19725-6AB6-6A41-B02F-45D9CE64E946}"/>
              </a:ext>
            </a:extLst>
          </p:cNvPr>
          <p:cNvSpPr txBox="1"/>
          <p:nvPr/>
        </p:nvSpPr>
        <p:spPr>
          <a:xfrm>
            <a:off x="914400" y="54991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TA0010/11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804D6FC6-FE9B-5F46-AD54-09491277D667}"/>
              </a:ext>
            </a:extLst>
          </p:cNvPr>
          <p:cNvSpPr txBox="1"/>
          <p:nvPr/>
        </p:nvSpPr>
        <p:spPr>
          <a:xfrm>
            <a:off x="3835400" y="53848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JDWP.CONNECT_TCP, NETWORK_ACL_ADMIN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DBFF3D0D-3253-104F-B1DA-F4D93F58EF5B}"/>
              </a:ext>
            </a:extLst>
          </p:cNvPr>
          <p:cNvSpPr txBox="1"/>
          <p:nvPr/>
        </p:nvSpPr>
        <p:spPr>
          <a:xfrm>
            <a:off x="7518400" y="53848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COPY TO file, Subscription credentials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4002F3B7-D563-2E46-875F-447CA326EDC7}"/>
              </a:ext>
            </a:extLst>
          </p:cNvPr>
          <p:cNvSpPr/>
          <p:nvPr/>
        </p:nvSpPr>
        <p:spPr>
          <a:xfrm>
            <a:off x="762000" y="5689600"/>
            <a:ext cx="10668000" cy="4064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BDD8F45C-8C9B-FD47-BAE9-64F2B7E928A6}"/>
              </a:ext>
            </a:extLst>
          </p:cNvPr>
          <p:cNvSpPr txBox="1"/>
          <p:nvPr/>
        </p:nvSpPr>
        <p:spPr>
          <a:xfrm>
            <a:off x="914400" y="57404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Impact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7EC0AA3E-23D0-C941-9105-5C966E7D2540}"/>
              </a:ext>
            </a:extLst>
          </p:cNvPr>
          <p:cNvSpPr txBox="1"/>
          <p:nvPr/>
        </p:nvSpPr>
        <p:spPr>
          <a:xfrm>
            <a:off x="914400" y="59055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TA0040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B10114EE-8E20-5348-AB46-DB3847CBBC3C}"/>
              </a:ext>
            </a:extLst>
          </p:cNvPr>
          <p:cNvSpPr txBox="1"/>
          <p:nvPr/>
        </p:nvSpPr>
        <p:spPr>
          <a:xfrm>
            <a:off x="3835400" y="57912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CREATE LIBRARY, ADVANCED_REWRITE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3696EB38-1AA6-F549-9CA5-CFF998A14D42}"/>
              </a:ext>
            </a:extLst>
          </p:cNvPr>
          <p:cNvSpPr txBox="1"/>
          <p:nvPr/>
        </p:nvSpPr>
        <p:spPr>
          <a:xfrm>
            <a:off x="7518400" y="57912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pg_terminate_backend, pg_cancel_backend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CC210AE3-7564-7D4A-940B-D2E5822B5BF0}"/>
              </a:ext>
            </a:extLst>
          </p:cNvPr>
          <p:cNvSpPr/>
          <p:nvPr/>
        </p:nvSpPr>
        <p:spPr>
          <a:xfrm>
            <a:off x="762000" y="60960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FAF545F6-950B-8C4B-8CBC-9D294944BFCF}"/>
              </a:ext>
            </a:extLst>
          </p:cNvPr>
          <p:cNvSpPr txBox="1"/>
          <p:nvPr/>
        </p:nvSpPr>
        <p:spPr>
          <a:xfrm>
            <a:off x="914400" y="6146800"/>
            <a:ext cx="276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</a:rPr>
              <a:t>Defense Impairment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73F93A75-A17B-B049-9341-159623DBE956}"/>
              </a:ext>
            </a:extLst>
          </p:cNvPr>
          <p:cNvSpPr txBox="1"/>
          <p:nvPr/>
        </p:nvSpPr>
        <p:spPr>
          <a:xfrm>
            <a:off x="914400" y="6311900"/>
            <a:ext cx="27686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888888"/>
                </a:solidFill>
                <a:latin typeface="Consolas"/>
                <a:cs typeface="Consolas"/>
              </a:rPr>
              <a:t>TA0112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CF810EB-DD5C-A543-9347-FAFCFC219B5A}"/>
              </a:ext>
            </a:extLst>
          </p:cNvPr>
          <p:cNvSpPr txBox="1"/>
          <p:nvPr/>
        </p:nvSpPr>
        <p:spPr>
          <a:xfrm>
            <a:off x="3835400" y="61976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1A1A1A"/>
                </a:solidFill>
                <a:latin typeface="Consolas"/>
                <a:cs typeface="Consolas"/>
              </a:rPr>
              <a:t>SQL_FIREWALL.DISABLE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A45F55A5-BBB5-5041-9B5C-78EDB6B68BDB}"/>
              </a:ext>
            </a:extLst>
          </p:cNvPr>
          <p:cNvSpPr txBox="1"/>
          <p:nvPr/>
        </p:nvSpPr>
        <p:spPr>
          <a:xfrm>
            <a:off x="7518400" y="6197600"/>
            <a:ext cx="345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BBBBBB"/>
                </a:solidFill>
                <a:latin typeface="Consolas"/>
                <a:cs typeface="Consolas"/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1379474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428966F-8A0E-5844-804F-709E28BF3C91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SICHERHEIT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9F5D138-059D-B44A-88E7-AACFA65307DD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PostgreSQL — spezielle Detektoren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E65575-2087-6946-BF29-90EDF5BD5C5D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4491BB-A822-CD42-8840-DF9FB1FC1174}"/>
              </a:ext>
            </a:extLst>
          </p:cNvPr>
          <p:cNvSpPr txBox="1"/>
          <p:nvPr/>
        </p:nvSpPr>
        <p:spPr>
          <a:xfrm>
            <a:off x="762000" y="1625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PostgreSQL-/EPAS-eigene Regeln decken Administration, RLS, Audit-Tampering, FDW und Extensions ab — Befunde, die bei normalen Migrations-Skripten kritisch sind.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EA3D142-0290-DB43-876F-AE194FBC32BC}"/>
              </a:ext>
            </a:extLst>
          </p:cNvPr>
          <p:cNvSpPr/>
          <p:nvPr/>
        </p:nvSpPr>
        <p:spPr>
          <a:xfrm>
            <a:off x="762000" y="2222500"/>
            <a:ext cx="52070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3395BF4-AD1D-0541-B1DD-E63B5B9EE6ED}"/>
              </a:ext>
            </a:extLst>
          </p:cNvPr>
          <p:cNvSpPr/>
          <p:nvPr/>
        </p:nvSpPr>
        <p:spPr>
          <a:xfrm>
            <a:off x="762000" y="2222500"/>
            <a:ext cx="63500" cy="2222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CDE612-96B9-F942-9149-AEA09294D094}"/>
              </a:ext>
            </a:extLst>
          </p:cNvPr>
          <p:cNvSpPr txBox="1"/>
          <p:nvPr/>
        </p:nvSpPr>
        <p:spPr>
          <a:xfrm>
            <a:off x="990600" y="23749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156082"/>
                </a:solidFill>
              </a:rPr>
              <a:t>Administration &amp; Rollen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F6CB5D8-E165-064F-B9B2-E52A588CFAAC}"/>
              </a:ext>
            </a:extLst>
          </p:cNvPr>
          <p:cNvSpPr txBox="1"/>
          <p:nvPr/>
        </p:nvSpPr>
        <p:spPr>
          <a:xfrm>
            <a:off x="990600" y="2730500"/>
            <a:ext cx="4826000" cy="15875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•  ALTER SYSTEM SET (work_mem, security)
•  ALTER SYSTEM RESET
•  GRANT … WITH GRANT/ADMIN OPTION
•  Vordefinierte Rollen (pg_checkpoint, pg_maintain, pg_create_subscription, …)</a:t>
            </a:r>
          </a:p>
          <a:p>
            <a:pPr algn="l"/>
            <a:r>
              <a:rPr lang="de-DE" sz="1200">
                <a:solidFill>
                  <a:srgbClr val="1A1A1A"/>
                </a:solidFill>
              </a:rPr>
              <a:t>•  REASSIGN OWNED · Lesen von pg_authid / pg_shadow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DDE96E-1806-484E-9879-C557FE7A947C}"/>
              </a:ext>
            </a:extLst>
          </p:cNvPr>
          <p:cNvSpPr/>
          <p:nvPr/>
        </p:nvSpPr>
        <p:spPr>
          <a:xfrm>
            <a:off x="6223000" y="2222500"/>
            <a:ext cx="52070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1E39734-F73C-F54D-AD11-84B8647A22CA}"/>
              </a:ext>
            </a:extLst>
          </p:cNvPr>
          <p:cNvSpPr/>
          <p:nvPr/>
        </p:nvSpPr>
        <p:spPr>
          <a:xfrm>
            <a:off x="6223000" y="2222500"/>
            <a:ext cx="63500" cy="2222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B95DCE0-1ABC-2443-9DE2-0DBF47CFB362}"/>
              </a:ext>
            </a:extLst>
          </p:cNvPr>
          <p:cNvSpPr txBox="1"/>
          <p:nvPr/>
        </p:nvSpPr>
        <p:spPr>
          <a:xfrm>
            <a:off x="6451600" y="23749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E97132"/>
                </a:solidFill>
              </a:rPr>
              <a:t>Erweiterungen &amp; Code-Loading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EBCFD55-E18A-784D-9D10-2AAC16D094F7}"/>
              </a:ext>
            </a:extLst>
          </p:cNvPr>
          <p:cNvSpPr txBox="1"/>
          <p:nvPr/>
        </p:nvSpPr>
        <p:spPr>
          <a:xfrm>
            <a:off x="6451600" y="2730500"/>
            <a:ext cx="4826000" cy="15875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•  CREATE EXTENSION dblink (Risiko)
•  Riskante Extensions: adminpack, pg_cron, pg_net, plv8, http
•  LOAD shared library
•  Anlegen/Ersetzen in pg_catalog / public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83065A-5075-3045-A55C-C17B3A1A0238}"/>
              </a:ext>
            </a:extLst>
          </p:cNvPr>
          <p:cNvSpPr/>
          <p:nvPr/>
        </p:nvSpPr>
        <p:spPr>
          <a:xfrm>
            <a:off x="762000" y="4470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E942FD6-0290-7E43-9663-602BA8FF4CA8}"/>
              </a:ext>
            </a:extLst>
          </p:cNvPr>
          <p:cNvSpPr/>
          <p:nvPr/>
        </p:nvSpPr>
        <p:spPr>
          <a:xfrm>
            <a:off x="762000" y="4470400"/>
            <a:ext cx="63500" cy="2032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5895C09-B553-5442-974A-F0A749EC3200}"/>
              </a:ext>
            </a:extLst>
          </p:cNvPr>
          <p:cNvSpPr txBox="1"/>
          <p:nvPr/>
        </p:nvSpPr>
        <p:spPr>
          <a:xfrm>
            <a:off x="990600" y="4622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A02B93"/>
                </a:solidFill>
              </a:rPr>
              <a:t>Row Level Security &amp; Audit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D72BDE0-8D0A-3E4B-A9C2-08917299B9D9}"/>
              </a:ext>
            </a:extLst>
          </p:cNvPr>
          <p:cNvSpPr txBox="1"/>
          <p:nvPr/>
        </p:nvSpPr>
        <p:spPr>
          <a:xfrm>
            <a:off x="990600" y="4978400"/>
            <a:ext cx="4826000" cy="15875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•  Abschalten von RLS
•  Änderung von RLS-Policies
•  Deaktivieren von Triggern
•  Event-Trigger-Manipulation</a:t>
            </a:r>
          </a:p>
          <a:p>
            <a:pPr algn="l"/>
            <a:r>
              <a:rPr lang="de-DE" sz="1200">
                <a:solidFill>
                  <a:srgbClr val="1A1A1A"/>
                </a:solidFill>
              </a:rPr>
              <a:t>•  Audit/Logging via ALTER SYSTEM abschalten (edb_audit, log_statement)</a:t>
            </a:r>
          </a:p>
          <a:p>
            <a:pPr algn="l"/>
            <a:r>
              <a:rPr lang="de-DE" sz="1200">
                <a:solidFill>
                  <a:srgbClr val="1A1A1A"/>
                </a:solidFill>
              </a:rPr>
              <a:t>•  pg_reload_conf nach Audit-Änderung · postgresql.auto.conf-Manipulation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7CC11FA-8526-FF46-B85D-4AD1BBDD9F85}"/>
              </a:ext>
            </a:extLst>
          </p:cNvPr>
          <p:cNvSpPr/>
          <p:nvPr/>
        </p:nvSpPr>
        <p:spPr>
          <a:xfrm>
            <a:off x="6223000" y="4470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3BD97CE-0245-2249-9D7B-ECDE2A67EF0D}"/>
              </a:ext>
            </a:extLst>
          </p:cNvPr>
          <p:cNvSpPr/>
          <p:nvPr/>
        </p:nvSpPr>
        <p:spPr>
          <a:xfrm>
            <a:off x="6223000" y="4470400"/>
            <a:ext cx="63500" cy="2032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FD665CC-C501-5842-8E60-A820B58A8BC8}"/>
              </a:ext>
            </a:extLst>
          </p:cNvPr>
          <p:cNvSpPr txBox="1"/>
          <p:nvPr/>
        </p:nvSpPr>
        <p:spPr>
          <a:xfrm>
            <a:off x="6451600" y="4622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196B24"/>
                </a:solidFill>
              </a:rPr>
              <a:t>Daten &amp; SECURITY DEFINER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65BDD51-5BD6-7F4C-8345-D36DB7AF87B8}"/>
              </a:ext>
            </a:extLst>
          </p:cNvPr>
          <p:cNvSpPr txBox="1"/>
          <p:nvPr/>
        </p:nvSpPr>
        <p:spPr>
          <a:xfrm>
            <a:off x="6451600" y="4978400"/>
            <a:ext cx="4826000" cy="15875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•  SECURITY DEFINER ohne festen search_path
•  FDW / User Mappings / Logical Replication
•  Server-Datei-Operationen, large objects
•  \copy (Client-Datei), COPY FROM '/path'</a:t>
            </a:r>
          </a:p>
          <a:p>
            <a:pPr algn="l"/>
            <a:r>
              <a:rPr lang="de-DE" sz="1200">
                <a:solidFill>
                  <a:srgbClr val="1A1A1A"/>
                </a:solidFill>
              </a:rPr>
              <a:t>•  SECURITY DEFINER mit privilegierter DDL (Audit-Bypass-Kandidat)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30CA91B-A3A0-284C-B7FE-E5B423EC3D63}"/>
              </a:ext>
            </a:extLst>
          </p:cNvPr>
          <p:cNvSpPr txBox="1"/>
          <p:nvPr/>
        </p:nvSpPr>
        <p:spPr>
          <a:xfrm>
            <a:off x="762000" y="6629400"/>
            <a:ext cx="1066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Für EnterpriseDB Postgres Advanced Server (EPAS) meldet ACI die Oracle-kompatiblen Pakete als MITRE-Indikatoren: UTL_FILE, UTL_HTTP, UTL_TCP, UTL_SMTP, DBMS_SCHEDULER, DBMS_SQL u.a.</a:t>
            </a:r>
          </a:p>
        </p:txBody>
      </p:sp>
    </p:spTree>
    <p:extLst>
      <p:ext uri="{BB962C8B-B14F-4D97-AF65-F5344CB8AC3E}">
        <p14:creationId xmlns:p14="http://schemas.microsoft.com/office/powerpoint/2010/main" val="1288578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feld 34">
            <a:extLst>
              <a:ext uri="{FF2B5EF4-FFF2-40B4-BE49-F238E27FC236}">
                <a16:creationId xmlns:a16="http://schemas.microsoft.com/office/drawing/2014/main" id="{E1828BA3-275B-3B4C-83D2-F1BD76B0E3E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CODING GUIDELINES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6F11551-83FF-D74B-BA28-C704F4C5670C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Abdeckung — Oracle &amp; PostgreSQL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3736972-F705-FC4D-AC7F-8E8910B53BA9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2CE83E7-0699-1347-A50A-E9E63F817524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prüft Coding Guidelines für beide Dialekte. Oracle nach Trivadis-Standard, PostgreSQL als ACI-eigener Regelsatz.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39F0EE8-7C52-0149-B632-B0A21E8F43D4}"/>
              </a:ext>
            </a:extLst>
          </p:cNvPr>
          <p:cNvSpPr/>
          <p:nvPr/>
        </p:nvSpPr>
        <p:spPr>
          <a:xfrm>
            <a:off x="762000" y="2057400"/>
            <a:ext cx="5207000" cy="4267200"/>
          </a:xfrm>
          <a:prstGeom prst="rect">
            <a:avLst/>
          </a:prstGeom>
          <a:solidFill>
            <a:srgbClr val="FFF8F8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BD8BEEA-24BD-6B43-A358-F5C5455BEC7A}"/>
              </a:ext>
            </a:extLst>
          </p:cNvPr>
          <p:cNvSpPr/>
          <p:nvPr/>
        </p:nvSpPr>
        <p:spPr>
          <a:xfrm>
            <a:off x="762000" y="2057400"/>
            <a:ext cx="5207000" cy="635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A8D92568-41DE-CA4F-AB4B-EF7DDC4BF504}"/>
              </a:ext>
            </a:extLst>
          </p:cNvPr>
          <p:cNvSpPr/>
          <p:nvPr/>
        </p:nvSpPr>
        <p:spPr>
          <a:xfrm>
            <a:off x="1016000" y="2311400"/>
            <a:ext cx="1270000" cy="279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C3176D2-1C83-CC4E-B7EB-94C45D28CC15}"/>
              </a:ext>
            </a:extLst>
          </p:cNvPr>
          <p:cNvSpPr txBox="1"/>
          <p:nvPr/>
        </p:nvSpPr>
        <p:spPr>
          <a:xfrm>
            <a:off x="1016000" y="27178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0E2841"/>
                </a:solidFill>
              </a:rPr>
              <a:t>Trivadis-Abdeckung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A85909F-AE87-FE4A-9BCB-88A96EDE06B2}"/>
              </a:ext>
            </a:extLst>
          </p:cNvPr>
          <p:cNvSpPr txBox="1"/>
          <p:nvPr/>
        </p:nvSpPr>
        <p:spPr>
          <a:xfrm>
            <a:off x="1016000" y="3098800"/>
            <a:ext cx="1016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3200" b="1">
                <a:solidFill>
                  <a:srgbClr val="C00000"/>
                </a:solidFill>
              </a:rPr>
              <a:t>~35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31BA9C6-DD46-FF4F-9CCF-4F23D69C646D}"/>
              </a:ext>
            </a:extLst>
          </p:cNvPr>
          <p:cNvSpPr txBox="1"/>
          <p:nvPr/>
        </p:nvSpPr>
        <p:spPr>
          <a:xfrm>
            <a:off x="2057400" y="3251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aktive Regeln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5692ACF-126B-2A4C-9659-2D6704B18B7B}"/>
              </a:ext>
            </a:extLst>
          </p:cNvPr>
          <p:cNvSpPr txBox="1"/>
          <p:nvPr/>
        </p:nvSpPr>
        <p:spPr>
          <a:xfrm>
            <a:off x="1016000" y="36195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i="1">
                <a:solidFill>
                  <a:srgbClr val="888888"/>
                </a:solidFill>
              </a:rPr>
              <a:t>Trivadis PL/SQL &amp; SQL Coding Guidelines v4.4 · Apache-2.0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173782E-FD0C-3D42-80FC-A51BD72F88E9}"/>
              </a:ext>
            </a:extLst>
          </p:cNvPr>
          <p:cNvSpPr/>
          <p:nvPr/>
        </p:nvSpPr>
        <p:spPr>
          <a:xfrm>
            <a:off x="1016000" y="3873500"/>
            <a:ext cx="4699000" cy="127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8AD89B7-A10A-FE43-BCB3-1FD18D467C16}"/>
              </a:ext>
            </a:extLst>
          </p:cNvPr>
          <p:cNvSpPr/>
          <p:nvPr/>
        </p:nvSpPr>
        <p:spPr>
          <a:xfrm>
            <a:off x="1041400" y="4038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BEB7DBF-8238-7145-A9E4-B8482613EB67}"/>
              </a:ext>
            </a:extLst>
          </p:cNvPr>
          <p:cNvSpPr txBox="1"/>
          <p:nvPr/>
        </p:nvSpPr>
        <p:spPr>
          <a:xfrm>
            <a:off x="1193800" y="3975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G-NNNN-IDs (Originalsystem von Trivadis)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56650B6-F1CE-D34A-A2DA-C97FA24FE755}"/>
              </a:ext>
            </a:extLst>
          </p:cNvPr>
          <p:cNvSpPr/>
          <p:nvPr/>
        </p:nvSpPr>
        <p:spPr>
          <a:xfrm>
            <a:off x="1041400" y="4292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309BEE-F882-514A-90D0-212EFA21E2CA}"/>
              </a:ext>
            </a:extLst>
          </p:cNvPr>
          <p:cNvSpPr txBox="1"/>
          <p:nvPr/>
        </p:nvSpPr>
        <p:spPr>
          <a:xfrm>
            <a:off x="1193800" y="4229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Verlinkung auf trivadis.github.io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7570A20-6E21-964A-8C9F-D11B44BA306D}"/>
              </a:ext>
            </a:extLst>
          </p:cNvPr>
          <p:cNvSpPr/>
          <p:nvPr/>
        </p:nvSpPr>
        <p:spPr>
          <a:xfrm>
            <a:off x="1041400" y="4546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7223E7C-6F58-C04B-9D12-0AE7DDBC0F25}"/>
              </a:ext>
            </a:extLst>
          </p:cNvPr>
          <p:cNvSpPr txBox="1"/>
          <p:nvPr/>
        </p:nvSpPr>
        <p:spPr>
          <a:xfrm>
            <a:off x="1193800" y="4483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Skala: Info · Minor · Major · Critical · Blocker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658D4BB-148E-3749-A061-1A4E45A1AFD0}"/>
              </a:ext>
            </a:extLst>
          </p:cNvPr>
          <p:cNvSpPr/>
          <p:nvPr/>
        </p:nvSpPr>
        <p:spPr>
          <a:xfrm>
            <a:off x="1041400" y="4800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150D6B04-2251-244B-95AE-C9828F6DF614}"/>
              </a:ext>
            </a:extLst>
          </p:cNvPr>
          <p:cNvSpPr txBox="1"/>
          <p:nvPr/>
        </p:nvSpPr>
        <p:spPr>
          <a:xfrm>
            <a:off x="1193800" y="4737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Eine JSON-Datei je Trivadis-Kategorie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9DAF13B-004F-D744-A967-0003B33B01BD}"/>
              </a:ext>
            </a:extLst>
          </p:cNvPr>
          <p:cNvSpPr/>
          <p:nvPr/>
        </p:nvSpPr>
        <p:spPr>
          <a:xfrm>
            <a:off x="1041400" y="5054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A138AB18-038C-8245-A2B5-4616530FEABE}"/>
              </a:ext>
            </a:extLst>
          </p:cNvPr>
          <p:cNvSpPr txBox="1"/>
          <p:nvPr/>
        </p:nvSpPr>
        <p:spPr>
          <a:xfrm>
            <a:off x="1193800" y="4991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Detektoren: Regex oder Builtin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0133060-6D37-7F4D-825B-CC65E5D001BD}"/>
              </a:ext>
            </a:extLst>
          </p:cNvPr>
          <p:cNvSpPr/>
          <p:nvPr/>
        </p:nvSpPr>
        <p:spPr>
          <a:xfrm>
            <a:off x="1041400" y="5308600"/>
            <a:ext cx="50800" cy="508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689F907-9B95-6C40-9AB8-0EA20E0C13C4}"/>
              </a:ext>
            </a:extLst>
          </p:cNvPr>
          <p:cNvSpPr txBox="1"/>
          <p:nvPr/>
        </p:nvSpPr>
        <p:spPr>
          <a:xfrm>
            <a:off x="1193800" y="5245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Regeln mit "needs-parser" sind als inaktiv markiert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BA231C5-D075-0C4D-A4D8-258DE0F60B03}"/>
              </a:ext>
            </a:extLst>
          </p:cNvPr>
          <p:cNvSpPr/>
          <p:nvPr/>
        </p:nvSpPr>
        <p:spPr>
          <a:xfrm>
            <a:off x="6223000" y="2057400"/>
            <a:ext cx="5207000" cy="4267200"/>
          </a:xfrm>
          <a:prstGeom prst="rect">
            <a:avLst/>
          </a:prstGeom>
          <a:solidFill>
            <a:srgbClr val="F4FAFD"/>
          </a:solidFill>
          <a:ln w="12700" cap="flat" cmpd="sng" algn="ctr">
            <a:solidFill>
              <a:srgbClr val="0F9E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48F0F5B2-4A5C-CB42-AF5F-00AB3E79D5E4}"/>
              </a:ext>
            </a:extLst>
          </p:cNvPr>
          <p:cNvSpPr/>
          <p:nvPr/>
        </p:nvSpPr>
        <p:spPr>
          <a:xfrm>
            <a:off x="6223000" y="2057400"/>
            <a:ext cx="52070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C4B383AD-A30E-7542-B61E-0C9FB34498A6}"/>
              </a:ext>
            </a:extLst>
          </p:cNvPr>
          <p:cNvSpPr/>
          <p:nvPr/>
        </p:nvSpPr>
        <p:spPr>
          <a:xfrm>
            <a:off x="6477000" y="2311400"/>
            <a:ext cx="1270000" cy="279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88F3ECF-3413-8746-B1A2-D53A977632EB}"/>
              </a:ext>
            </a:extLst>
          </p:cNvPr>
          <p:cNvSpPr txBox="1"/>
          <p:nvPr/>
        </p:nvSpPr>
        <p:spPr>
          <a:xfrm>
            <a:off x="6477000" y="27178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0E2841"/>
                </a:solidFill>
              </a:rPr>
              <a:t>ACI-eigener Regelsatz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FAE5859-E7D5-EB4F-A3C7-7461BEB7B1C8}"/>
              </a:ext>
            </a:extLst>
          </p:cNvPr>
          <p:cNvSpPr txBox="1"/>
          <p:nvPr/>
        </p:nvSpPr>
        <p:spPr>
          <a:xfrm>
            <a:off x="6477000" y="3098800"/>
            <a:ext cx="1016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3200" b="1">
                <a:solidFill>
                  <a:srgbClr val="0F9ED5"/>
                </a:solidFill>
              </a:rPr>
              <a:t>16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AF6D82A-A87B-6B4C-A6BE-3DFEAA87AC7F}"/>
              </a:ext>
            </a:extLst>
          </p:cNvPr>
          <p:cNvSpPr txBox="1"/>
          <p:nvPr/>
        </p:nvSpPr>
        <p:spPr>
          <a:xfrm>
            <a:off x="7518400" y="3251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aktive Regeln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E8805C60-064E-CE4C-9CE8-21B1E916A372}"/>
              </a:ext>
            </a:extLst>
          </p:cNvPr>
          <p:cNvSpPr txBox="1"/>
          <p:nvPr/>
        </p:nvSpPr>
        <p:spPr>
          <a:xfrm>
            <a:off x="6477000" y="3619500"/>
            <a:ext cx="4699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i="1">
                <a:solidFill>
                  <a:srgbClr val="888888"/>
                </a:solidFill>
              </a:rPr>
              <a:t>ACI-eigene PL/pgSQL-Guidelines · Quelle: ACI (kein Trivadis)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2F205479-E70C-3F4C-8256-D9F63DC1FF29}"/>
              </a:ext>
            </a:extLst>
          </p:cNvPr>
          <p:cNvSpPr/>
          <p:nvPr/>
        </p:nvSpPr>
        <p:spPr>
          <a:xfrm>
            <a:off x="6477000" y="3873500"/>
            <a:ext cx="4699000" cy="127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AEC9326-E79C-0E4C-83BA-9C35BD48C044}"/>
              </a:ext>
            </a:extLst>
          </p:cNvPr>
          <p:cNvSpPr/>
          <p:nvPr/>
        </p:nvSpPr>
        <p:spPr>
          <a:xfrm>
            <a:off x="6502400" y="4038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8B00F58B-26FC-1D49-845B-7FA8252EADC3}"/>
              </a:ext>
            </a:extLst>
          </p:cNvPr>
          <p:cNvSpPr txBox="1"/>
          <p:nvPr/>
        </p:nvSpPr>
        <p:spPr>
          <a:xfrm>
            <a:off x="6654800" y="3975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PG-NNNN-IDs (ACI-eigenes Schema)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DB1BA70-B3DC-1A43-9245-843177FC0AB3}"/>
              </a:ext>
            </a:extLst>
          </p:cNvPr>
          <p:cNvSpPr/>
          <p:nvPr/>
        </p:nvSpPr>
        <p:spPr>
          <a:xfrm>
            <a:off x="6502400" y="4292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F4A69E39-CAE9-1D43-8959-60E7DDC3F2B0}"/>
              </a:ext>
            </a:extLst>
          </p:cNvPr>
          <p:cNvSpPr txBox="1"/>
          <p:nvPr/>
        </p:nvSpPr>
        <p:spPr>
          <a:xfrm>
            <a:off x="6654800" y="4229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Schwerpunkt: Wartbarkeit, Robustheit, Sicherheit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F60E56-2732-A446-9720-A17A16450906}"/>
              </a:ext>
            </a:extLst>
          </p:cNvPr>
          <p:cNvSpPr/>
          <p:nvPr/>
        </p:nvSpPr>
        <p:spPr>
          <a:xfrm>
            <a:off x="6502400" y="4546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9B537056-BDA0-D94B-A62A-09899283CA25}"/>
              </a:ext>
            </a:extLst>
          </p:cNvPr>
          <p:cNvSpPr txBox="1"/>
          <p:nvPr/>
        </p:nvSpPr>
        <p:spPr>
          <a:xfrm>
            <a:off x="6654800" y="4483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Skala: Info · Minor · Major (kein Critical/Blocker)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42758C9-356E-A943-9EAB-FFE463CCAD4B}"/>
              </a:ext>
            </a:extLst>
          </p:cNvPr>
          <p:cNvSpPr/>
          <p:nvPr/>
        </p:nvSpPr>
        <p:spPr>
          <a:xfrm>
            <a:off x="6502400" y="4800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2477809D-0D2F-0448-9795-12B565A1F7AF}"/>
              </a:ext>
            </a:extLst>
          </p:cNvPr>
          <p:cNvSpPr txBox="1"/>
          <p:nvPr/>
        </p:nvSpPr>
        <p:spPr>
          <a:xfrm>
            <a:off x="6654800" y="4737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Eine JSON-Datei: rules/guidelines/postgresql/g_postgresql.json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A11AFB-44F2-DB49-A9FC-1A2028BBB53D}"/>
              </a:ext>
            </a:extLst>
          </p:cNvPr>
          <p:cNvSpPr/>
          <p:nvPr/>
        </p:nvSpPr>
        <p:spPr>
          <a:xfrm>
            <a:off x="6502400" y="5054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727B274C-13BA-0245-B385-D6951660377A}"/>
              </a:ext>
            </a:extLst>
          </p:cNvPr>
          <p:cNvSpPr txBox="1"/>
          <p:nvPr/>
        </p:nvSpPr>
        <p:spPr>
          <a:xfrm>
            <a:off x="6654800" y="4991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SECURITY DEFINER-Hinweise (PG-7010 ff.)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BBAE9AC-AAF6-DE43-950B-A619613ADD13}"/>
              </a:ext>
            </a:extLst>
          </p:cNvPr>
          <p:cNvSpPr/>
          <p:nvPr/>
        </p:nvSpPr>
        <p:spPr>
          <a:xfrm>
            <a:off x="6502400" y="5308600"/>
            <a:ext cx="50800" cy="508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2CF3BBE9-2C83-6F43-A209-686C740EC754}"/>
              </a:ext>
            </a:extLst>
          </p:cNvPr>
          <p:cNvSpPr txBox="1"/>
          <p:nvPr/>
        </p:nvSpPr>
        <p:spPr>
          <a:xfrm>
            <a:off x="6654800" y="5245100"/>
            <a:ext cx="4572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Ergänzt die Sicherheits-Checks, kein Ersatz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FDD9DEBB-C650-B149-8829-B019B79D3AFE}"/>
              </a:ext>
            </a:extLst>
          </p:cNvPr>
          <p:cNvSpPr txBox="1"/>
          <p:nvPr/>
        </p:nvSpPr>
        <p:spPr>
          <a:xfrm>
            <a:off x="762000" y="6477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000" i="1">
                <a:solidFill>
                  <a:srgbClr val="666666"/>
                </a:solidFill>
              </a:rPr>
              <a:t>Coding-Guidelines sind beratend und blockieren standardmäßig keinen CI/CD-Build (--group security ist Gate-relevant).</a:t>
            </a:r>
          </a:p>
        </p:txBody>
      </p:sp>
    </p:spTree>
    <p:extLst>
      <p:ext uri="{BB962C8B-B14F-4D97-AF65-F5344CB8AC3E}">
        <p14:creationId xmlns:p14="http://schemas.microsoft.com/office/powerpoint/2010/main" val="3650834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feld 42">
            <a:extLst>
              <a:ext uri="{FF2B5EF4-FFF2-40B4-BE49-F238E27FC236}">
                <a16:creationId xmlns:a16="http://schemas.microsoft.com/office/drawing/2014/main" id="{B3AE6D5F-33B4-2C4D-AB93-E2370594A26A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CODING GUIDELINES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7702E45E-8FC3-1046-843C-B0B6918A534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Beispiel-Regeln — beide Dialekte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A9CE195-8653-4946-8AD8-D58FFF74A9B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A09E8F0E-150E-A24B-B39D-B9E8069323B8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555555"/>
                </a:solidFill>
              </a:rPr>
              <a:t>Auswahl typischer aktiver Regeln je Dialekt. Vollständige Liste über python3 aci.py --list-checks.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926602A-EEAA-0D42-A7B7-AFD0C158F136}"/>
              </a:ext>
            </a:extLst>
          </p:cNvPr>
          <p:cNvSpPr/>
          <p:nvPr/>
        </p:nvSpPr>
        <p:spPr>
          <a:xfrm>
            <a:off x="762000" y="2057400"/>
            <a:ext cx="5207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022E031-0C63-AE40-8B86-FA468762ED97}"/>
              </a:ext>
            </a:extLst>
          </p:cNvPr>
          <p:cNvSpPr/>
          <p:nvPr/>
        </p:nvSpPr>
        <p:spPr>
          <a:xfrm>
            <a:off x="762000" y="2057400"/>
            <a:ext cx="5207000" cy="508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66327E0B-835F-E443-AE1E-0B4D79AE7A38}"/>
              </a:ext>
            </a:extLst>
          </p:cNvPr>
          <p:cNvSpPr/>
          <p:nvPr/>
        </p:nvSpPr>
        <p:spPr>
          <a:xfrm>
            <a:off x="965200" y="2260600"/>
            <a:ext cx="1270000" cy="279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4AA105C8-A4B8-9A4C-90F8-6D22A096F4E5}"/>
              </a:ext>
            </a:extLst>
          </p:cNvPr>
          <p:cNvSpPr/>
          <p:nvPr/>
        </p:nvSpPr>
        <p:spPr>
          <a:xfrm>
            <a:off x="965200" y="2692400"/>
            <a:ext cx="4800600" cy="279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BC18654-5BB4-1F42-A579-E98820798B54}"/>
              </a:ext>
            </a:extLst>
          </p:cNvPr>
          <p:cNvSpPr txBox="1"/>
          <p:nvPr/>
        </p:nvSpPr>
        <p:spPr>
          <a:xfrm>
            <a:off x="1041400" y="271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ID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76F8CFC-18E4-2142-8978-1F153ED00D53}"/>
              </a:ext>
            </a:extLst>
          </p:cNvPr>
          <p:cNvSpPr txBox="1"/>
          <p:nvPr/>
        </p:nvSpPr>
        <p:spPr>
          <a:xfrm>
            <a:off x="1981200" y="27178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Regel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D66A2B9-24A8-4A44-B8A0-89A08E23883B}"/>
              </a:ext>
            </a:extLst>
          </p:cNvPr>
          <p:cNvSpPr txBox="1"/>
          <p:nvPr/>
        </p:nvSpPr>
        <p:spPr>
          <a:xfrm>
            <a:off x="4800600" y="27178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Level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D55F4FBC-B9CA-5948-AC24-945A78289B1A}"/>
              </a:ext>
            </a:extLst>
          </p:cNvPr>
          <p:cNvSpPr txBox="1"/>
          <p:nvPr/>
        </p:nvSpPr>
        <p:spPr>
          <a:xfrm>
            <a:off x="1041400" y="31115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G-2180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EF4FFDC-C657-8B44-8B72-B61BB7983BE8}"/>
              </a:ext>
            </a:extLst>
          </p:cNvPr>
          <p:cNvSpPr txBox="1"/>
          <p:nvPr/>
        </p:nvSpPr>
        <p:spPr>
          <a:xfrm>
            <a:off x="1981200" y="31115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Keine gequoteten Bezeichner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E30FC76-28D9-7E44-AEA8-8014CFB8A125}"/>
              </a:ext>
            </a:extLst>
          </p:cNvPr>
          <p:cNvSpPr/>
          <p:nvPr/>
        </p:nvSpPr>
        <p:spPr>
          <a:xfrm>
            <a:off x="4800600" y="31115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64AC6405-AA1A-2D41-AF7B-A2425C264233}"/>
              </a:ext>
            </a:extLst>
          </p:cNvPr>
          <p:cNvSpPr/>
          <p:nvPr/>
        </p:nvSpPr>
        <p:spPr>
          <a:xfrm>
            <a:off x="965200" y="34290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EC7B16D4-EC4C-3549-A0F5-0685C850CA8E}"/>
              </a:ext>
            </a:extLst>
          </p:cNvPr>
          <p:cNvSpPr txBox="1"/>
          <p:nvPr/>
        </p:nvSpPr>
        <p:spPr>
          <a:xfrm>
            <a:off x="1041400" y="35179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G-2320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DD9C6620-C20F-0143-81F9-C631945C945B}"/>
              </a:ext>
            </a:extLst>
          </p:cNvPr>
          <p:cNvSpPr txBox="1"/>
          <p:nvPr/>
        </p:nvSpPr>
        <p:spPr>
          <a:xfrm>
            <a:off x="1981200" y="35179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Datentyp VARCHAR nie verwenden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9829E7F4-B35B-194D-85E1-A74E38E6BB2A}"/>
              </a:ext>
            </a:extLst>
          </p:cNvPr>
          <p:cNvSpPr/>
          <p:nvPr/>
        </p:nvSpPr>
        <p:spPr>
          <a:xfrm>
            <a:off x="4800600" y="35179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01DB5D88-BC78-B643-862A-4955DDCC2DF2}"/>
              </a:ext>
            </a:extLst>
          </p:cNvPr>
          <p:cNvSpPr txBox="1"/>
          <p:nvPr/>
        </p:nvSpPr>
        <p:spPr>
          <a:xfrm>
            <a:off x="1041400" y="39243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G-3145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9BD7EA0A-73CE-5D44-BEEB-6F7579CE9180}"/>
              </a:ext>
            </a:extLst>
          </p:cNvPr>
          <p:cNvSpPr txBox="1"/>
          <p:nvPr/>
        </p:nvSpPr>
        <p:spPr>
          <a:xfrm>
            <a:off x="1981200" y="3924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Kein SELECT * aus Tabelle/View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595C94CD-5A57-954D-8D5F-05ADC816B7DD}"/>
              </a:ext>
            </a:extLst>
          </p:cNvPr>
          <p:cNvSpPr/>
          <p:nvPr/>
        </p:nvSpPr>
        <p:spPr>
          <a:xfrm>
            <a:off x="4800600" y="39243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B9A96641-3319-EF44-9639-0970801FFAF7}"/>
              </a:ext>
            </a:extLst>
          </p:cNvPr>
          <p:cNvSpPr/>
          <p:nvPr/>
        </p:nvSpPr>
        <p:spPr>
          <a:xfrm>
            <a:off x="965200" y="42418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D3CE4F34-9AF2-D745-945A-CBBA95955915}"/>
              </a:ext>
            </a:extLst>
          </p:cNvPr>
          <p:cNvSpPr txBox="1"/>
          <p:nvPr/>
        </p:nvSpPr>
        <p:spPr>
          <a:xfrm>
            <a:off x="1041400" y="43307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G-3310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E32EF97-0329-F741-821C-1EFA608249F6}"/>
              </a:ext>
            </a:extLst>
          </p:cNvPr>
          <p:cNvSpPr txBox="1"/>
          <p:nvPr/>
        </p:nvSpPr>
        <p:spPr>
          <a:xfrm>
            <a:off x="1981200" y="43307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Kein COMMIT in einer Schleife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80474E4A-DA52-3C42-B978-D076CAED94DF}"/>
              </a:ext>
            </a:extLst>
          </p:cNvPr>
          <p:cNvSpPr/>
          <p:nvPr/>
        </p:nvSpPr>
        <p:spPr>
          <a:xfrm>
            <a:off x="4800600" y="4330700"/>
            <a:ext cx="9144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6A4F4912-271B-8449-AFEA-0E73A88CDAE6}"/>
              </a:ext>
            </a:extLst>
          </p:cNvPr>
          <p:cNvSpPr txBox="1"/>
          <p:nvPr/>
        </p:nvSpPr>
        <p:spPr>
          <a:xfrm>
            <a:off x="1041400" y="47371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G-4310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D16955EA-4FD2-4846-9DF1-0A6CE36186B3}"/>
              </a:ext>
            </a:extLst>
          </p:cNvPr>
          <p:cNvSpPr txBox="1"/>
          <p:nvPr/>
        </p:nvSpPr>
        <p:spPr>
          <a:xfrm>
            <a:off x="1981200" y="47371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Keine GOTO-Anweisungen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A020B29E-6C36-804D-B7A2-759DEA6CB498}"/>
              </a:ext>
            </a:extLst>
          </p:cNvPr>
          <p:cNvSpPr/>
          <p:nvPr/>
        </p:nvSpPr>
        <p:spPr>
          <a:xfrm>
            <a:off x="4800600" y="47371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3836985-DF00-F947-BE94-E652A65692AE}"/>
              </a:ext>
            </a:extLst>
          </p:cNvPr>
          <p:cNvSpPr/>
          <p:nvPr/>
        </p:nvSpPr>
        <p:spPr>
          <a:xfrm>
            <a:off x="965200" y="50546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60D1202-F9D6-9A4E-BB9B-27735FFE17E7}"/>
              </a:ext>
            </a:extLst>
          </p:cNvPr>
          <p:cNvSpPr txBox="1"/>
          <p:nvPr/>
        </p:nvSpPr>
        <p:spPr>
          <a:xfrm>
            <a:off x="1041400" y="51435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G-6010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7F2CAAAC-AA10-EE4D-8862-DBECDE0208D6}"/>
              </a:ext>
            </a:extLst>
          </p:cNvPr>
          <p:cNvSpPr txBox="1"/>
          <p:nvPr/>
        </p:nvSpPr>
        <p:spPr>
          <a:xfrm>
            <a:off x="1981200" y="51435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Dynamisches SQL über Variable ausführen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47F1E89-C2A7-1946-A3D7-69FE0D499156}"/>
              </a:ext>
            </a:extLst>
          </p:cNvPr>
          <p:cNvSpPr/>
          <p:nvPr/>
        </p:nvSpPr>
        <p:spPr>
          <a:xfrm>
            <a:off x="4800600" y="51435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8378108-832B-FE4A-B009-F2E0178E58B5}"/>
              </a:ext>
            </a:extLst>
          </p:cNvPr>
          <p:cNvSpPr txBox="1"/>
          <p:nvPr/>
        </p:nvSpPr>
        <p:spPr>
          <a:xfrm>
            <a:off x="1041400" y="55499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G-7125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6030610D-FFEB-AC46-936D-C1F0940FD1DB}"/>
              </a:ext>
            </a:extLst>
          </p:cNvPr>
          <p:cNvSpPr txBox="1"/>
          <p:nvPr/>
        </p:nvSpPr>
        <p:spPr>
          <a:xfrm>
            <a:off x="1981200" y="55499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CREATE OR REPLACE verwenden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1E1ACB39-E1D5-574F-A17F-D8CCDB32CF87}"/>
              </a:ext>
            </a:extLst>
          </p:cNvPr>
          <p:cNvSpPr/>
          <p:nvPr/>
        </p:nvSpPr>
        <p:spPr>
          <a:xfrm>
            <a:off x="4800600" y="55499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E8E49E8F-193E-0B49-A5D3-096F51312A4C}"/>
              </a:ext>
            </a:extLst>
          </p:cNvPr>
          <p:cNvSpPr/>
          <p:nvPr/>
        </p:nvSpPr>
        <p:spPr>
          <a:xfrm>
            <a:off x="965200" y="58674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4310EEA-7AA7-CA48-AB4E-21269EB65077}"/>
              </a:ext>
            </a:extLst>
          </p:cNvPr>
          <p:cNvSpPr txBox="1"/>
          <p:nvPr/>
        </p:nvSpPr>
        <p:spPr>
          <a:xfrm>
            <a:off x="1041400" y="59563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G-9010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2324FCF-C30D-904F-9D49-73E27971DE51}"/>
              </a:ext>
            </a:extLst>
          </p:cNvPr>
          <p:cNvSpPr txBox="1"/>
          <p:nvPr/>
        </p:nvSpPr>
        <p:spPr>
          <a:xfrm>
            <a:off x="1981200" y="5956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Formatmaske bei TO_DATE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05FDDCA5-0ECD-F64D-BF30-7EA62FC419FE}"/>
              </a:ext>
            </a:extLst>
          </p:cNvPr>
          <p:cNvSpPr/>
          <p:nvPr/>
        </p:nvSpPr>
        <p:spPr>
          <a:xfrm>
            <a:off x="4800600" y="59563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81ECFC95-3C43-B245-8220-1888059FF62E}"/>
              </a:ext>
            </a:extLst>
          </p:cNvPr>
          <p:cNvSpPr/>
          <p:nvPr/>
        </p:nvSpPr>
        <p:spPr>
          <a:xfrm>
            <a:off x="6223000" y="2057400"/>
            <a:ext cx="5207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EC223604-AA34-D040-8410-D000A6433897}"/>
              </a:ext>
            </a:extLst>
          </p:cNvPr>
          <p:cNvSpPr/>
          <p:nvPr/>
        </p:nvSpPr>
        <p:spPr>
          <a:xfrm>
            <a:off x="6223000" y="2057400"/>
            <a:ext cx="5207000" cy="508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8C6620F-3D59-D840-91AF-6B28EFCBE2B2}"/>
              </a:ext>
            </a:extLst>
          </p:cNvPr>
          <p:cNvSpPr/>
          <p:nvPr/>
        </p:nvSpPr>
        <p:spPr>
          <a:xfrm>
            <a:off x="6426200" y="2260600"/>
            <a:ext cx="1270000" cy="279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B17BFF6-5B85-C74A-8C49-8B0BFA36FAD4}"/>
              </a:ext>
            </a:extLst>
          </p:cNvPr>
          <p:cNvSpPr/>
          <p:nvPr/>
        </p:nvSpPr>
        <p:spPr>
          <a:xfrm>
            <a:off x="6426200" y="2692400"/>
            <a:ext cx="4800600" cy="2794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28AAF6FD-B03F-5E40-997B-D18380198FEC}"/>
              </a:ext>
            </a:extLst>
          </p:cNvPr>
          <p:cNvSpPr txBox="1"/>
          <p:nvPr/>
        </p:nvSpPr>
        <p:spPr>
          <a:xfrm>
            <a:off x="6502400" y="271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ID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FBDDF47-5700-044E-8FDA-4EA4CD522435}"/>
              </a:ext>
            </a:extLst>
          </p:cNvPr>
          <p:cNvSpPr txBox="1"/>
          <p:nvPr/>
        </p:nvSpPr>
        <p:spPr>
          <a:xfrm>
            <a:off x="7442200" y="27178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Regel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B7E3AC2A-F428-8247-8621-29642C622A51}"/>
              </a:ext>
            </a:extLst>
          </p:cNvPr>
          <p:cNvSpPr txBox="1"/>
          <p:nvPr/>
        </p:nvSpPr>
        <p:spPr>
          <a:xfrm>
            <a:off x="10261600" y="27178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</a:rPr>
              <a:t>Level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CBDF9BC9-BACD-644D-AC83-E93DC3C3D284}"/>
              </a:ext>
            </a:extLst>
          </p:cNvPr>
          <p:cNvSpPr txBox="1"/>
          <p:nvPr/>
        </p:nvSpPr>
        <p:spPr>
          <a:xfrm>
            <a:off x="6502400" y="31115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PG-1010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38B7D070-CBE1-0347-A691-FF165D706D2E}"/>
              </a:ext>
            </a:extLst>
          </p:cNvPr>
          <p:cNvSpPr txBox="1"/>
          <p:nvPr/>
        </p:nvSpPr>
        <p:spPr>
          <a:xfrm>
            <a:off x="7442200" y="31115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SELECT * vermeiden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17373732-07D7-9441-A30E-6CB6DF839643}"/>
              </a:ext>
            </a:extLst>
          </p:cNvPr>
          <p:cNvSpPr/>
          <p:nvPr/>
        </p:nvSpPr>
        <p:spPr>
          <a:xfrm>
            <a:off x="10261600" y="3111500"/>
            <a:ext cx="914400" cy="2286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FC52DB14-659B-614B-B8ED-4F498624B628}"/>
              </a:ext>
            </a:extLst>
          </p:cNvPr>
          <p:cNvSpPr/>
          <p:nvPr/>
        </p:nvSpPr>
        <p:spPr>
          <a:xfrm>
            <a:off x="6426200" y="34290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05731770-40B5-BD42-8EC5-CE9280DF5678}"/>
              </a:ext>
            </a:extLst>
          </p:cNvPr>
          <p:cNvSpPr txBox="1"/>
          <p:nvPr/>
        </p:nvSpPr>
        <p:spPr>
          <a:xfrm>
            <a:off x="6502400" y="35179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PG-1020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DAEA31B2-A6B0-7445-AD8C-0EC80F3B26A4}"/>
              </a:ext>
            </a:extLst>
          </p:cNvPr>
          <p:cNvSpPr txBox="1"/>
          <p:nvPr/>
        </p:nvSpPr>
        <p:spPr>
          <a:xfrm>
            <a:off x="7442200" y="35179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Vergleich mit = NULL statt IS NULL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00C0EC3E-3956-7D4C-83AB-3AE20C11ED97}"/>
              </a:ext>
            </a:extLst>
          </p:cNvPr>
          <p:cNvSpPr/>
          <p:nvPr/>
        </p:nvSpPr>
        <p:spPr>
          <a:xfrm>
            <a:off x="10261600" y="35179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D2ACB9EF-A3E9-E649-A9CA-4B6E53F29D81}"/>
              </a:ext>
            </a:extLst>
          </p:cNvPr>
          <p:cNvSpPr txBox="1"/>
          <p:nvPr/>
        </p:nvSpPr>
        <p:spPr>
          <a:xfrm>
            <a:off x="6502400" y="39243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PG-3310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6D3C254-F9E7-634A-B108-7858DB21EF08}"/>
              </a:ext>
            </a:extLst>
          </p:cNvPr>
          <p:cNvSpPr txBox="1"/>
          <p:nvPr/>
        </p:nvSpPr>
        <p:spPr>
          <a:xfrm>
            <a:off x="7442200" y="3924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COMMIT/ROLLBACK in einer Schleife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B315F9A8-A39C-CC4D-8D6F-63FD06F4D096}"/>
              </a:ext>
            </a:extLst>
          </p:cNvPr>
          <p:cNvSpPr/>
          <p:nvPr/>
        </p:nvSpPr>
        <p:spPr>
          <a:xfrm>
            <a:off x="10261600" y="39243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54A9BF6E-0EEC-7448-91D9-14E37C744FD8}"/>
              </a:ext>
            </a:extLst>
          </p:cNvPr>
          <p:cNvSpPr/>
          <p:nvPr/>
        </p:nvSpPr>
        <p:spPr>
          <a:xfrm>
            <a:off x="6426200" y="42418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027EC098-3D75-F146-8D83-5505258C6C7B}"/>
              </a:ext>
            </a:extLst>
          </p:cNvPr>
          <p:cNvSpPr txBox="1"/>
          <p:nvPr/>
        </p:nvSpPr>
        <p:spPr>
          <a:xfrm>
            <a:off x="6502400" y="43307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PG-5010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9C81B4DE-56CF-8C45-B004-880A05328EC4}"/>
              </a:ext>
            </a:extLst>
          </p:cNvPr>
          <p:cNvSpPr txBox="1"/>
          <p:nvPr/>
        </p:nvSpPr>
        <p:spPr>
          <a:xfrm>
            <a:off x="7442200" y="43307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Leerer WHEN-OTHERS-Handler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E566D576-72CA-2841-BCC0-BE1DC57B139D}"/>
              </a:ext>
            </a:extLst>
          </p:cNvPr>
          <p:cNvSpPr/>
          <p:nvPr/>
        </p:nvSpPr>
        <p:spPr>
          <a:xfrm>
            <a:off x="10261600" y="43307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ABE2894A-84B8-2942-AE0F-09AD561B54E6}"/>
              </a:ext>
            </a:extLst>
          </p:cNvPr>
          <p:cNvSpPr txBox="1"/>
          <p:nvPr/>
        </p:nvSpPr>
        <p:spPr>
          <a:xfrm>
            <a:off x="6502400" y="47371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PG-7010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81EC4F5D-E299-C44D-BA21-F3175D82C278}"/>
              </a:ext>
            </a:extLst>
          </p:cNvPr>
          <p:cNvSpPr txBox="1"/>
          <p:nvPr/>
        </p:nvSpPr>
        <p:spPr>
          <a:xfrm>
            <a:off x="7442200" y="47371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SECURITY DEFINER ohne festen search_path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AD5F2B45-BDAB-2D40-A9B5-1ED44131EE7F}"/>
              </a:ext>
            </a:extLst>
          </p:cNvPr>
          <p:cNvSpPr/>
          <p:nvPr/>
        </p:nvSpPr>
        <p:spPr>
          <a:xfrm>
            <a:off x="10261600" y="47371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9984723C-0367-1D4B-A35C-2BB2FC20B6B0}"/>
              </a:ext>
            </a:extLst>
          </p:cNvPr>
          <p:cNvSpPr/>
          <p:nvPr/>
        </p:nvSpPr>
        <p:spPr>
          <a:xfrm>
            <a:off x="6426200" y="50546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65C66EF5-6C11-524B-BBCB-8E89A64F6497}"/>
              </a:ext>
            </a:extLst>
          </p:cNvPr>
          <p:cNvSpPr txBox="1"/>
          <p:nvPr/>
        </p:nvSpPr>
        <p:spPr>
          <a:xfrm>
            <a:off x="6502400" y="51435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PG-7012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80134B54-D904-EB49-8B1A-33B0B66C45C4}"/>
              </a:ext>
            </a:extLst>
          </p:cNvPr>
          <p:cNvSpPr txBox="1"/>
          <p:nvPr/>
        </p:nvSpPr>
        <p:spPr>
          <a:xfrm>
            <a:off x="7442200" y="51435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SECURITY DEFINER mit dyn. EXECUTE</a:t>
            </a: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2C39F8C5-0E0C-FE4D-BC07-87F50C3FA51E}"/>
              </a:ext>
            </a:extLst>
          </p:cNvPr>
          <p:cNvSpPr/>
          <p:nvPr/>
        </p:nvSpPr>
        <p:spPr>
          <a:xfrm>
            <a:off x="10261600" y="5143500"/>
            <a:ext cx="914400" cy="2286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5A1484AB-5994-E442-AC62-5FA2F50ABCE3}"/>
              </a:ext>
            </a:extLst>
          </p:cNvPr>
          <p:cNvSpPr txBox="1"/>
          <p:nvPr/>
        </p:nvSpPr>
        <p:spPr>
          <a:xfrm>
            <a:off x="6502400" y="55499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PG-7020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444523E8-72A9-654D-B09A-93551935F2D5}"/>
              </a:ext>
            </a:extLst>
          </p:cNvPr>
          <p:cNvSpPr txBox="1"/>
          <p:nvPr/>
        </p:nvSpPr>
        <p:spPr>
          <a:xfrm>
            <a:off x="7442200" y="55499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RAISE NOTICE im Produktionscode</a:t>
            </a: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756E6DB6-3B32-6F44-90FB-40260A7CF9B7}"/>
              </a:ext>
            </a:extLst>
          </p:cNvPr>
          <p:cNvSpPr/>
          <p:nvPr/>
        </p:nvSpPr>
        <p:spPr>
          <a:xfrm>
            <a:off x="10261600" y="5549900"/>
            <a:ext cx="914400" cy="2286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Info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C936CB05-43D3-084B-913B-B5904C2073DF}"/>
              </a:ext>
            </a:extLst>
          </p:cNvPr>
          <p:cNvSpPr/>
          <p:nvPr/>
        </p:nvSpPr>
        <p:spPr>
          <a:xfrm>
            <a:off x="6426200" y="5867400"/>
            <a:ext cx="4800600" cy="381000"/>
          </a:xfrm>
          <a:prstGeom prst="rect">
            <a:avLst/>
          </a:prstGeom>
          <a:solidFill>
            <a:srgbClr val="FAFB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E1DBDA82-1FC6-A149-A855-93D2395EB455}"/>
              </a:ext>
            </a:extLst>
          </p:cNvPr>
          <p:cNvSpPr txBox="1"/>
          <p:nvPr/>
        </p:nvSpPr>
        <p:spPr>
          <a:xfrm>
            <a:off x="6502400" y="59563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PG-7030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1E2C71B0-0F83-3840-9403-8B38FB81FEAB}"/>
              </a:ext>
            </a:extLst>
          </p:cNvPr>
          <p:cNvSpPr txBox="1"/>
          <p:nvPr/>
        </p:nvSpPr>
        <p:spPr>
          <a:xfrm>
            <a:off x="7442200" y="5956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Funktion ohne LANGUAGE-Angabe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3FFDCE5B-5A8D-5E49-BDDC-E840578D9F92}"/>
              </a:ext>
            </a:extLst>
          </p:cNvPr>
          <p:cNvSpPr/>
          <p:nvPr/>
        </p:nvSpPr>
        <p:spPr>
          <a:xfrm>
            <a:off x="10261600" y="5956300"/>
            <a:ext cx="914400" cy="2286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Minor</a:t>
            </a:r>
          </a:p>
        </p:txBody>
      </p:sp>
    </p:spTree>
    <p:extLst>
      <p:ext uri="{BB962C8B-B14F-4D97-AF65-F5344CB8AC3E}">
        <p14:creationId xmlns:p14="http://schemas.microsoft.com/office/powerpoint/2010/main" val="19454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478AB5D-623C-4D49-8A3F-28B5A26ED85F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SETUP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FE0C09-1492-144C-AADD-F71806B9BBF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Voraussetzungen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CF54B16-89C1-2649-A056-9BB56CDF50D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42FA68-9EF7-9A43-990F-8473D42EAFC4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ist bewusst schlank: reine Python-Standardbibliothek, keine externen Pakete erforderlich.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ACEA6E-911C-3A4B-A630-5B4D14B1819F}"/>
              </a:ext>
            </a:extLst>
          </p:cNvPr>
          <p:cNvSpPr/>
          <p:nvPr/>
        </p:nvSpPr>
        <p:spPr>
          <a:xfrm>
            <a:off x="762000" y="2133600"/>
            <a:ext cx="3429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B9DEA9-D5DC-3645-8927-FC21DA7CCB8A}"/>
              </a:ext>
            </a:extLst>
          </p:cNvPr>
          <p:cNvSpPr/>
          <p:nvPr/>
        </p:nvSpPr>
        <p:spPr>
          <a:xfrm>
            <a:off x="2032000" y="2387600"/>
            <a:ext cx="889000" cy="889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Py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6EC3087-0388-B843-9731-E323FAAA96B1}"/>
              </a:ext>
            </a:extLst>
          </p:cNvPr>
          <p:cNvSpPr txBox="1"/>
          <p:nvPr/>
        </p:nvSpPr>
        <p:spPr>
          <a:xfrm>
            <a:off x="965200" y="3403600"/>
            <a:ext cx="30226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Python 3.9+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090001-2384-BE44-A1D1-08A1E8EBF07B}"/>
              </a:ext>
            </a:extLst>
          </p:cNvPr>
          <p:cNvSpPr txBox="1"/>
          <p:nvPr/>
        </p:nvSpPr>
        <p:spPr>
          <a:xfrm>
            <a:off x="965200" y="3759200"/>
            <a:ext cx="3022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Aktuelle Python-Version. python3 --version zur Prüfung.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2C275D5-8B6A-724C-968F-BA3305E458D2}"/>
              </a:ext>
            </a:extLst>
          </p:cNvPr>
          <p:cNvSpPr/>
          <p:nvPr/>
        </p:nvSpPr>
        <p:spPr>
          <a:xfrm>
            <a:off x="4381500" y="2133600"/>
            <a:ext cx="3429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D2ED7E-570C-1E4B-86DB-1B0ACF6E5D5A}"/>
              </a:ext>
            </a:extLst>
          </p:cNvPr>
          <p:cNvSpPr/>
          <p:nvPr/>
        </p:nvSpPr>
        <p:spPr>
          <a:xfrm>
            <a:off x="5651500" y="2387600"/>
            <a:ext cx="889000" cy="8890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984A63-DDDF-514F-9EAD-32C9E35BDF89}"/>
              </a:ext>
            </a:extLst>
          </p:cNvPr>
          <p:cNvSpPr txBox="1"/>
          <p:nvPr/>
        </p:nvSpPr>
        <p:spPr>
          <a:xfrm>
            <a:off x="4584700" y="3403600"/>
            <a:ext cx="30226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Null Abhängigkeiten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626C478-796C-8A42-A5AE-60E2BA56FFAB}"/>
              </a:ext>
            </a:extLst>
          </p:cNvPr>
          <p:cNvSpPr txBox="1"/>
          <p:nvPr/>
        </p:nvSpPr>
        <p:spPr>
          <a:xfrm>
            <a:off x="4584700" y="3759200"/>
            <a:ext cx="3022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Nur Python-Standardbibliothek. Kein pip install nötig.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8DD171F-6EC0-AF44-B951-1A52C5578D21}"/>
              </a:ext>
            </a:extLst>
          </p:cNvPr>
          <p:cNvSpPr/>
          <p:nvPr/>
        </p:nvSpPr>
        <p:spPr>
          <a:xfrm>
            <a:off x="8001000" y="2133600"/>
            <a:ext cx="3429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016619-A59B-FA40-8C79-00B9432862AF}"/>
              </a:ext>
            </a:extLst>
          </p:cNvPr>
          <p:cNvSpPr/>
          <p:nvPr/>
        </p:nvSpPr>
        <p:spPr>
          <a:xfrm>
            <a:off x="9271000" y="2387600"/>
            <a:ext cx="889000" cy="8890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26B807F-40A0-7042-B194-3E5B0FBE21EC}"/>
              </a:ext>
            </a:extLst>
          </p:cNvPr>
          <p:cNvSpPr txBox="1"/>
          <p:nvPr/>
        </p:nvSpPr>
        <p:spPr>
          <a:xfrm>
            <a:off x="8204200" y="3403600"/>
            <a:ext cx="30226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Plattformunabhängig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9B6AE9B-AD46-9644-859C-82716775619E}"/>
              </a:ext>
            </a:extLst>
          </p:cNvPr>
          <p:cNvSpPr txBox="1"/>
          <p:nvPr/>
        </p:nvSpPr>
        <p:spPr>
          <a:xfrm>
            <a:off x="8204200" y="3759200"/>
            <a:ext cx="3022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Linux, macOS, Windows. Reines CLI-Tool.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F4546BA-7574-0B4C-A3FC-CCAB739E35A5}"/>
              </a:ext>
            </a:extLst>
          </p:cNvPr>
          <p:cNvSpPr txBox="1"/>
          <p:nvPr/>
        </p:nvSpPr>
        <p:spPr>
          <a:xfrm>
            <a:off x="762000" y="4826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Optionale Entwickler-Werkzeuge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DE336FD-50B6-5440-894F-9C666EE97431}"/>
              </a:ext>
            </a:extLst>
          </p:cNvPr>
          <p:cNvSpPr/>
          <p:nvPr/>
        </p:nvSpPr>
        <p:spPr>
          <a:xfrm>
            <a:off x="762000" y="5181600"/>
            <a:ext cx="10668000" cy="1397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D8DC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A170725-F5E0-ED47-B630-46A4339860F5}"/>
              </a:ext>
            </a:extLst>
          </p:cNvPr>
          <p:cNvSpPr/>
          <p:nvPr/>
        </p:nvSpPr>
        <p:spPr>
          <a:xfrm>
            <a:off x="762000" y="5181600"/>
            <a:ext cx="50800" cy="1397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C59E451-4D78-3A4A-9A7E-C14A713FE7C7}"/>
              </a:ext>
            </a:extLst>
          </p:cNvPr>
          <p:cNvSpPr txBox="1"/>
          <p:nvPr/>
        </p:nvSpPr>
        <p:spPr>
          <a:xfrm>
            <a:off x="990600" y="5308600"/>
            <a:ext cx="10287000" cy="114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0E2841"/>
                </a:solidFill>
                <a:latin typeface="Consolas"/>
                <a:cs typeface="Consolas"/>
              </a:rPr>
              <a:t>pip install .[dev]           # installiert ruff + mypy als Entwickler-Werkzeuge
python3 -m pytest -q          # Testsuite ausführen (keine Laufzeitabhängigkeiten)
python3 -m ruff check .       # Linter (optional)
python3 -m mypy aci           # Typprüfung (optional)</a:t>
            </a:r>
          </a:p>
        </p:txBody>
      </p:sp>
    </p:spTree>
    <p:extLst>
      <p:ext uri="{BB962C8B-B14F-4D97-AF65-F5344CB8AC3E}">
        <p14:creationId xmlns:p14="http://schemas.microsoft.com/office/powerpoint/2010/main" val="3203807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D89B36B-72EE-6E4A-BF7B-9AC10923559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SETUP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07DD026-3CB4-F645-865B-8481B456B77A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Lokales Setup — Schritt für Schritt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517F60-8580-574A-BB67-9A3C8A56EF8E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BE7B3E-47CE-374F-9802-A048B1570A2E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Vom Klonen bis zum ersten erfolgreichen Scan in vier Schritten.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FAF49D-3D90-D448-A189-E11C64DED682}"/>
              </a:ext>
            </a:extLst>
          </p:cNvPr>
          <p:cNvSpPr/>
          <p:nvPr/>
        </p:nvSpPr>
        <p:spPr>
          <a:xfrm>
            <a:off x="533400" y="21336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CF7E53E-0279-5B4C-9A0D-3B1B3880C568}"/>
              </a:ext>
            </a:extLst>
          </p:cNvPr>
          <p:cNvSpPr/>
          <p:nvPr/>
        </p:nvSpPr>
        <p:spPr>
          <a:xfrm>
            <a:off x="533400" y="2133600"/>
            <a:ext cx="2667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A24602-E8FB-AB45-B86C-002A5E3769BF}"/>
              </a:ext>
            </a:extLst>
          </p:cNvPr>
          <p:cNvSpPr/>
          <p:nvPr/>
        </p:nvSpPr>
        <p:spPr>
          <a:xfrm>
            <a:off x="1562100" y="2413000"/>
            <a:ext cx="609600" cy="609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F94AAB-471E-5D40-AAFD-18A67873DA71}"/>
              </a:ext>
            </a:extLst>
          </p:cNvPr>
          <p:cNvSpPr txBox="1"/>
          <p:nvPr/>
        </p:nvSpPr>
        <p:spPr>
          <a:xfrm>
            <a:off x="685800" y="3149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Python prüfen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448234B-13BE-9E46-960B-BAABC29939A5}"/>
              </a:ext>
            </a:extLst>
          </p:cNvPr>
          <p:cNvSpPr/>
          <p:nvPr/>
        </p:nvSpPr>
        <p:spPr>
          <a:xfrm>
            <a:off x="685800" y="3606800"/>
            <a:ext cx="2362200" cy="1397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D8DC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2EFCD9F-C171-624C-BEC7-49E8FEA8557D}"/>
              </a:ext>
            </a:extLst>
          </p:cNvPr>
          <p:cNvSpPr txBox="1"/>
          <p:nvPr/>
        </p:nvSpPr>
        <p:spPr>
          <a:xfrm>
            <a:off x="787400" y="3708400"/>
            <a:ext cx="2159000" cy="1219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0E2841"/>
                </a:solidFill>
                <a:latin typeface="Consolas"/>
                <a:cs typeface="Consolas"/>
              </a:rPr>
              <a:t>python3 --version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F3C1807-489D-EF4F-B240-B81306E9E119}"/>
              </a:ext>
            </a:extLst>
          </p:cNvPr>
          <p:cNvSpPr txBox="1"/>
          <p:nvPr/>
        </p:nvSpPr>
        <p:spPr>
          <a:xfrm>
            <a:off x="685800" y="5105400"/>
            <a:ext cx="23622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Erwartet: 3.9 oder neuer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3130B6-959F-CA4F-9607-5862551E3DB6}"/>
              </a:ext>
            </a:extLst>
          </p:cNvPr>
          <p:cNvSpPr/>
          <p:nvPr/>
        </p:nvSpPr>
        <p:spPr>
          <a:xfrm>
            <a:off x="3352800" y="21336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B94D9F6-FA4A-794C-AD0C-9AC4290124C6}"/>
              </a:ext>
            </a:extLst>
          </p:cNvPr>
          <p:cNvSpPr/>
          <p:nvPr/>
        </p:nvSpPr>
        <p:spPr>
          <a:xfrm>
            <a:off x="3352800" y="2133600"/>
            <a:ext cx="26670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6261BD-366D-124A-87B4-0A1EC46CBA0F}"/>
              </a:ext>
            </a:extLst>
          </p:cNvPr>
          <p:cNvSpPr/>
          <p:nvPr/>
        </p:nvSpPr>
        <p:spPr>
          <a:xfrm>
            <a:off x="4381500" y="2413000"/>
            <a:ext cx="609600" cy="6096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C09E9-3538-5E42-AC87-003C28769D49}"/>
              </a:ext>
            </a:extLst>
          </p:cNvPr>
          <p:cNvSpPr txBox="1"/>
          <p:nvPr/>
        </p:nvSpPr>
        <p:spPr>
          <a:xfrm>
            <a:off x="3505200" y="3149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Verzeichnis betreten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1E65431-15DF-0945-A988-695322F5D318}"/>
              </a:ext>
            </a:extLst>
          </p:cNvPr>
          <p:cNvSpPr/>
          <p:nvPr/>
        </p:nvSpPr>
        <p:spPr>
          <a:xfrm>
            <a:off x="3505200" y="3606800"/>
            <a:ext cx="2362200" cy="1397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D8DC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2B6F5DC-6C17-C749-B91D-93D5A22D731F}"/>
              </a:ext>
            </a:extLst>
          </p:cNvPr>
          <p:cNvSpPr txBox="1"/>
          <p:nvPr/>
        </p:nvSpPr>
        <p:spPr>
          <a:xfrm>
            <a:off x="3606800" y="3708400"/>
            <a:ext cx="2159000" cy="1219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0E2841"/>
                </a:solidFill>
                <a:latin typeface="Consolas"/>
                <a:cs typeface="Consolas"/>
              </a:rPr>
              <a:t>cd ACI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92FE415-EEB2-3A42-A0D8-08167BE58593}"/>
              </a:ext>
            </a:extLst>
          </p:cNvPr>
          <p:cNvSpPr txBox="1"/>
          <p:nvPr/>
        </p:nvSpPr>
        <p:spPr>
          <a:xfrm>
            <a:off x="3505200" y="5105400"/>
            <a:ext cx="23622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ACI-Quellverzeichnis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2687062-694F-B347-95B5-F77639650325}"/>
              </a:ext>
            </a:extLst>
          </p:cNvPr>
          <p:cNvSpPr/>
          <p:nvPr/>
        </p:nvSpPr>
        <p:spPr>
          <a:xfrm>
            <a:off x="6172200" y="21336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D329403-1578-924E-87FC-9554914FACAA}"/>
              </a:ext>
            </a:extLst>
          </p:cNvPr>
          <p:cNvSpPr/>
          <p:nvPr/>
        </p:nvSpPr>
        <p:spPr>
          <a:xfrm>
            <a:off x="6172200" y="2133600"/>
            <a:ext cx="2667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B6D242-304C-4243-A98E-ABA8F5F41053}"/>
              </a:ext>
            </a:extLst>
          </p:cNvPr>
          <p:cNvSpPr/>
          <p:nvPr/>
        </p:nvSpPr>
        <p:spPr>
          <a:xfrm>
            <a:off x="7200900" y="2413000"/>
            <a:ext cx="609600" cy="609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950F952-7A1A-1442-A256-8C70C7AFD588}"/>
              </a:ext>
            </a:extLst>
          </p:cNvPr>
          <p:cNvSpPr txBox="1"/>
          <p:nvPr/>
        </p:nvSpPr>
        <p:spPr>
          <a:xfrm>
            <a:off x="6324600" y="3149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Tests laufen lassen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39CD7AC-9295-D549-B2CE-49F1A5E5E2BC}"/>
              </a:ext>
            </a:extLst>
          </p:cNvPr>
          <p:cNvSpPr/>
          <p:nvPr/>
        </p:nvSpPr>
        <p:spPr>
          <a:xfrm>
            <a:off x="6324600" y="3606800"/>
            <a:ext cx="2362200" cy="1397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D8DC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4813D1B-4DCA-684E-B313-C5A39FD42E23}"/>
              </a:ext>
            </a:extLst>
          </p:cNvPr>
          <p:cNvSpPr txBox="1"/>
          <p:nvPr/>
        </p:nvSpPr>
        <p:spPr>
          <a:xfrm>
            <a:off x="6426200" y="3708400"/>
            <a:ext cx="2159000" cy="1219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0E2841"/>
                </a:solidFill>
                <a:latin typeface="Consolas"/>
                <a:cs typeface="Consolas"/>
              </a:rPr>
              <a:t>python3 -m pytest -q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58D1DD1-6D93-A14D-AA44-0F5D1D541204}"/>
              </a:ext>
            </a:extLst>
          </p:cNvPr>
          <p:cNvSpPr txBox="1"/>
          <p:nvPr/>
        </p:nvSpPr>
        <p:spPr>
          <a:xfrm>
            <a:off x="6324600" y="5105400"/>
            <a:ext cx="23622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Sanity-Check: alles grün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D3366D4-4983-8D42-BD34-0EB006FBA979}"/>
              </a:ext>
            </a:extLst>
          </p:cNvPr>
          <p:cNvSpPr/>
          <p:nvPr/>
        </p:nvSpPr>
        <p:spPr>
          <a:xfrm>
            <a:off x="8991600" y="2133600"/>
            <a:ext cx="2667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BC954A8-A35F-E847-92EA-2F3C3011099B}"/>
              </a:ext>
            </a:extLst>
          </p:cNvPr>
          <p:cNvSpPr/>
          <p:nvPr/>
        </p:nvSpPr>
        <p:spPr>
          <a:xfrm>
            <a:off x="8991600" y="2133600"/>
            <a:ext cx="2667000" cy="63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F57326-58C0-FC4C-A409-B6EFD6FAC941}"/>
              </a:ext>
            </a:extLst>
          </p:cNvPr>
          <p:cNvSpPr/>
          <p:nvPr/>
        </p:nvSpPr>
        <p:spPr>
          <a:xfrm>
            <a:off x="10020300" y="2413000"/>
            <a:ext cx="609600" cy="609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5EC63D0-F5D7-B649-9284-4573CAA73F03}"/>
              </a:ext>
            </a:extLst>
          </p:cNvPr>
          <p:cNvSpPr txBox="1"/>
          <p:nvPr/>
        </p:nvSpPr>
        <p:spPr>
          <a:xfrm>
            <a:off x="9144000" y="3149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Erster Scan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65640A7-3DE0-474C-B23E-B718B8E6E711}"/>
              </a:ext>
            </a:extLst>
          </p:cNvPr>
          <p:cNvSpPr/>
          <p:nvPr/>
        </p:nvSpPr>
        <p:spPr>
          <a:xfrm>
            <a:off x="9144000" y="3606800"/>
            <a:ext cx="2362200" cy="1397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D8DC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84EB9F3-0C80-984E-A149-3A3B08C0F3D3}"/>
              </a:ext>
            </a:extLst>
          </p:cNvPr>
          <p:cNvSpPr txBox="1"/>
          <p:nvPr/>
        </p:nvSpPr>
        <p:spPr>
          <a:xfrm>
            <a:off x="9245600" y="3708400"/>
            <a:ext cx="2159000" cy="1219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0E2841"/>
                </a:solidFill>
                <a:latin typeface="Consolas"/>
                <a:cs typeface="Consolas"/>
              </a:rPr>
              <a:t>python3 -m aci samples/
vulnerable_oracle.sql
-g security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839CE37-40FA-D746-870B-8ADB3E9EE026}"/>
              </a:ext>
            </a:extLst>
          </p:cNvPr>
          <p:cNvSpPr txBox="1"/>
          <p:nvPr/>
        </p:nvSpPr>
        <p:spPr>
          <a:xfrm>
            <a:off x="9144000" y="5105400"/>
            <a:ext cx="23622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Beispieldatei prüfen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3FADF9D-E22C-DD46-A187-28CAA52A67B0}"/>
              </a:ext>
            </a:extLst>
          </p:cNvPr>
          <p:cNvSpPr txBox="1"/>
          <p:nvPr/>
        </p:nvSpPr>
        <p:spPr>
          <a:xfrm>
            <a:off x="762000" y="607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156082"/>
                </a:solidFill>
              </a:rPr>
              <a:t>Ergebnis: Konsolenausgabe mit Findings aus der Gruppe Sicherheit. Bereit für eigene SQL-Dateien.</a:t>
            </a:r>
          </a:p>
        </p:txBody>
      </p:sp>
    </p:spTree>
    <p:extLst>
      <p:ext uri="{BB962C8B-B14F-4D97-AF65-F5344CB8AC3E}">
        <p14:creationId xmlns:p14="http://schemas.microsoft.com/office/powerpoint/2010/main" val="4009532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7BEA500-A338-CE47-A4C3-E91CDA5BFCF8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SETUP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665CA96-40A3-C340-8741-106F647BEC45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Repository-Struktur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AD32ED-7D22-8645-9FE1-801EAF61A425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6E7D0BE-9F55-AB40-9540-BF23EC373E22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Logischer Aufbau des ACI-Pakets — Code links, Regeldateien rechts.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E9CBFF-7FA2-DD4D-9DCE-11BA128437DC}"/>
              </a:ext>
            </a:extLst>
          </p:cNvPr>
          <p:cNvSpPr/>
          <p:nvPr/>
        </p:nvSpPr>
        <p:spPr>
          <a:xfrm>
            <a:off x="762000" y="2057400"/>
            <a:ext cx="5842000" cy="4546600"/>
          </a:xfrm>
          <a:prstGeom prst="rect">
            <a:avLst/>
          </a:prstGeom>
          <a:solidFill>
            <a:srgbClr val="1A1F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996E69-5F8E-DC44-AB53-A54A52BE7331}"/>
              </a:ext>
            </a:extLst>
          </p:cNvPr>
          <p:cNvSpPr/>
          <p:nvPr/>
        </p:nvSpPr>
        <p:spPr>
          <a:xfrm>
            <a:off x="762000" y="2057400"/>
            <a:ext cx="58420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49BAA93-97BE-6C43-AF34-1F5E3AA1559D}"/>
              </a:ext>
            </a:extLst>
          </p:cNvPr>
          <p:cNvSpPr txBox="1"/>
          <p:nvPr/>
        </p:nvSpPr>
        <p:spPr>
          <a:xfrm>
            <a:off x="939800" y="2108200"/>
            <a:ext cx="548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  <a:latin typeface="Consolas"/>
                <a:cs typeface="Consolas"/>
              </a:rPr>
              <a:t>ACI/   —   Verzeichnisstruktur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74C7AB0-72FD-9A4C-963F-3319CFC120D5}"/>
              </a:ext>
            </a:extLst>
          </p:cNvPr>
          <p:cNvSpPr txBox="1"/>
          <p:nvPr/>
        </p:nvSpPr>
        <p:spPr>
          <a:xfrm>
            <a:off x="939800" y="2514600"/>
            <a:ext cx="5486400" cy="398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E6E6E6"/>
                </a:solidFill>
                <a:latin typeface="Consolas"/>
                <a:cs typeface="Consolas"/>
              </a:rPr>
              <a:t>ACI/
├─ aci.py                       Einstiegspunkt (CLI)
├─ aci/                         Python-Paket
│   ├─ cli.py                   _run() Orchestrierung
│   ├─ config.py                Standardparameter (aci.ini)
│   ├─ finding.py               Finding, Severity
│   ├─ lexer.py                 Tokens, Maskierung
│   ├─ parser.py / ir.py        Parser- / IR-Schicht
│   ├─ source.py                Vorverarbeitung je Datei
│   ├─ rules.py                 Regel-Loader
│   ├─ scanner.py               Scan-Engine
│   ├─ waivers.py               Ausnahmen
│   ├─ integrity.py             Ruleset-Hash + Trust
│   ├─ checks/                  Checks-Unterpaket
│   │   (base · lexical · sqli · ddl · detectors · guidelines)
│   └─ reporting/               Report-Unterpaket
│       (report · console · json_report · sarif · html)
├─ rules/                       externe Regeldateien
│   ├─ oracle.json              Sicherheit (Oracle)
│   ├─ postgresql.json          Sicherheit (PostgreSQL)
│   ├─ guidelines/oracle/       Trivadis-Kategorien
│   └─ mitre/oracle/            MITRE-Taktiken
├─ licenses/                    LICENSE · Apache-2.0 · NOTICE
├─ samples/  ·  tests/  ·  docs/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9731D24-8922-D343-ABB8-75CE04AB8143}"/>
              </a:ext>
            </a:extLst>
          </p:cNvPr>
          <p:cNvSpPr/>
          <p:nvPr/>
        </p:nvSpPr>
        <p:spPr>
          <a:xfrm>
            <a:off x="6858000" y="2057400"/>
            <a:ext cx="4572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4D4000-0D18-2E44-BDCE-2875FC11D8A5}"/>
              </a:ext>
            </a:extLst>
          </p:cNvPr>
          <p:cNvSpPr/>
          <p:nvPr/>
        </p:nvSpPr>
        <p:spPr>
          <a:xfrm>
            <a:off x="6858000" y="2057400"/>
            <a:ext cx="63500" cy="1016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8B30ED-6783-5A4B-8852-A61B6BCCCEDE}"/>
              </a:ext>
            </a:extLst>
          </p:cNvPr>
          <p:cNvSpPr txBox="1"/>
          <p:nvPr/>
        </p:nvSpPr>
        <p:spPr>
          <a:xfrm>
            <a:off x="7086600" y="21844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156082"/>
                </a:solidFill>
              </a:rPr>
              <a:t>Code-Schichten in aci/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15BE02C-E763-D64C-BBA7-2F0A9189114F}"/>
              </a:ext>
            </a:extLst>
          </p:cNvPr>
          <p:cNvSpPr txBox="1"/>
          <p:nvPr/>
        </p:nvSpPr>
        <p:spPr>
          <a:xfrm>
            <a:off x="7086600" y="25146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Jede Datei = eine Phase der Pipeline (Lexer → Parser/IR → Source → Checks → Reporter), Waiver &amp; Integrität flankieren.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149987B-C383-CA4D-9DFD-9254AC454E5B}"/>
              </a:ext>
            </a:extLst>
          </p:cNvPr>
          <p:cNvSpPr/>
          <p:nvPr/>
        </p:nvSpPr>
        <p:spPr>
          <a:xfrm>
            <a:off x="6858000" y="3200400"/>
            <a:ext cx="4572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4A10F6C-8CE4-DE4C-A60D-CDF4D7F74CDF}"/>
              </a:ext>
            </a:extLst>
          </p:cNvPr>
          <p:cNvSpPr/>
          <p:nvPr/>
        </p:nvSpPr>
        <p:spPr>
          <a:xfrm>
            <a:off x="6858000" y="3200400"/>
            <a:ext cx="63500" cy="1016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EC26C2C-4651-7240-A7A1-277C6D628F12}"/>
              </a:ext>
            </a:extLst>
          </p:cNvPr>
          <p:cNvSpPr txBox="1"/>
          <p:nvPr/>
        </p:nvSpPr>
        <p:spPr>
          <a:xfrm>
            <a:off x="7086600" y="33274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E97132"/>
                </a:solidFill>
              </a:rPr>
              <a:t>Regeln getrennt vom Code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1537DF1-8D2B-8E48-A843-5FEE525A9297}"/>
              </a:ext>
            </a:extLst>
          </p:cNvPr>
          <p:cNvSpPr txBox="1"/>
          <p:nvPr/>
        </p:nvSpPr>
        <p:spPr>
          <a:xfrm>
            <a:off x="7086600" y="36576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rules/ liegt außerhalb des Python-Pakets — neue Regeln brauchen keinen Code.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CDA56AC-A2CC-D549-92C7-7ECAB9182544}"/>
              </a:ext>
            </a:extLst>
          </p:cNvPr>
          <p:cNvSpPr/>
          <p:nvPr/>
        </p:nvSpPr>
        <p:spPr>
          <a:xfrm>
            <a:off x="6858000" y="4343400"/>
            <a:ext cx="4572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D4B8584-A70A-8F48-88FB-B29F3EEEF43E}"/>
              </a:ext>
            </a:extLst>
          </p:cNvPr>
          <p:cNvSpPr/>
          <p:nvPr/>
        </p:nvSpPr>
        <p:spPr>
          <a:xfrm>
            <a:off x="6858000" y="4343400"/>
            <a:ext cx="63500" cy="1016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74F8D8A-8E92-3447-BDAC-911D789B9FAA}"/>
              </a:ext>
            </a:extLst>
          </p:cNvPr>
          <p:cNvSpPr txBox="1"/>
          <p:nvPr/>
        </p:nvSpPr>
        <p:spPr>
          <a:xfrm>
            <a:off x="7086600" y="44704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196B24"/>
                </a:solidFill>
              </a:rPr>
              <a:t>Coding Guidelines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4043B95-BBC8-6343-8DB5-8343A7A14B87}"/>
              </a:ext>
            </a:extLst>
          </p:cNvPr>
          <p:cNvSpPr txBox="1"/>
          <p:nvPr/>
        </p:nvSpPr>
        <p:spPr>
          <a:xfrm>
            <a:off x="7086600" y="48006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Eine JSON-Datei je Trivadis-Kategorie. Im Report eine gemeinsame Gruppe.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C83FCC6-C642-D246-8948-73D0471E9A18}"/>
              </a:ext>
            </a:extLst>
          </p:cNvPr>
          <p:cNvSpPr/>
          <p:nvPr/>
        </p:nvSpPr>
        <p:spPr>
          <a:xfrm>
            <a:off x="6858000" y="5486400"/>
            <a:ext cx="4572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1191845-42D8-DA40-A810-58759C0CBD7F}"/>
              </a:ext>
            </a:extLst>
          </p:cNvPr>
          <p:cNvSpPr/>
          <p:nvPr/>
        </p:nvSpPr>
        <p:spPr>
          <a:xfrm>
            <a:off x="6858000" y="5486400"/>
            <a:ext cx="63500" cy="1016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7039D2D-E0C1-E745-9AC7-843C8D9B5FAC}"/>
              </a:ext>
            </a:extLst>
          </p:cNvPr>
          <p:cNvSpPr txBox="1"/>
          <p:nvPr/>
        </p:nvSpPr>
        <p:spPr>
          <a:xfrm>
            <a:off x="7086600" y="56134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A02B93"/>
                </a:solidFill>
              </a:rPr>
              <a:t>MITRE-Indikatoren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CE72741-8CA2-5741-B415-2927DB6358C2}"/>
              </a:ext>
            </a:extLst>
          </p:cNvPr>
          <p:cNvSpPr txBox="1"/>
          <p:nvPr/>
        </p:nvSpPr>
        <p:spPr>
          <a:xfrm>
            <a:off x="7086600" y="59436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rules/mitre/oracle/ — eine Datei je ATT&amp;CK-Taktik (z.B. ta0003_persistence.json).</a:t>
            </a:r>
          </a:p>
        </p:txBody>
      </p:sp>
    </p:spTree>
    <p:extLst>
      <p:ext uri="{BB962C8B-B14F-4D97-AF65-F5344CB8AC3E}">
        <p14:creationId xmlns:p14="http://schemas.microsoft.com/office/powerpoint/2010/main" val="3578053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4B25C95-1695-014F-A7AD-EC07723C72B2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CLI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C8BA7BC-1A89-224D-ACF3-FD053B7A7A83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Grundlegende Verwendung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2D2DC4E-46F4-8746-9D67-8F37104682D9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4F19D1-E11D-DA45-8BB8-65A86CF9C413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Aufrufmuster und die wichtigsten Schalter — alles weitere ist in den Optionstabellen auf den nächsten Folien.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852549E-6F3C-8847-98B2-E201D2EEDA22}"/>
              </a:ext>
            </a:extLst>
          </p:cNvPr>
          <p:cNvSpPr txBox="1"/>
          <p:nvPr/>
        </p:nvSpPr>
        <p:spPr>
          <a:xfrm>
            <a:off x="762000" y="2057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</a:rPr>
              <a:t>Syntax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2E515E7-7E0B-FE4B-9BA6-6E950D2A263E}"/>
              </a:ext>
            </a:extLst>
          </p:cNvPr>
          <p:cNvSpPr/>
          <p:nvPr/>
        </p:nvSpPr>
        <p:spPr>
          <a:xfrm>
            <a:off x="762000" y="2387600"/>
            <a:ext cx="10668000" cy="63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C9ADEC8-F010-3444-A8A7-36D716378772}"/>
              </a:ext>
            </a:extLst>
          </p:cNvPr>
          <p:cNvSpPr txBox="1"/>
          <p:nvPr/>
        </p:nvSpPr>
        <p:spPr>
          <a:xfrm>
            <a:off x="990600" y="25654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>
                <a:solidFill>
                  <a:srgbClr val="FFFFFF"/>
                </a:solidFill>
                <a:latin typeface="Consolas"/>
                <a:cs typeface="Consolas"/>
              </a:rPr>
              <a:t>python3 aci.py &lt;Datei-oder-Verzeichnis&gt; [Optionen]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3FB71DB-ECB0-3744-82D6-778B07DBF5BA}"/>
              </a:ext>
            </a:extLst>
          </p:cNvPr>
          <p:cNvSpPr txBox="1"/>
          <p:nvPr/>
        </p:nvSpPr>
        <p:spPr>
          <a:xfrm>
            <a:off x="762000" y="3302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Drei Schalter, die fast immer reichen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9415243-FB31-884E-BE33-159F62FCAE14}"/>
              </a:ext>
            </a:extLst>
          </p:cNvPr>
          <p:cNvSpPr/>
          <p:nvPr/>
        </p:nvSpPr>
        <p:spPr>
          <a:xfrm>
            <a:off x="762000" y="3683000"/>
            <a:ext cx="10668000" cy="635000"/>
          </a:xfrm>
          <a:prstGeom prst="rect">
            <a:avLst/>
          </a:prstGeom>
          <a:solidFill>
            <a:srgbClr val="F8F9FA"/>
          </a:solidFill>
          <a:ln w="12700" cap="flat" cmpd="sng" algn="ctr">
            <a:solidFill>
              <a:srgbClr val="E0E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7C9ACC9-3268-6143-9392-A9009B099AF4}"/>
              </a:ext>
            </a:extLst>
          </p:cNvPr>
          <p:cNvSpPr/>
          <p:nvPr/>
        </p:nvSpPr>
        <p:spPr>
          <a:xfrm>
            <a:off x="762000" y="36830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8360189-2C96-BC45-B409-BFD2989EF776}"/>
              </a:ext>
            </a:extLst>
          </p:cNvPr>
          <p:cNvSpPr txBox="1"/>
          <p:nvPr/>
        </p:nvSpPr>
        <p:spPr>
          <a:xfrm>
            <a:off x="965200" y="37592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  <a:latin typeface="Consolas"/>
                <a:cs typeface="Consolas"/>
              </a:rPr>
              <a:t>-d / --dialect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15AD224-43B3-E74A-8FDB-D1995558A2F8}"/>
              </a:ext>
            </a:extLst>
          </p:cNvPr>
          <p:cNvSpPr txBox="1"/>
          <p:nvPr/>
        </p:nvSpPr>
        <p:spPr>
          <a:xfrm>
            <a:off x="965200" y="40132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888888"/>
                </a:solidFill>
                <a:latin typeface="Consolas"/>
                <a:cs typeface="Consolas"/>
              </a:rPr>
              <a:t>oracle | postgresql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9FE397-8141-5640-9122-1734B9F287BB}"/>
              </a:ext>
            </a:extLst>
          </p:cNvPr>
          <p:cNvSpPr txBox="1"/>
          <p:nvPr/>
        </p:nvSpPr>
        <p:spPr>
          <a:xfrm>
            <a:off x="3937000" y="38608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SQL-Dialekt. Wird nicht erraten — Default: oracle.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B683942-5617-C44D-B148-F2AA8BF53A97}"/>
              </a:ext>
            </a:extLst>
          </p:cNvPr>
          <p:cNvSpPr/>
          <p:nvPr/>
        </p:nvSpPr>
        <p:spPr>
          <a:xfrm>
            <a:off x="762000" y="4419600"/>
            <a:ext cx="10668000" cy="635000"/>
          </a:xfrm>
          <a:prstGeom prst="rect">
            <a:avLst/>
          </a:prstGeom>
          <a:solidFill>
            <a:srgbClr val="F8F9FA"/>
          </a:solidFill>
          <a:ln w="12700" cap="flat" cmpd="sng" algn="ctr">
            <a:solidFill>
              <a:srgbClr val="E0E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2C5F95-CFA1-D348-8989-C095C537B333}"/>
              </a:ext>
            </a:extLst>
          </p:cNvPr>
          <p:cNvSpPr/>
          <p:nvPr/>
        </p:nvSpPr>
        <p:spPr>
          <a:xfrm>
            <a:off x="762000" y="44196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928B78B-0016-7747-A987-41A6CA8D5D30}"/>
              </a:ext>
            </a:extLst>
          </p:cNvPr>
          <p:cNvSpPr txBox="1"/>
          <p:nvPr/>
        </p:nvSpPr>
        <p:spPr>
          <a:xfrm>
            <a:off x="965200" y="44958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  <a:latin typeface="Consolas"/>
                <a:cs typeface="Consolas"/>
              </a:rPr>
              <a:t>-g / --group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C0FCF08-9359-1942-8CF8-A858721880DB}"/>
              </a:ext>
            </a:extLst>
          </p:cNvPr>
          <p:cNvSpPr txBox="1"/>
          <p:nvPr/>
        </p:nvSpPr>
        <p:spPr>
          <a:xfrm>
            <a:off x="965200" y="47498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888888"/>
                </a:solidFill>
                <a:latin typeface="Consolas"/>
                <a:cs typeface="Consolas"/>
              </a:rPr>
              <a:t>all | security | guidelines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7D008DF-5E70-184C-B149-12BC534C1E96}"/>
              </a:ext>
            </a:extLst>
          </p:cNvPr>
          <p:cNvSpPr txBox="1"/>
          <p:nvPr/>
        </p:nvSpPr>
        <p:spPr>
          <a:xfrm>
            <a:off x="3937000" y="45974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Zu prüfende Gruppen. Default: all.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EF4EDCE-2C35-FD4B-A9B3-CE379BA4E446}"/>
              </a:ext>
            </a:extLst>
          </p:cNvPr>
          <p:cNvSpPr/>
          <p:nvPr/>
        </p:nvSpPr>
        <p:spPr>
          <a:xfrm>
            <a:off x="762000" y="5156200"/>
            <a:ext cx="10668000" cy="635000"/>
          </a:xfrm>
          <a:prstGeom prst="rect">
            <a:avLst/>
          </a:prstGeom>
          <a:solidFill>
            <a:srgbClr val="F8F9FA"/>
          </a:solidFill>
          <a:ln w="12700" cap="flat" cmpd="sng" algn="ctr">
            <a:solidFill>
              <a:srgbClr val="E0E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CA74BBC-E7BA-AB40-A9C1-54EE654B635C}"/>
              </a:ext>
            </a:extLst>
          </p:cNvPr>
          <p:cNvSpPr/>
          <p:nvPr/>
        </p:nvSpPr>
        <p:spPr>
          <a:xfrm>
            <a:off x="762000" y="51562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D2CAF7B-9649-1C4C-BAE4-6F42ABE992CF}"/>
              </a:ext>
            </a:extLst>
          </p:cNvPr>
          <p:cNvSpPr txBox="1"/>
          <p:nvPr/>
        </p:nvSpPr>
        <p:spPr>
          <a:xfrm>
            <a:off x="965200" y="5232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  <a:latin typeface="Consolas"/>
                <a:cs typeface="Consolas"/>
              </a:rPr>
              <a:t>-f / --format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61A77B8-E054-444F-BD20-9C9A3D605F5A}"/>
              </a:ext>
            </a:extLst>
          </p:cNvPr>
          <p:cNvSpPr txBox="1"/>
          <p:nvPr/>
        </p:nvSpPr>
        <p:spPr>
          <a:xfrm>
            <a:off x="965200" y="54864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888888"/>
                </a:solidFill>
                <a:latin typeface="Consolas"/>
                <a:cs typeface="Consolas"/>
              </a:rPr>
              <a:t>console,json,html,sarif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5656BAE-DE4E-D54B-B0EB-EC202B6A33E9}"/>
              </a:ext>
            </a:extLst>
          </p:cNvPr>
          <p:cNvSpPr txBox="1"/>
          <p:nvPr/>
        </p:nvSpPr>
        <p:spPr>
          <a:xfrm>
            <a:off x="3937000" y="53340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Reportformate, kommagetrennt kombinierbar.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FA8E8D8-190C-6048-B555-A2058E5E259F}"/>
              </a:ext>
            </a:extLst>
          </p:cNvPr>
          <p:cNvSpPr txBox="1"/>
          <p:nvPr/>
        </p:nvSpPr>
        <p:spPr>
          <a:xfrm>
            <a:off x="762000" y="60706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Vorgabewerte vieler Optionen kommen aus aci.ini — ein gesetzter Schalter überschreibt sie. Gebündelte Regelverzeichnisse zeigen auf die mit ACI ausgelieferten Regeldateien.</a:t>
            </a:r>
          </a:p>
        </p:txBody>
      </p:sp>
    </p:spTree>
    <p:extLst>
      <p:ext uri="{BB962C8B-B14F-4D97-AF65-F5344CB8AC3E}">
        <p14:creationId xmlns:p14="http://schemas.microsoft.com/office/powerpoint/2010/main" val="1083014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D515203-5397-1246-BA1E-7571053AE377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CLI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235E4EA-6B8F-3E4D-B300-60BBE12876E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Optionen — Eingabe &amp; Ausgabe (1/2)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BE9F052-38CD-774B-8C10-0C45B143CC78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EB18BF-61BB-8E4C-A123-B75BF0C68244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Dialekt, Regelpfade, Reportformate und Schweregrad-Filter.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0B61F2F-DB38-EF48-9F14-9A3B911D1A65}"/>
              </a:ext>
            </a:extLst>
          </p:cNvPr>
          <p:cNvSpPr/>
          <p:nvPr/>
        </p:nvSpPr>
        <p:spPr>
          <a:xfrm>
            <a:off x="762000" y="2006600"/>
            <a:ext cx="10668000" cy="355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91E3DC0-AF79-8641-AF18-F6A3C989E773}"/>
              </a:ext>
            </a:extLst>
          </p:cNvPr>
          <p:cNvSpPr txBox="1"/>
          <p:nvPr/>
        </p:nvSpPr>
        <p:spPr>
          <a:xfrm>
            <a:off x="939800" y="2057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Option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902F730-B540-364F-AE6C-11831FFAFF19}"/>
              </a:ext>
            </a:extLst>
          </p:cNvPr>
          <p:cNvSpPr txBox="1"/>
          <p:nvPr/>
        </p:nvSpPr>
        <p:spPr>
          <a:xfrm>
            <a:off x="3479800" y="2057400"/>
            <a:ext cx="660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7D8567-D00F-F743-A087-FF34C6A4EA21}"/>
              </a:ext>
            </a:extLst>
          </p:cNvPr>
          <p:cNvSpPr txBox="1"/>
          <p:nvPr/>
        </p:nvSpPr>
        <p:spPr>
          <a:xfrm>
            <a:off x="10337800" y="205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0C7BB7-98DD-BA44-B3E4-77E4E65BECBA}"/>
              </a:ext>
            </a:extLst>
          </p:cNvPr>
          <p:cNvSpPr/>
          <p:nvPr/>
        </p:nvSpPr>
        <p:spPr>
          <a:xfrm>
            <a:off x="762000" y="2362200"/>
            <a:ext cx="10668000" cy="381000"/>
          </a:xfrm>
          <a:prstGeom prst="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E788C4B-7C43-5F45-8861-6068E8CB4A8F}"/>
              </a:ext>
            </a:extLst>
          </p:cNvPr>
          <p:cNvSpPr txBox="1"/>
          <p:nvPr/>
        </p:nvSpPr>
        <p:spPr>
          <a:xfrm>
            <a:off x="939800" y="2451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-d, --dialect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6B708F-E9E7-1448-8F0B-66F424FF3B0B}"/>
              </a:ext>
            </a:extLst>
          </p:cNvPr>
          <p:cNvSpPr txBox="1"/>
          <p:nvPr/>
        </p:nvSpPr>
        <p:spPr>
          <a:xfrm>
            <a:off x="3352800" y="2451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oracle oder postgresql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473415C-1A4E-6A4B-9578-0AD70120AF09}"/>
              </a:ext>
            </a:extLst>
          </p:cNvPr>
          <p:cNvSpPr txBox="1"/>
          <p:nvPr/>
        </p:nvSpPr>
        <p:spPr>
          <a:xfrm>
            <a:off x="10210800" y="2451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oracle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8814FBE-C01F-1142-9B81-78816FECB2B7}"/>
              </a:ext>
            </a:extLst>
          </p:cNvPr>
          <p:cNvSpPr/>
          <p:nvPr/>
        </p:nvSpPr>
        <p:spPr>
          <a:xfrm>
            <a:off x="762000" y="27432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B2DE235-82CB-2546-B0D7-3F97664E83F3}"/>
              </a:ext>
            </a:extLst>
          </p:cNvPr>
          <p:cNvSpPr txBox="1"/>
          <p:nvPr/>
        </p:nvSpPr>
        <p:spPr>
          <a:xfrm>
            <a:off x="939800" y="2832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-g, --group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4D6CA87-AFA5-C04D-B18B-FC2C5C3B5704}"/>
              </a:ext>
            </a:extLst>
          </p:cNvPr>
          <p:cNvSpPr txBox="1"/>
          <p:nvPr/>
        </p:nvSpPr>
        <p:spPr>
          <a:xfrm>
            <a:off x="3352800" y="2832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Prüfgruppen: all, security, guidelines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BD02B59-9633-D248-BE42-D7735D944E77}"/>
              </a:ext>
            </a:extLst>
          </p:cNvPr>
          <p:cNvSpPr txBox="1"/>
          <p:nvPr/>
        </p:nvSpPr>
        <p:spPr>
          <a:xfrm>
            <a:off x="10210800" y="2832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all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CD6C08C-B6B9-D143-B58B-A24731B6BB81}"/>
              </a:ext>
            </a:extLst>
          </p:cNvPr>
          <p:cNvSpPr/>
          <p:nvPr/>
        </p:nvSpPr>
        <p:spPr>
          <a:xfrm>
            <a:off x="762000" y="3124200"/>
            <a:ext cx="10668000" cy="381000"/>
          </a:xfrm>
          <a:prstGeom prst="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3EFA961-FAB2-BE4B-AE53-223509A63DF3}"/>
              </a:ext>
            </a:extLst>
          </p:cNvPr>
          <p:cNvSpPr txBox="1"/>
          <p:nvPr/>
        </p:nvSpPr>
        <p:spPr>
          <a:xfrm>
            <a:off x="939800" y="3213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--rules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533570B-85DF-434D-9D31-24D8487D7613}"/>
              </a:ext>
            </a:extLst>
          </p:cNvPr>
          <p:cNvSpPr txBox="1"/>
          <p:nvPr/>
        </p:nvSpPr>
        <p:spPr>
          <a:xfrm>
            <a:off x="3352800" y="3213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explizite Sicherheits-Regeldatei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5500695-C66A-FA4D-AF3B-8D7F9276260A}"/>
              </a:ext>
            </a:extLst>
          </p:cNvPr>
          <p:cNvSpPr txBox="1"/>
          <p:nvPr/>
        </p:nvSpPr>
        <p:spPr>
          <a:xfrm>
            <a:off x="10210800" y="3213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75E3D92-0AB7-E347-8404-842FD157AB82}"/>
              </a:ext>
            </a:extLst>
          </p:cNvPr>
          <p:cNvSpPr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E3F4A37-998B-3842-A994-6E03E26F5612}"/>
              </a:ext>
            </a:extLst>
          </p:cNvPr>
          <p:cNvSpPr txBox="1"/>
          <p:nvPr/>
        </p:nvSpPr>
        <p:spPr>
          <a:xfrm>
            <a:off x="939800" y="3594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--rules-dir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E946475-B0D5-D347-B05E-A2C8E4589A64}"/>
              </a:ext>
            </a:extLst>
          </p:cNvPr>
          <p:cNvSpPr txBox="1"/>
          <p:nvPr/>
        </p:nvSpPr>
        <p:spPr>
          <a:xfrm>
            <a:off x="3352800" y="3594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Verzeichnis mit oracle.json / postgresql.json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E4AD5F9-B4D6-1C48-95B7-E4F06ECBB115}"/>
              </a:ext>
            </a:extLst>
          </p:cNvPr>
          <p:cNvSpPr txBox="1"/>
          <p:nvPr/>
        </p:nvSpPr>
        <p:spPr>
          <a:xfrm>
            <a:off x="10210800" y="3594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gebündelt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086B342-B130-C84C-973D-BD2255764814}"/>
              </a:ext>
            </a:extLst>
          </p:cNvPr>
          <p:cNvSpPr/>
          <p:nvPr/>
        </p:nvSpPr>
        <p:spPr>
          <a:xfrm>
            <a:off x="762000" y="3886200"/>
            <a:ext cx="10668000" cy="381000"/>
          </a:xfrm>
          <a:prstGeom prst="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D563B98-088C-8F47-8961-A8855F92B89E}"/>
              </a:ext>
            </a:extLst>
          </p:cNvPr>
          <p:cNvSpPr txBox="1"/>
          <p:nvPr/>
        </p:nvSpPr>
        <p:spPr>
          <a:xfrm>
            <a:off x="939800" y="3975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--guidelines-dir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5BC5B51-49AA-3F4C-9279-3B173B225308}"/>
              </a:ext>
            </a:extLst>
          </p:cNvPr>
          <p:cNvSpPr txBox="1"/>
          <p:nvPr/>
        </p:nvSpPr>
        <p:spPr>
          <a:xfrm>
            <a:off x="3352800" y="3975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Basisverzeichnis der Guideline-Kategoriedateien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F5CAFF1-F7A1-8F4D-A48B-93740B1BEAD1}"/>
              </a:ext>
            </a:extLst>
          </p:cNvPr>
          <p:cNvSpPr txBox="1"/>
          <p:nvPr/>
        </p:nvSpPr>
        <p:spPr>
          <a:xfrm>
            <a:off x="10210800" y="3975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gebündelt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72E2E6F-FDF6-EE47-AE03-90BF2FF08F57}"/>
              </a:ext>
            </a:extLst>
          </p:cNvPr>
          <p:cNvSpPr/>
          <p:nvPr/>
        </p:nvSpPr>
        <p:spPr>
          <a:xfrm>
            <a:off x="762000" y="42672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1D7339A-9E11-8040-84A0-0F87008CB2C6}"/>
              </a:ext>
            </a:extLst>
          </p:cNvPr>
          <p:cNvSpPr txBox="1"/>
          <p:nvPr/>
        </p:nvSpPr>
        <p:spPr>
          <a:xfrm>
            <a:off x="939800" y="4356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--mitre-dir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411C857-1EF3-EC4B-BE40-0B994535D1FF}"/>
              </a:ext>
            </a:extLst>
          </p:cNvPr>
          <p:cNvSpPr txBox="1"/>
          <p:nvPr/>
        </p:nvSpPr>
        <p:spPr>
          <a:xfrm>
            <a:off x="3352800" y="4356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Basisverzeichnis der MITRE-Taktikdateien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CA02F22-BFA2-A84E-A25F-0CC73328B115}"/>
              </a:ext>
            </a:extLst>
          </p:cNvPr>
          <p:cNvSpPr txBox="1"/>
          <p:nvPr/>
        </p:nvSpPr>
        <p:spPr>
          <a:xfrm>
            <a:off x="10210800" y="4356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gebündelt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80058C5-2ACA-FE47-9967-9C9B189E5293}"/>
              </a:ext>
            </a:extLst>
          </p:cNvPr>
          <p:cNvSpPr/>
          <p:nvPr/>
        </p:nvSpPr>
        <p:spPr>
          <a:xfrm>
            <a:off x="762000" y="4648200"/>
            <a:ext cx="10668000" cy="381000"/>
          </a:xfrm>
          <a:prstGeom prst="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61DB5C2-1881-014F-BA6E-9287F9DA074A}"/>
              </a:ext>
            </a:extLst>
          </p:cNvPr>
          <p:cNvSpPr txBox="1"/>
          <p:nvPr/>
        </p:nvSpPr>
        <p:spPr>
          <a:xfrm>
            <a:off x="939800" y="4737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-f, --format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EAB95E7-37B8-F947-9D30-6D5DFEF8B91F}"/>
              </a:ext>
            </a:extLst>
          </p:cNvPr>
          <p:cNvSpPr txBox="1"/>
          <p:nvPr/>
        </p:nvSpPr>
        <p:spPr>
          <a:xfrm>
            <a:off x="3352800" y="4737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console, json, html, sarif (kommagetrennt)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CC59581-2DD1-8642-A36C-D6F6C86DB8DD}"/>
              </a:ext>
            </a:extLst>
          </p:cNvPr>
          <p:cNvSpPr txBox="1"/>
          <p:nvPr/>
        </p:nvSpPr>
        <p:spPr>
          <a:xfrm>
            <a:off x="10210800" y="4737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console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4A20B3B-8951-9349-B6A6-D507BE10F2CB}"/>
              </a:ext>
            </a:extLst>
          </p:cNvPr>
          <p:cNvSpPr/>
          <p:nvPr/>
        </p:nvSpPr>
        <p:spPr>
          <a:xfrm>
            <a:off x="762000" y="50292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CF2AE0B-7A28-844D-898B-3FF068FB42ED}"/>
              </a:ext>
            </a:extLst>
          </p:cNvPr>
          <p:cNvSpPr txBox="1"/>
          <p:nvPr/>
        </p:nvSpPr>
        <p:spPr>
          <a:xfrm>
            <a:off x="939800" y="5118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-o, --output-dir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7F41206-45BE-2A46-88C3-E325D14C1B7F}"/>
              </a:ext>
            </a:extLst>
          </p:cNvPr>
          <p:cNvSpPr txBox="1"/>
          <p:nvPr/>
        </p:nvSpPr>
        <p:spPr>
          <a:xfrm>
            <a:off x="3352800" y="5118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Zielverzeichnis für Reports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C818A7C-54AF-F94E-89C8-369D8C2D230E}"/>
              </a:ext>
            </a:extLst>
          </p:cNvPr>
          <p:cNvSpPr txBox="1"/>
          <p:nvPr/>
        </p:nvSpPr>
        <p:spPr>
          <a:xfrm>
            <a:off x="10210800" y="5118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akt. Verz.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7A6F6E3-E7D7-164C-9FC4-748238C41FFA}"/>
              </a:ext>
            </a:extLst>
          </p:cNvPr>
          <p:cNvSpPr/>
          <p:nvPr/>
        </p:nvSpPr>
        <p:spPr>
          <a:xfrm>
            <a:off x="762000" y="5410200"/>
            <a:ext cx="10668000" cy="381000"/>
          </a:xfrm>
          <a:prstGeom prst="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6CE6339-2F3E-6140-BFEC-B470B23ABB2D}"/>
              </a:ext>
            </a:extLst>
          </p:cNvPr>
          <p:cNvSpPr txBox="1"/>
          <p:nvPr/>
        </p:nvSpPr>
        <p:spPr>
          <a:xfrm>
            <a:off x="939800" y="5499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--html-group-by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7026B23-230C-E14D-844B-4C795F4B7AAA}"/>
              </a:ext>
            </a:extLst>
          </p:cNvPr>
          <p:cNvSpPr txBox="1"/>
          <p:nvPr/>
        </p:nvSpPr>
        <p:spPr>
          <a:xfrm>
            <a:off x="3352800" y="5499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HTML-Findings nach rule oder file gruppieren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A608F82-86AF-DC44-AB0F-8A4FA956AC63}"/>
              </a:ext>
            </a:extLst>
          </p:cNvPr>
          <p:cNvSpPr txBox="1"/>
          <p:nvPr/>
        </p:nvSpPr>
        <p:spPr>
          <a:xfrm>
            <a:off x="10210800" y="5499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rule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99B6FDE-24EB-CA46-A2D5-C0F8D8C2E295}"/>
              </a:ext>
            </a:extLst>
          </p:cNvPr>
          <p:cNvSpPr/>
          <p:nvPr/>
        </p:nvSpPr>
        <p:spPr>
          <a:xfrm>
            <a:off x="762000" y="57912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4EA49865-C563-6740-9AFD-7D0FBA5A3B0A}"/>
              </a:ext>
            </a:extLst>
          </p:cNvPr>
          <p:cNvSpPr txBox="1"/>
          <p:nvPr/>
        </p:nvSpPr>
        <p:spPr>
          <a:xfrm>
            <a:off x="939800" y="58801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--min-level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877F14E-8AA0-FD48-8956-7FD02E759EE5}"/>
              </a:ext>
            </a:extLst>
          </p:cNvPr>
          <p:cNvSpPr txBox="1"/>
          <p:nvPr/>
        </p:nvSpPr>
        <p:spPr>
          <a:xfrm>
            <a:off x="3352800" y="5880100"/>
            <a:ext cx="6756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nur Findings ab diesem Schweregrad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04E00F2-520A-3D4C-B0F7-6CE712F45D48}"/>
              </a:ext>
            </a:extLst>
          </p:cNvPr>
          <p:cNvSpPr txBox="1"/>
          <p:nvPr/>
        </p:nvSpPr>
        <p:spPr>
          <a:xfrm>
            <a:off x="10210800" y="5880100"/>
            <a:ext cx="1168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  <a:latin typeface="Consolas"/>
                <a:cs typeface="Consolas"/>
              </a:rPr>
              <a:t>info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5CEC137-7308-574C-9062-3797E66875B1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888888"/>
                </a:solidFill>
              </a:rPr>
              <a:t>Fortsetzung auf der nächsten Folie: CI/CD-Schalter, Kontext-Optionen und Filter.</a:t>
            </a:r>
          </a:p>
        </p:txBody>
      </p:sp>
    </p:spTree>
    <p:extLst>
      <p:ext uri="{BB962C8B-B14F-4D97-AF65-F5344CB8AC3E}">
        <p14:creationId xmlns:p14="http://schemas.microsoft.com/office/powerpoint/2010/main" val="3340702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0E0D27E-EB3F-EC4A-A363-D61892ACFF3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VERWENDUNG (CLI)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6E3A868-B1AC-514C-885B-E9E103481C2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Optionen — Gate, Filter &amp; Debug (2/2)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7E587EC-D838-1C48-96A0-4ECDAA628261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924C3F8-895D-144E-86A6-3865EC497855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Gate-, Sicherheits- und Filter-Schalter. Vorgabewerte stammen aus aci.ini; ein gesetzter Schalter überschreibt sie.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7957D86-5A5F-2E49-971F-EE5C1B83B7B4}"/>
              </a:ext>
            </a:extLst>
          </p:cNvPr>
          <p:cNvSpPr/>
          <p:nvPr/>
        </p:nvSpPr>
        <p:spPr>
          <a:xfrm>
            <a:off x="762000" y="2057400"/>
            <a:ext cx="106680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87196AC-3EDB-594F-ACFF-D3A5D83DF5F7}"/>
              </a:ext>
            </a:extLst>
          </p:cNvPr>
          <p:cNvSpPr txBox="1"/>
          <p:nvPr/>
        </p:nvSpPr>
        <p:spPr>
          <a:xfrm>
            <a:off x="863600" y="21590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Option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824D72B-E476-9C4F-B4BC-170AAF057746}"/>
              </a:ext>
            </a:extLst>
          </p:cNvPr>
          <p:cNvSpPr txBox="1"/>
          <p:nvPr/>
        </p:nvSpPr>
        <p:spPr>
          <a:xfrm>
            <a:off x="3848100" y="21590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A82F50-C404-6543-9601-B0FF3CFB083B}"/>
              </a:ext>
            </a:extLst>
          </p:cNvPr>
          <p:cNvSpPr txBox="1"/>
          <p:nvPr/>
        </p:nvSpPr>
        <p:spPr>
          <a:xfrm>
            <a:off x="10388600" y="21590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9CEDA64-B952-5E4D-8723-DCA59EF663F5}"/>
              </a:ext>
            </a:extLst>
          </p:cNvPr>
          <p:cNvSpPr/>
          <p:nvPr/>
        </p:nvSpPr>
        <p:spPr>
          <a:xfrm>
            <a:off x="762000" y="2463800"/>
            <a:ext cx="10668000" cy="4064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F19D1C1-4B55-8643-BD1F-5168A0AABB99}"/>
              </a:ext>
            </a:extLst>
          </p:cNvPr>
          <p:cNvSpPr txBox="1"/>
          <p:nvPr/>
        </p:nvSpPr>
        <p:spPr>
          <a:xfrm>
            <a:off x="863600" y="25654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--fail-on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9BB2D7E-7A9F-AB4F-AC9E-E3576004DAF6}"/>
              </a:ext>
            </a:extLst>
          </p:cNvPr>
          <p:cNvSpPr txBox="1"/>
          <p:nvPr/>
        </p:nvSpPr>
        <p:spPr>
          <a:xfrm>
            <a:off x="3848100" y="25654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Exit-Code 1, wenn Findings ≥ Schweregrad (für CI/CD; Empfehlung: ≥ high)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780E445-62DA-C447-9E9A-744AEC45B4D3}"/>
              </a:ext>
            </a:extLst>
          </p:cNvPr>
          <p:cNvSpPr txBox="1"/>
          <p:nvPr/>
        </p:nvSpPr>
        <p:spPr>
          <a:xfrm>
            <a:off x="10388600" y="25654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none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56D8ECA-B014-9C4A-8AF0-BA0520014934}"/>
              </a:ext>
            </a:extLst>
          </p:cNvPr>
          <p:cNvSpPr/>
          <p:nvPr/>
        </p:nvSpPr>
        <p:spPr>
          <a:xfrm>
            <a:off x="762000" y="28702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18E35F5-BB52-D945-94D8-178E6AD6756B}"/>
              </a:ext>
            </a:extLst>
          </p:cNvPr>
          <p:cNvSpPr txBox="1"/>
          <p:nvPr/>
        </p:nvSpPr>
        <p:spPr>
          <a:xfrm>
            <a:off x="863600" y="29718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--strict-internal-errors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E1E38FA-2EF6-2745-A9CA-406E2178D281}"/>
              </a:ext>
            </a:extLst>
          </p:cNvPr>
          <p:cNvSpPr txBox="1"/>
          <p:nvPr/>
        </p:nvSpPr>
        <p:spPr>
          <a:xfrm>
            <a:off x="3848100" y="29718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Exit-Code 2, wenn ein Check intern fehlschlägt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6589EF4-1A33-1646-AE3A-4037FB8C732B}"/>
              </a:ext>
            </a:extLst>
          </p:cNvPr>
          <p:cNvSpPr txBox="1"/>
          <p:nvPr/>
        </p:nvSpPr>
        <p:spPr>
          <a:xfrm>
            <a:off x="10388600" y="29718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4120322-56B2-1A46-B718-713EDB712F0E}"/>
              </a:ext>
            </a:extLst>
          </p:cNvPr>
          <p:cNvSpPr/>
          <p:nvPr/>
        </p:nvSpPr>
        <p:spPr>
          <a:xfrm>
            <a:off x="762000" y="3276600"/>
            <a:ext cx="10668000" cy="4064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7458391-B392-934D-8EA9-EECC2F18DDD2}"/>
              </a:ext>
            </a:extLst>
          </p:cNvPr>
          <p:cNvSpPr txBox="1"/>
          <p:nvPr/>
        </p:nvSpPr>
        <p:spPr>
          <a:xfrm>
            <a:off x="863600" y="33782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--waivers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0C385DB-5158-C74C-93D1-1E74947B8DF2}"/>
              </a:ext>
            </a:extLst>
          </p:cNvPr>
          <p:cNvSpPr txBox="1"/>
          <p:nvPr/>
        </p:nvSpPr>
        <p:spPr>
          <a:xfrm>
            <a:off x="3848100" y="33782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JSON-Datei mit kontrollierten Ausnahmen — gewaiverte Findings zählen nicht für --fail-on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6BAEA46-FD21-7D44-A0F5-4DB2F10CCC93}"/>
              </a:ext>
            </a:extLst>
          </p:cNvPr>
          <p:cNvSpPr txBox="1"/>
          <p:nvPr/>
        </p:nvSpPr>
        <p:spPr>
          <a:xfrm>
            <a:off x="10388600" y="33782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86C02AB-A1BB-884D-A495-37881DFE8C41}"/>
              </a:ext>
            </a:extLst>
          </p:cNvPr>
          <p:cNvSpPr/>
          <p:nvPr/>
        </p:nvSpPr>
        <p:spPr>
          <a:xfrm>
            <a:off x="762000" y="36830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2B457BB-9245-A147-B861-105C87C7A2BC}"/>
              </a:ext>
            </a:extLst>
          </p:cNvPr>
          <p:cNvSpPr txBox="1"/>
          <p:nvPr/>
        </p:nvSpPr>
        <p:spPr>
          <a:xfrm>
            <a:off x="863600" y="37846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--strict-waivers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53A2C7C-E526-504D-9B68-6D02619DE385}"/>
              </a:ext>
            </a:extLst>
          </p:cNvPr>
          <p:cNvSpPr txBox="1"/>
          <p:nvPr/>
        </p:nvSpPr>
        <p:spPr>
          <a:xfrm>
            <a:off x="3848100" y="37846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Exit-Code 2, wenn die Waiver-Datei fehlerhaft ist (sonst nur Warnung)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FA7A5CD-5951-8E4F-B63F-D3DCB4878ED4}"/>
              </a:ext>
            </a:extLst>
          </p:cNvPr>
          <p:cNvSpPr txBox="1"/>
          <p:nvPr/>
        </p:nvSpPr>
        <p:spPr>
          <a:xfrm>
            <a:off x="10388600" y="37846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1358425-F130-1541-8F41-6A7AF78900D5}"/>
              </a:ext>
            </a:extLst>
          </p:cNvPr>
          <p:cNvSpPr/>
          <p:nvPr/>
        </p:nvSpPr>
        <p:spPr>
          <a:xfrm>
            <a:off x="762000" y="4089400"/>
            <a:ext cx="10668000" cy="4064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8312836-81DD-C34A-A537-FEA20611249E}"/>
              </a:ext>
            </a:extLst>
          </p:cNvPr>
          <p:cNvSpPr txBox="1"/>
          <p:nvPr/>
        </p:nvSpPr>
        <p:spPr>
          <a:xfrm>
            <a:off x="863600" y="41910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--require-trusted-rules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1FC8BFD-FFD2-2547-9DA8-07966B533E25}"/>
              </a:ext>
            </a:extLst>
          </p:cNvPr>
          <p:cNvSpPr txBox="1"/>
          <p:nvPr/>
        </p:nvSpPr>
        <p:spPr>
          <a:xfrm>
            <a:off x="3848100" y="41910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Exit-Code 2, wenn eine Regeldatei aus benutzerdefiniertem (nicht gebündeltem) Pfad geladen würde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A8D7E43-2BA5-154B-8341-13CED218A77F}"/>
              </a:ext>
            </a:extLst>
          </p:cNvPr>
          <p:cNvSpPr txBox="1"/>
          <p:nvPr/>
        </p:nvSpPr>
        <p:spPr>
          <a:xfrm>
            <a:off x="10388600" y="41910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1E87E0A-64AF-1542-BCE5-09D2C4CA0B1C}"/>
              </a:ext>
            </a:extLst>
          </p:cNvPr>
          <p:cNvSpPr/>
          <p:nvPr/>
        </p:nvSpPr>
        <p:spPr>
          <a:xfrm>
            <a:off x="762000" y="44958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F543B86-5D9D-2844-8455-9F3C246FA85C}"/>
              </a:ext>
            </a:extLst>
          </p:cNvPr>
          <p:cNvSpPr txBox="1"/>
          <p:nvPr/>
        </p:nvSpPr>
        <p:spPr>
          <a:xfrm>
            <a:off x="863600" y="45974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--context-lines N / --no-context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2209905-873E-1241-A67B-B542D56FA593}"/>
              </a:ext>
            </a:extLst>
          </p:cNvPr>
          <p:cNvSpPr txBox="1"/>
          <p:nvPr/>
        </p:nvSpPr>
        <p:spPr>
          <a:xfrm>
            <a:off x="3848100" y="45974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Zeilen Quelltext-Kontext pro Finding bzw. ganz weglassen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0F4CA79-9B49-BC4E-A4BD-5526149C75C3}"/>
              </a:ext>
            </a:extLst>
          </p:cNvPr>
          <p:cNvSpPr txBox="1"/>
          <p:nvPr/>
        </p:nvSpPr>
        <p:spPr>
          <a:xfrm>
            <a:off x="10388600" y="45974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EE05B21-BC44-BF46-A815-481AE7473141}"/>
              </a:ext>
            </a:extLst>
          </p:cNvPr>
          <p:cNvSpPr/>
          <p:nvPr/>
        </p:nvSpPr>
        <p:spPr>
          <a:xfrm>
            <a:off x="762000" y="4902200"/>
            <a:ext cx="10668000" cy="4064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08CF1AD-CFC8-3E40-BE97-D83C0F961E56}"/>
              </a:ext>
            </a:extLst>
          </p:cNvPr>
          <p:cNvSpPr txBox="1"/>
          <p:nvPr/>
        </p:nvSpPr>
        <p:spPr>
          <a:xfrm>
            <a:off x="863600" y="50038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--redact-secrets / --safe-report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90D3A3A-49CC-DB46-AE33-0E1D03B2CEED}"/>
              </a:ext>
            </a:extLst>
          </p:cNvPr>
          <p:cNvSpPr txBox="1"/>
          <p:nvPr/>
        </p:nvSpPr>
        <p:spPr>
          <a:xfrm>
            <a:off x="3848100" y="50038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Geheimnis-Muster maskieren bzw. --no-context + --redact-secrets bündeln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4742AA5-2125-CF43-9A9C-D78111D91C3B}"/>
              </a:ext>
            </a:extLst>
          </p:cNvPr>
          <p:cNvSpPr txBox="1"/>
          <p:nvPr/>
        </p:nvSpPr>
        <p:spPr>
          <a:xfrm>
            <a:off x="10388600" y="50038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07A2812-4D8E-3F4C-AFDE-127D5AFB6EB9}"/>
              </a:ext>
            </a:extLst>
          </p:cNvPr>
          <p:cNvSpPr/>
          <p:nvPr/>
        </p:nvSpPr>
        <p:spPr>
          <a:xfrm>
            <a:off x="762000" y="53086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2AAED0B-BAD1-6D45-8A48-A25DD95687A8}"/>
              </a:ext>
            </a:extLst>
          </p:cNvPr>
          <p:cNvSpPr txBox="1"/>
          <p:nvPr/>
        </p:nvSpPr>
        <p:spPr>
          <a:xfrm>
            <a:off x="863600" y="54102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--taint-sources / --no-taint-sources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8F3CE8E-27C4-D443-81D8-415BF51525A9}"/>
              </a:ext>
            </a:extLst>
          </p:cNvPr>
          <p:cNvSpPr txBox="1"/>
          <p:nvPr/>
        </p:nvSpPr>
        <p:spPr>
          <a:xfrm>
            <a:off x="3848100" y="54102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Taint-Quelle bei SQL-Injection und dynamischen DDL-Findings anzeigen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2535DA6-635E-424D-9772-51DAEAA817A9}"/>
              </a:ext>
            </a:extLst>
          </p:cNvPr>
          <p:cNvSpPr txBox="1"/>
          <p:nvPr/>
        </p:nvSpPr>
        <p:spPr>
          <a:xfrm>
            <a:off x="10388600" y="54102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an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96651CD-FF04-E64A-8ED4-EA16FAB8F048}"/>
              </a:ext>
            </a:extLst>
          </p:cNvPr>
          <p:cNvSpPr/>
          <p:nvPr/>
        </p:nvSpPr>
        <p:spPr>
          <a:xfrm>
            <a:off x="762000" y="5715000"/>
            <a:ext cx="10668000" cy="4064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CE5F3CB-B3CD-8A45-83B3-DA49FF812E45}"/>
              </a:ext>
            </a:extLst>
          </p:cNvPr>
          <p:cNvSpPr txBox="1"/>
          <p:nvPr/>
        </p:nvSpPr>
        <p:spPr>
          <a:xfrm>
            <a:off x="863600" y="58166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--exclude MUSTER / --max-file-size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657F3C4-760E-6249-84C6-31651C58D337}"/>
              </a:ext>
            </a:extLst>
          </p:cNvPr>
          <p:cNvSpPr txBox="1"/>
          <p:nvPr/>
        </p:nvSpPr>
        <p:spPr>
          <a:xfrm>
            <a:off x="3848100" y="58166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Datei-/Verzeichnismuster ausschließen bzw. große Dateien überspringen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0C986E6D-200B-9A4F-A558-9B4C1F75B5DD}"/>
              </a:ext>
            </a:extLst>
          </p:cNvPr>
          <p:cNvSpPr txBox="1"/>
          <p:nvPr/>
        </p:nvSpPr>
        <p:spPr>
          <a:xfrm>
            <a:off x="10388600" y="58166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1615BA8-3A7F-9C43-BE7C-A936DA9FB84B}"/>
              </a:ext>
            </a:extLst>
          </p:cNvPr>
          <p:cNvSpPr/>
          <p:nvPr/>
        </p:nvSpPr>
        <p:spPr>
          <a:xfrm>
            <a:off x="762000" y="6121400"/>
            <a:ext cx="106680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F05D2903-3B0D-7F4A-A97B-2AB62E89101F}"/>
              </a:ext>
            </a:extLst>
          </p:cNvPr>
          <p:cNvSpPr txBox="1"/>
          <p:nvPr/>
        </p:nvSpPr>
        <p:spPr>
          <a:xfrm>
            <a:off x="863600" y="6223000"/>
            <a:ext cx="2717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E2841"/>
                </a:solidFill>
                <a:latin typeface="Consolas"/>
                <a:cs typeface="Consolas"/>
              </a:rPr>
              <a:t>--debug / --dump-ir / --list-checks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9C6AE3F-2E71-6F40-A0A1-1A7DCE08D058}"/>
              </a:ext>
            </a:extLst>
          </p:cNvPr>
          <p:cNvSpPr txBox="1"/>
          <p:nvPr/>
        </p:nvSpPr>
        <p:spPr>
          <a:xfrm>
            <a:off x="3848100" y="6223000"/>
            <a:ext cx="6273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Traceback, IR-JSON oder Liste aktiver Checks ausgeben und beenden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28E73288-D673-BE44-B4DA-45FD44B2E682}"/>
              </a:ext>
            </a:extLst>
          </p:cNvPr>
          <p:cNvSpPr txBox="1"/>
          <p:nvPr/>
        </p:nvSpPr>
        <p:spPr>
          <a:xfrm>
            <a:off x="10388600" y="6223000"/>
            <a:ext cx="939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  <a:latin typeface="Consolas"/>
                <a:cs typeface="Consolas"/>
              </a:rPr>
              <a:t>–</a:t>
            </a:r>
          </a:p>
        </p:txBody>
      </p:sp>
    </p:spTree>
    <p:extLst>
      <p:ext uri="{BB962C8B-B14F-4D97-AF65-F5344CB8AC3E}">
        <p14:creationId xmlns:p14="http://schemas.microsoft.com/office/powerpoint/2010/main" val="427307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508F3C2-3241-854D-A08F-B0B537C92247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VERWENDUNG (CLI)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D6F4A2-259D-9749-B195-4F1E2AEF6BAA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Beispiele typischer Aufrufe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E287E41-F117-034D-AE01-F290B68AA293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04C04A-9F87-D541-AAEB-91924B266EB2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Vier typische Szenarien — vom einfachsten Lauf bis zum produktiven CI/CD-Gate.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276A922-696A-D641-A42A-64C66EE24B4E}"/>
              </a:ext>
            </a:extLst>
          </p:cNvPr>
          <p:cNvSpPr/>
          <p:nvPr/>
        </p:nvSpPr>
        <p:spPr>
          <a:xfrm>
            <a:off x="762000" y="2057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B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3E4D65-6B63-FD40-8AA2-64FFF0F95FFE}"/>
              </a:ext>
            </a:extLst>
          </p:cNvPr>
          <p:cNvSpPr/>
          <p:nvPr/>
        </p:nvSpPr>
        <p:spPr>
          <a:xfrm>
            <a:off x="939800" y="22352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6E3AFB4-1E60-864D-890A-98C6A4C3A4A9}"/>
              </a:ext>
            </a:extLst>
          </p:cNvPr>
          <p:cNvSpPr txBox="1"/>
          <p:nvPr/>
        </p:nvSpPr>
        <p:spPr>
          <a:xfrm>
            <a:off x="1447800" y="2260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Standard — beide Gruppen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FE78B34-B7C9-A148-863A-8F1B1BC87284}"/>
              </a:ext>
            </a:extLst>
          </p:cNvPr>
          <p:cNvSpPr txBox="1"/>
          <p:nvPr/>
        </p:nvSpPr>
        <p:spPr>
          <a:xfrm>
            <a:off x="1447800" y="2540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Sicherheit + Coding Guidelines, Konsolenausgabe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8E2CA74-6EAE-A143-ACBE-858A297AA10A}"/>
              </a:ext>
            </a:extLst>
          </p:cNvPr>
          <p:cNvSpPr/>
          <p:nvPr/>
        </p:nvSpPr>
        <p:spPr>
          <a:xfrm>
            <a:off x="939800" y="3149600"/>
            <a:ext cx="4851400" cy="736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D580B4-6D7E-B44B-8ED9-7897C7F55900}"/>
              </a:ext>
            </a:extLst>
          </p:cNvPr>
          <p:cNvSpPr txBox="1"/>
          <p:nvPr/>
        </p:nvSpPr>
        <p:spPr>
          <a:xfrm>
            <a:off x="1066800" y="3327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7BD389"/>
                </a:solidFill>
                <a:latin typeface="Consolas"/>
                <a:cs typeface="Consolas"/>
              </a:rPr>
              <a:t>python3 aci.py samples/vulnerable_oracle.sql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B42C372-1B45-7247-9013-6ECD3F02BE7F}"/>
              </a:ext>
            </a:extLst>
          </p:cNvPr>
          <p:cNvSpPr/>
          <p:nvPr/>
        </p:nvSpPr>
        <p:spPr>
          <a:xfrm>
            <a:off x="6223000" y="2057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B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00E04E-0733-6B49-B545-9A6B5825CADB}"/>
              </a:ext>
            </a:extLst>
          </p:cNvPr>
          <p:cNvSpPr/>
          <p:nvPr/>
        </p:nvSpPr>
        <p:spPr>
          <a:xfrm>
            <a:off x="6400800" y="22352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A23F89E-6492-BC4E-BFC5-276434A4B8DA}"/>
              </a:ext>
            </a:extLst>
          </p:cNvPr>
          <p:cNvSpPr txBox="1"/>
          <p:nvPr/>
        </p:nvSpPr>
        <p:spPr>
          <a:xfrm>
            <a:off x="6908800" y="2260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Nur Sicherheits-Checks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7780FA-92C5-ED41-B1D7-EF1848DB2300}"/>
              </a:ext>
            </a:extLst>
          </p:cNvPr>
          <p:cNvSpPr txBox="1"/>
          <p:nvPr/>
        </p:nvSpPr>
        <p:spPr>
          <a:xfrm>
            <a:off x="6908800" y="2540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Coding Guidelines überspringen — z.B. für schnellen Sicherheits-Scan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95CAAE0-3759-A142-8B5F-C530EE129E6F}"/>
              </a:ext>
            </a:extLst>
          </p:cNvPr>
          <p:cNvSpPr/>
          <p:nvPr/>
        </p:nvSpPr>
        <p:spPr>
          <a:xfrm>
            <a:off x="6400800" y="3149600"/>
            <a:ext cx="4851400" cy="736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8BE184A-8BCE-DF48-9963-34B6FCDF671E}"/>
              </a:ext>
            </a:extLst>
          </p:cNvPr>
          <p:cNvSpPr txBox="1"/>
          <p:nvPr/>
        </p:nvSpPr>
        <p:spPr>
          <a:xfrm>
            <a:off x="6527800" y="3327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7BD389"/>
                </a:solidFill>
                <a:latin typeface="Consolas"/>
                <a:cs typeface="Consolas"/>
              </a:rPr>
              <a:t>python3 aci.py code.sql --group security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A53CF97-0EC1-484F-A03D-E145594EBEF7}"/>
              </a:ext>
            </a:extLst>
          </p:cNvPr>
          <p:cNvSpPr/>
          <p:nvPr/>
        </p:nvSpPr>
        <p:spPr>
          <a:xfrm>
            <a:off x="762000" y="4343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B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5EDE3B-6FC0-F842-9366-26B347414037}"/>
              </a:ext>
            </a:extLst>
          </p:cNvPr>
          <p:cNvSpPr/>
          <p:nvPr/>
        </p:nvSpPr>
        <p:spPr>
          <a:xfrm>
            <a:off x="939800" y="45212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98FC121-6D00-6942-9854-832967A71AE9}"/>
              </a:ext>
            </a:extLst>
          </p:cNvPr>
          <p:cNvSpPr txBox="1"/>
          <p:nvPr/>
        </p:nvSpPr>
        <p:spPr>
          <a:xfrm>
            <a:off x="1447800" y="4546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PostgreSQL-Dialekt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9ABDA0B-0B7F-5845-A452-4B55F69B0FDD}"/>
              </a:ext>
            </a:extLst>
          </p:cNvPr>
          <p:cNvSpPr txBox="1"/>
          <p:nvPr/>
        </p:nvSpPr>
        <p:spPr>
          <a:xfrm>
            <a:off x="1447800" y="4826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PostgreSQL erzwingen (Standard ist Oracle); für PG nur Sicherheit verfügbar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570298B-3EE5-2A48-B01C-D27E7A2F2F52}"/>
              </a:ext>
            </a:extLst>
          </p:cNvPr>
          <p:cNvSpPr/>
          <p:nvPr/>
        </p:nvSpPr>
        <p:spPr>
          <a:xfrm>
            <a:off x="939800" y="5435600"/>
            <a:ext cx="4851400" cy="736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E5E7F8F-8506-1E49-877C-2CED87E6AEEA}"/>
              </a:ext>
            </a:extLst>
          </p:cNvPr>
          <p:cNvSpPr txBox="1"/>
          <p:nvPr/>
        </p:nvSpPr>
        <p:spPr>
          <a:xfrm>
            <a:off x="1066800" y="5613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7BD389"/>
                </a:solidFill>
                <a:latin typeface="Consolas"/>
                <a:cs typeface="Consolas"/>
              </a:rPr>
              <a:t>python3 aci.py code.sql -d postgresql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F47C9E5-384B-3744-98FE-AC72D0628A8C}"/>
              </a:ext>
            </a:extLst>
          </p:cNvPr>
          <p:cNvSpPr/>
          <p:nvPr/>
        </p:nvSpPr>
        <p:spPr>
          <a:xfrm>
            <a:off x="6223000" y="4343400"/>
            <a:ext cx="52070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DB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01495A-A530-7542-B8F8-3AB8B26BB8A2}"/>
              </a:ext>
            </a:extLst>
          </p:cNvPr>
          <p:cNvSpPr/>
          <p:nvPr/>
        </p:nvSpPr>
        <p:spPr>
          <a:xfrm>
            <a:off x="6400800" y="45212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2D22229-3A49-4648-8DAA-81E01B0D8445}"/>
              </a:ext>
            </a:extLst>
          </p:cNvPr>
          <p:cNvSpPr txBox="1"/>
          <p:nvPr/>
        </p:nvSpPr>
        <p:spPr>
          <a:xfrm>
            <a:off x="6908800" y="4546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HTML-Report in Verzeichnis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C065FE4-3EA2-E542-8737-FCB76A8F7CA8}"/>
              </a:ext>
            </a:extLst>
          </p:cNvPr>
          <p:cNvSpPr txBox="1"/>
          <p:nvPr/>
        </p:nvSpPr>
        <p:spPr>
          <a:xfrm>
            <a:off x="6908800" y="4826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555555"/>
                </a:solidFill>
              </a:rPr>
              <a:t>Nur Guidelines, HTML-Ausgabe in reports/-Ordner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7F3E734-63EE-A449-8737-A875BBDCF447}"/>
              </a:ext>
            </a:extLst>
          </p:cNvPr>
          <p:cNvSpPr/>
          <p:nvPr/>
        </p:nvSpPr>
        <p:spPr>
          <a:xfrm>
            <a:off x="6400800" y="5435600"/>
            <a:ext cx="4851400" cy="736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8F3E5DF-3EA8-984B-8AC7-BC543C603440}"/>
              </a:ext>
            </a:extLst>
          </p:cNvPr>
          <p:cNvSpPr txBox="1"/>
          <p:nvPr/>
        </p:nvSpPr>
        <p:spPr>
          <a:xfrm>
            <a:off x="6527800" y="56134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7BD389"/>
                </a:solidFill>
                <a:latin typeface="Consolas"/>
                <a:cs typeface="Consolas"/>
              </a:rPr>
              <a:t>python3 aci.py code.sql --group guidelines -f html -o reports/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6B671F7-B39E-E449-ABF9-42E1848B9726}"/>
              </a:ext>
            </a:extLst>
          </p:cNvPr>
          <p:cNvSpPr txBox="1"/>
          <p:nvPr/>
        </p:nvSpPr>
        <p:spPr>
          <a:xfrm>
            <a:off x="762000" y="64008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Mit  --list-checks  zeigt ACI die aktiven Checks und die Guideline-Abdeckung für den gewählten Dialekt.</a:t>
            </a:r>
          </a:p>
        </p:txBody>
      </p:sp>
    </p:spTree>
    <p:extLst>
      <p:ext uri="{BB962C8B-B14F-4D97-AF65-F5344CB8AC3E}">
        <p14:creationId xmlns:p14="http://schemas.microsoft.com/office/powerpoint/2010/main" val="2561110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1A20F5-B2EE-604A-8EC8-3DEE8BE71E1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ANPASSUNG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809252-5954-C84A-8ABF-C90F109F3D4A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Regeldateien — Aufbau einer Regel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C6D9B6D-97DE-1844-9D9E-8B590279622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661469D-6D90-2F4E-8284-97363602F385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Alle Regeln liegen außerhalb des Programmcodes. Eine Regel ist ein JSON-Objekt mit Metadaten und einem Detektor.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5E87621-AA5E-6B42-928D-1C4AABF49813}"/>
              </a:ext>
            </a:extLst>
          </p:cNvPr>
          <p:cNvSpPr/>
          <p:nvPr/>
        </p:nvSpPr>
        <p:spPr>
          <a:xfrm>
            <a:off x="762000" y="2032000"/>
            <a:ext cx="5842000" cy="3683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224A553-4684-7D49-86A8-A3E5C1D783D7}"/>
              </a:ext>
            </a:extLst>
          </p:cNvPr>
          <p:cNvSpPr/>
          <p:nvPr/>
        </p:nvSpPr>
        <p:spPr>
          <a:xfrm>
            <a:off x="762000" y="2032000"/>
            <a:ext cx="5842000" cy="355600"/>
          </a:xfrm>
          <a:prstGeom prst="rect">
            <a:avLst/>
          </a:prstGeom>
          <a:solidFill>
            <a:srgbClr val="1A3A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161CDA6-42C3-6543-BBBC-98B5821E97C7}"/>
              </a:ext>
            </a:extLst>
          </p:cNvPr>
          <p:cNvSpPr txBox="1"/>
          <p:nvPr/>
        </p:nvSpPr>
        <p:spPr>
          <a:xfrm>
            <a:off x="939800" y="21082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A0C4E8"/>
                </a:solidFill>
                <a:latin typeface="Consolas"/>
                <a:cs typeface="Consolas"/>
              </a:rPr>
              <a:t>rules/guidelines/oracle/g3_dml_and_sql.json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EE821-745E-8D46-AE10-CDD58183BCB6}"/>
              </a:ext>
            </a:extLst>
          </p:cNvPr>
          <p:cNvSpPr txBox="1"/>
          <p:nvPr/>
        </p:nvSpPr>
        <p:spPr>
          <a:xfrm>
            <a:off x="965200" y="2489200"/>
            <a:ext cx="5435600" cy="3073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E8EFF7"/>
                </a:solidFill>
                <a:latin typeface="Consolas"/>
                <a:cs typeface="Consolas"/>
              </a:rPr>
              <a:t>{
  "id": "G-3145",
  "title": "Kein SELECT * aus Tabelle oder View",
  "severity": "Major",
  "characteristics": "Maintainability, Reliability",
  "message": "Verwendung von SELECT *.",
  "recommendation": "Benötigte Spalten explizit aufzählen.",
  "url": "https://trivadis.github.io/.../g-3145/",
  "enabled": true,
  "detector": {
    "type": "regex",
    "target": "code",
    "pattern": "\\bSELECT\\s+\\*"
  }
}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F9CAEE8-BB87-B148-911B-B87AD76EA0A6}"/>
              </a:ext>
            </a:extLst>
          </p:cNvPr>
          <p:cNvSpPr txBox="1"/>
          <p:nvPr/>
        </p:nvSpPr>
        <p:spPr>
          <a:xfrm>
            <a:off x="6858000" y="2032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Felder einer Regel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F7B8036-6155-0B4D-A707-6FDE513069EA}"/>
              </a:ext>
            </a:extLst>
          </p:cNvPr>
          <p:cNvSpPr/>
          <p:nvPr/>
        </p:nvSpPr>
        <p:spPr>
          <a:xfrm>
            <a:off x="6858000" y="25019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0C835F8-AE5D-CA46-8D85-405BFD1EA0D8}"/>
              </a:ext>
            </a:extLst>
          </p:cNvPr>
          <p:cNvSpPr txBox="1"/>
          <p:nvPr/>
        </p:nvSpPr>
        <p:spPr>
          <a:xfrm>
            <a:off x="7010400" y="24384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id, title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C4FF654-BA22-154B-8BD0-41D060AF6299}"/>
              </a:ext>
            </a:extLst>
          </p:cNvPr>
          <p:cNvSpPr txBox="1"/>
          <p:nvPr/>
        </p:nvSpPr>
        <p:spPr>
          <a:xfrm>
            <a:off x="8483600" y="24384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Eindeutige Regel-ID + Anzeigename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E5AAF31-6511-B246-8D96-3F2F43A56F62}"/>
              </a:ext>
            </a:extLst>
          </p:cNvPr>
          <p:cNvSpPr/>
          <p:nvPr/>
        </p:nvSpPr>
        <p:spPr>
          <a:xfrm>
            <a:off x="6858000" y="29083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36288D-7F26-9F4D-8653-87D276D4A7E5}"/>
              </a:ext>
            </a:extLst>
          </p:cNvPr>
          <p:cNvSpPr txBox="1"/>
          <p:nvPr/>
        </p:nvSpPr>
        <p:spPr>
          <a:xfrm>
            <a:off x="7010400" y="28448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severity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F19FA22-3E53-BE4C-B873-43D01D2CA5AA}"/>
              </a:ext>
            </a:extLst>
          </p:cNvPr>
          <p:cNvSpPr txBox="1"/>
          <p:nvPr/>
        </p:nvSpPr>
        <p:spPr>
          <a:xfrm>
            <a:off x="8483600" y="28448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Schweregrad aus der Gruppen-Skala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DAF2453-60DD-1343-ABF1-FFECAA3025BE}"/>
              </a:ext>
            </a:extLst>
          </p:cNvPr>
          <p:cNvSpPr/>
          <p:nvPr/>
        </p:nvSpPr>
        <p:spPr>
          <a:xfrm>
            <a:off x="6858000" y="33147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F5E5D8-609F-2A4D-A8A7-DF40264BA430}"/>
              </a:ext>
            </a:extLst>
          </p:cNvPr>
          <p:cNvSpPr txBox="1"/>
          <p:nvPr/>
        </p:nvSpPr>
        <p:spPr>
          <a:xfrm>
            <a:off x="7010400" y="32512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message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2B70019-B5E4-BE4D-8FA2-6AC88DB6D42E}"/>
              </a:ext>
            </a:extLst>
          </p:cNvPr>
          <p:cNvSpPr txBox="1"/>
          <p:nvPr/>
        </p:nvSpPr>
        <p:spPr>
          <a:xfrm>
            <a:off x="8483600" y="32512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Text, der im Finding erscheint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76F7F95-C784-2448-ABC6-363AD12C6773}"/>
              </a:ext>
            </a:extLst>
          </p:cNvPr>
          <p:cNvSpPr/>
          <p:nvPr/>
        </p:nvSpPr>
        <p:spPr>
          <a:xfrm>
            <a:off x="6858000" y="37211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6293DDB-DEB6-364A-BFB3-AF5EF6534897}"/>
              </a:ext>
            </a:extLst>
          </p:cNvPr>
          <p:cNvSpPr txBox="1"/>
          <p:nvPr/>
        </p:nvSpPr>
        <p:spPr>
          <a:xfrm>
            <a:off x="7010400" y="36576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url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1310139-C814-B642-B58A-6711BF7206DC}"/>
              </a:ext>
            </a:extLst>
          </p:cNvPr>
          <p:cNvSpPr txBox="1"/>
          <p:nvPr/>
        </p:nvSpPr>
        <p:spPr>
          <a:xfrm>
            <a:off x="8483600" y="36576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Link zur Regelseite (z.B. Trivadis)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4CE8AC0-616A-584E-A939-8BA62CFC03E0}"/>
              </a:ext>
            </a:extLst>
          </p:cNvPr>
          <p:cNvSpPr/>
          <p:nvPr/>
        </p:nvSpPr>
        <p:spPr>
          <a:xfrm>
            <a:off x="6858000" y="41275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43E6A22-E8D3-C541-B8C8-DABDAFFAB14D}"/>
              </a:ext>
            </a:extLst>
          </p:cNvPr>
          <p:cNvSpPr txBox="1"/>
          <p:nvPr/>
        </p:nvSpPr>
        <p:spPr>
          <a:xfrm>
            <a:off x="7010400" y="40640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enabled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E8A3368-B1CF-1343-A192-D350299D49B6}"/>
              </a:ext>
            </a:extLst>
          </p:cNvPr>
          <p:cNvSpPr txBox="1"/>
          <p:nvPr/>
        </p:nvSpPr>
        <p:spPr>
          <a:xfrm>
            <a:off x="8483600" y="40640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Regel aktiv? (false = deaktiviert)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53E2FC5-BACB-3E4D-B649-F1DCD3E6E1F4}"/>
              </a:ext>
            </a:extLst>
          </p:cNvPr>
          <p:cNvSpPr/>
          <p:nvPr/>
        </p:nvSpPr>
        <p:spPr>
          <a:xfrm>
            <a:off x="6858000" y="45339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D83595E-D66F-3043-A175-FC3CBB427305}"/>
              </a:ext>
            </a:extLst>
          </p:cNvPr>
          <p:cNvSpPr txBox="1"/>
          <p:nvPr/>
        </p:nvSpPr>
        <p:spPr>
          <a:xfrm>
            <a:off x="7010400" y="44704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detector.type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E4E1622-85C6-774D-B02C-9A0ECE820E87}"/>
              </a:ext>
            </a:extLst>
          </p:cNvPr>
          <p:cNvSpPr txBox="1"/>
          <p:nvPr/>
        </p:nvSpPr>
        <p:spPr>
          <a:xfrm>
            <a:off x="8483600" y="44704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regex oder builtin (Sonderlogik)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60D6217-CC12-844D-A0CE-BD84550453DF}"/>
              </a:ext>
            </a:extLst>
          </p:cNvPr>
          <p:cNvSpPr/>
          <p:nvPr/>
        </p:nvSpPr>
        <p:spPr>
          <a:xfrm>
            <a:off x="6858000" y="49403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15A728E-3444-8C42-AA7D-164D7DA21559}"/>
              </a:ext>
            </a:extLst>
          </p:cNvPr>
          <p:cNvSpPr txBox="1"/>
          <p:nvPr/>
        </p:nvSpPr>
        <p:spPr>
          <a:xfrm>
            <a:off x="7010400" y="48768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detector.target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9E159B9-8ED4-A440-889E-2F167EAC8CF5}"/>
              </a:ext>
            </a:extLst>
          </p:cNvPr>
          <p:cNvSpPr txBox="1"/>
          <p:nvPr/>
        </p:nvSpPr>
        <p:spPr>
          <a:xfrm>
            <a:off x="8483600" y="48768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code (Quelltext) oder string (Inhalt von String-Literalen)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3D9509F-5850-5A48-96DD-15958D661E21}"/>
              </a:ext>
            </a:extLst>
          </p:cNvPr>
          <p:cNvSpPr/>
          <p:nvPr/>
        </p:nvSpPr>
        <p:spPr>
          <a:xfrm>
            <a:off x="6858000" y="5346700"/>
            <a:ext cx="381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DE83DD8-1057-C64D-B21E-8467E7843E65}"/>
              </a:ext>
            </a:extLst>
          </p:cNvPr>
          <p:cNvSpPr txBox="1"/>
          <p:nvPr/>
        </p:nvSpPr>
        <p:spPr>
          <a:xfrm>
            <a:off x="7010400" y="52832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detector.pattern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C46A7FB-D09A-E94E-B89C-CE4360B63D67}"/>
              </a:ext>
            </a:extLst>
          </p:cNvPr>
          <p:cNvSpPr txBox="1"/>
          <p:nvPr/>
        </p:nvSpPr>
        <p:spPr>
          <a:xfrm>
            <a:off x="8483600" y="5283200"/>
            <a:ext cx="29464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Regex; in JSON \\b statt \b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8E296C2-66BD-8144-89D9-0002FABA2ECD}"/>
              </a:ext>
            </a:extLst>
          </p:cNvPr>
          <p:cNvSpPr/>
          <p:nvPr/>
        </p:nvSpPr>
        <p:spPr>
          <a:xfrm>
            <a:off x="762000" y="5918200"/>
            <a:ext cx="10668000" cy="6350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ACC397E-42CF-9144-B58C-4B376DB750E3}"/>
              </a:ext>
            </a:extLst>
          </p:cNvPr>
          <p:cNvSpPr txBox="1"/>
          <p:nvPr/>
        </p:nvSpPr>
        <p:spPr>
          <a:xfrm>
            <a:off x="889000" y="6070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>
                <a:solidFill>
                  <a:srgbClr val="E97132"/>
                </a:solidFill>
              </a:rPr>
              <a:t>ℹ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6988A78-16FA-0D47-B886-A28287F4E648}"/>
              </a:ext>
            </a:extLst>
          </p:cNvPr>
          <p:cNvSpPr txBox="1"/>
          <p:nvPr/>
        </p:nvSpPr>
        <p:spPr>
          <a:xfrm>
            <a:off x="1219200" y="6045200"/>
            <a:ext cx="10134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Auf gültiges JSON achten — Rückwärtsstriche in regulären Ausdrücken JSON-konform verdoppeln (\\b). ACI prüft jede Regeldatei beim Laden und meldet Fehler verständlich.</a:t>
            </a:r>
          </a:p>
        </p:txBody>
      </p:sp>
    </p:spTree>
    <p:extLst>
      <p:ext uri="{BB962C8B-B14F-4D97-AF65-F5344CB8AC3E}">
        <p14:creationId xmlns:p14="http://schemas.microsoft.com/office/powerpoint/2010/main" val="3098198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1EE0939-1F80-3842-9CB2-A191D0365B3A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ANPASSUNG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54D2B8-7A4E-DB41-89FF-5FDC91C99BAC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Eigene Regel hinzufügen — vier Schritte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1525A8D-F5C5-B14E-AADE-41A810A2CF97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5C541B6-75E1-2046-AE52-31E88B3BB4F9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Neue Regeln brauchen i.d.R. keinen Code — nur einen weiteren Eintrag in der passenden JSON-Datei.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EA7B75E-AAF2-5447-8376-A74674D88F84}"/>
              </a:ext>
            </a:extLst>
          </p:cNvPr>
          <p:cNvSpPr/>
          <p:nvPr/>
        </p:nvSpPr>
        <p:spPr>
          <a:xfrm>
            <a:off x="762000" y="20574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336D89B-6D0E-9C44-9547-5D7976EFED7B}"/>
              </a:ext>
            </a:extLst>
          </p:cNvPr>
          <p:cNvSpPr/>
          <p:nvPr/>
        </p:nvSpPr>
        <p:spPr>
          <a:xfrm>
            <a:off x="762000" y="2057400"/>
            <a:ext cx="2540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2FA8F3-0FB4-1B40-80A8-A3B8504F7801}"/>
              </a:ext>
            </a:extLst>
          </p:cNvPr>
          <p:cNvSpPr txBox="1"/>
          <p:nvPr/>
        </p:nvSpPr>
        <p:spPr>
          <a:xfrm>
            <a:off x="762000" y="228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200" b="1">
                <a:solidFill>
                  <a:srgbClr val="156082"/>
                </a:solidFill>
                <a:latin typeface="Calibri Light"/>
                <a:cs typeface="Calibri Light"/>
              </a:rPr>
              <a:t>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0760D5C-D986-CB4A-9308-C2759649A698}"/>
              </a:ext>
            </a:extLst>
          </p:cNvPr>
          <p:cNvSpPr txBox="1"/>
          <p:nvPr/>
        </p:nvSpPr>
        <p:spPr>
          <a:xfrm>
            <a:off x="889000" y="3200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Kategorie wählen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9196FC0-4993-774B-9D1E-D850C5B70748}"/>
              </a:ext>
            </a:extLst>
          </p:cNvPr>
          <p:cNvSpPr txBox="1"/>
          <p:nvPr/>
        </p:nvSpPr>
        <p:spPr>
          <a:xfrm>
            <a:off x="939800" y="36068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Sicherheit: rules/oracle.json oder rules/postgresql.json. Guidelines: rules/guidelines/oracle/gN_*.json je Trivadis-Kategorie.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53537C0-373A-BA41-A94A-FEC985E3A1BA}"/>
              </a:ext>
            </a:extLst>
          </p:cNvPr>
          <p:cNvSpPr/>
          <p:nvPr/>
        </p:nvSpPr>
        <p:spPr>
          <a:xfrm>
            <a:off x="3467100" y="20574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398F747-83E7-B849-BD11-653EEA786796}"/>
              </a:ext>
            </a:extLst>
          </p:cNvPr>
          <p:cNvSpPr/>
          <p:nvPr/>
        </p:nvSpPr>
        <p:spPr>
          <a:xfrm>
            <a:off x="3467100" y="2057400"/>
            <a:ext cx="2540000" cy="762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17DD2FB-B645-A046-8301-DC2AB4A009FD}"/>
              </a:ext>
            </a:extLst>
          </p:cNvPr>
          <p:cNvSpPr txBox="1"/>
          <p:nvPr/>
        </p:nvSpPr>
        <p:spPr>
          <a:xfrm>
            <a:off x="3467100" y="228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200" b="1">
                <a:solidFill>
                  <a:srgbClr val="0F9ED5"/>
                </a:solidFill>
                <a:latin typeface="Calibri Light"/>
                <a:cs typeface="Calibri Light"/>
              </a:rPr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3C535A-71CB-1549-89AC-FF283E0558F2}"/>
              </a:ext>
            </a:extLst>
          </p:cNvPr>
          <p:cNvSpPr txBox="1"/>
          <p:nvPr/>
        </p:nvSpPr>
        <p:spPr>
          <a:xfrm>
            <a:off x="3594100" y="3200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JSON-Eintrag ergänzen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529024A-893B-F240-AA8A-49F2AD05A0AB}"/>
              </a:ext>
            </a:extLst>
          </p:cNvPr>
          <p:cNvSpPr txBox="1"/>
          <p:nvPr/>
        </p:nvSpPr>
        <p:spPr>
          <a:xfrm>
            <a:off x="3644900" y="36068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Neues Objekt mit id, title, severity, message, recommendation, url, enabled und detector. Bestehende Einträge als Vorlage nutzen.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D33A6F-EDF7-9141-8DE2-8C276F6C6B25}"/>
              </a:ext>
            </a:extLst>
          </p:cNvPr>
          <p:cNvSpPr/>
          <p:nvPr/>
        </p:nvSpPr>
        <p:spPr>
          <a:xfrm>
            <a:off x="6172200" y="20574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92D3465-424A-F845-8846-CD10C3C9453D}"/>
              </a:ext>
            </a:extLst>
          </p:cNvPr>
          <p:cNvSpPr/>
          <p:nvPr/>
        </p:nvSpPr>
        <p:spPr>
          <a:xfrm>
            <a:off x="6172200" y="2057400"/>
            <a:ext cx="2540000" cy="76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EEC6783-B841-114C-906B-1FF12BDD6C84}"/>
              </a:ext>
            </a:extLst>
          </p:cNvPr>
          <p:cNvSpPr txBox="1"/>
          <p:nvPr/>
        </p:nvSpPr>
        <p:spPr>
          <a:xfrm>
            <a:off x="6172200" y="228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200" b="1">
                <a:solidFill>
                  <a:srgbClr val="E97132"/>
                </a:solidFill>
                <a:latin typeface="Calibri Light"/>
                <a:cs typeface="Calibri Light"/>
              </a:rPr>
              <a:t>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5A9E7F8-6AF6-9A4B-8BDA-615E26F0C2B8}"/>
              </a:ext>
            </a:extLst>
          </p:cNvPr>
          <p:cNvSpPr txBox="1"/>
          <p:nvPr/>
        </p:nvSpPr>
        <p:spPr>
          <a:xfrm>
            <a:off x="6299200" y="3200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Detector wählen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82528DA-30F9-D643-989A-043FE3A98696}"/>
              </a:ext>
            </a:extLst>
          </p:cNvPr>
          <p:cNvSpPr txBox="1"/>
          <p:nvPr/>
        </p:nvSpPr>
        <p:spPr>
          <a:xfrm>
            <a:off x="6350000" y="36068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type: regex (pattern + target) oder type: builtin (benannter Detektor mit Sonderlogik). Pattern in JSON: \\b statt \b.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7536240-CB78-BD4B-9575-8C82EE084155}"/>
              </a:ext>
            </a:extLst>
          </p:cNvPr>
          <p:cNvSpPr/>
          <p:nvPr/>
        </p:nvSpPr>
        <p:spPr>
          <a:xfrm>
            <a:off x="8877300" y="20574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EC0E42D-28AC-E249-9063-C3BAF197B1A5}"/>
              </a:ext>
            </a:extLst>
          </p:cNvPr>
          <p:cNvSpPr/>
          <p:nvPr/>
        </p:nvSpPr>
        <p:spPr>
          <a:xfrm>
            <a:off x="8877300" y="2057400"/>
            <a:ext cx="2540000" cy="76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8CD39F5-73DA-1C48-A1FE-8BAA4F767F60}"/>
              </a:ext>
            </a:extLst>
          </p:cNvPr>
          <p:cNvSpPr txBox="1"/>
          <p:nvPr/>
        </p:nvSpPr>
        <p:spPr>
          <a:xfrm>
            <a:off x="8877300" y="228600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200" b="1">
                <a:solidFill>
                  <a:srgbClr val="196B24"/>
                </a:solidFill>
                <a:latin typeface="Calibri Light"/>
                <a:cs typeface="Calibri Light"/>
              </a:rPr>
              <a:t>4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E12F945-B4DD-B645-8DD4-28473117304F}"/>
              </a:ext>
            </a:extLst>
          </p:cNvPr>
          <p:cNvSpPr txBox="1"/>
          <p:nvPr/>
        </p:nvSpPr>
        <p:spPr>
          <a:xfrm>
            <a:off x="9004300" y="3200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Validieren &amp; testen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4EE5D8B-929C-254C-93B8-DEB6370285B7}"/>
              </a:ext>
            </a:extLst>
          </p:cNvPr>
          <p:cNvSpPr txBox="1"/>
          <p:nvPr/>
        </p:nvSpPr>
        <p:spPr>
          <a:xfrm>
            <a:off x="9055100" y="36068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Mit python3 aci.py samples/... auf einer Beispieldatei laufen lassen. --list-checks zeigt die Regel als aktiv.</a:t>
            </a:r>
          </a:p>
        </p:txBody>
      </p:sp>
      <p:sp>
        <p:nvSpPr>
          <p:cNvPr id="26" name="Pfeil nach rechts 25">
            <a:extLst>
              <a:ext uri="{FF2B5EF4-FFF2-40B4-BE49-F238E27FC236}">
                <a16:creationId xmlns:a16="http://schemas.microsoft.com/office/drawing/2014/main" id="{D9A52282-359A-2245-908D-5F9F0C7A2393}"/>
              </a:ext>
            </a:extLst>
          </p:cNvPr>
          <p:cNvSpPr/>
          <p:nvPr/>
        </p:nvSpPr>
        <p:spPr>
          <a:xfrm>
            <a:off x="3314700" y="3492500"/>
            <a:ext cx="1397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Pfeil nach rechts 26">
            <a:extLst>
              <a:ext uri="{FF2B5EF4-FFF2-40B4-BE49-F238E27FC236}">
                <a16:creationId xmlns:a16="http://schemas.microsoft.com/office/drawing/2014/main" id="{243CB3F4-20E6-5B44-A568-BA968F283084}"/>
              </a:ext>
            </a:extLst>
          </p:cNvPr>
          <p:cNvSpPr/>
          <p:nvPr/>
        </p:nvSpPr>
        <p:spPr>
          <a:xfrm>
            <a:off x="6019800" y="3492500"/>
            <a:ext cx="1397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Pfeil nach rechts 27">
            <a:extLst>
              <a:ext uri="{FF2B5EF4-FFF2-40B4-BE49-F238E27FC236}">
                <a16:creationId xmlns:a16="http://schemas.microsoft.com/office/drawing/2014/main" id="{ACFC7A81-586D-8D43-8AC0-2FDD8CFA2801}"/>
              </a:ext>
            </a:extLst>
          </p:cNvPr>
          <p:cNvSpPr/>
          <p:nvPr/>
        </p:nvSpPr>
        <p:spPr>
          <a:xfrm>
            <a:off x="8724900" y="3492500"/>
            <a:ext cx="1397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358558B-0460-D748-A059-C0C6C07ABC10}"/>
              </a:ext>
            </a:extLst>
          </p:cNvPr>
          <p:cNvSpPr/>
          <p:nvPr/>
        </p:nvSpPr>
        <p:spPr>
          <a:xfrm>
            <a:off x="762000" y="5410200"/>
            <a:ext cx="10668000" cy="1016000"/>
          </a:xfrm>
          <a:prstGeom prst="rect">
            <a:avLst/>
          </a:prstGeom>
          <a:solidFill>
            <a:srgbClr val="F4FAF5"/>
          </a:solidFill>
          <a:ln w="1270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A3CCA74-22FA-994C-9DB4-98F243D7FEC9}"/>
              </a:ext>
            </a:extLst>
          </p:cNvPr>
          <p:cNvSpPr/>
          <p:nvPr/>
        </p:nvSpPr>
        <p:spPr>
          <a:xfrm>
            <a:off x="762000" y="5410200"/>
            <a:ext cx="63500" cy="1016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23B7884-2669-A14B-8A8B-F870490B5682}"/>
              </a:ext>
            </a:extLst>
          </p:cNvPr>
          <p:cNvSpPr txBox="1"/>
          <p:nvPr/>
        </p:nvSpPr>
        <p:spPr>
          <a:xfrm>
            <a:off x="1016000" y="5588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VORTEIL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558ED72-030E-3D40-A17E-D593C1D339AA}"/>
              </a:ext>
            </a:extLst>
          </p:cNvPr>
          <p:cNvSpPr txBox="1"/>
          <p:nvPr/>
        </p:nvSpPr>
        <p:spPr>
          <a:xfrm>
            <a:off x="1219200" y="5791200"/>
            <a:ext cx="10134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</a:rPr>
              <a:t>Regeln sind Daten — kein Python-Code, kein Build-Schritt, kein Restart. Eine neue Regel ist mit einem Pull-Request auf eine JSON-Datei einsatzbereit. Das Team pflegt seinen eigenen Regelstand außerhalb des Programmcodes; der Ruleset-Hash macht den verwendeten Stand jederzeit überprüfbar.</a:t>
            </a:r>
          </a:p>
        </p:txBody>
      </p:sp>
    </p:spTree>
    <p:extLst>
      <p:ext uri="{BB962C8B-B14F-4D97-AF65-F5344CB8AC3E}">
        <p14:creationId xmlns:p14="http://schemas.microsoft.com/office/powerpoint/2010/main" val="948638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EE95E5B-DB09-EB4A-84C1-B61D4E18081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TEIL 5 · REPORTFORMATE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0C361F0-CDEC-C94C-82EE-7A1E8B44E39F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Vier Formate, vier Anwendungsfälle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64617F5-7CC1-7E42-925B-58A04AC1B4C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BE8B93-35BC-A742-BE04-F86E4A406B26}"/>
              </a:ext>
            </a:extLst>
          </p:cNvPr>
          <p:cNvSpPr txBox="1"/>
          <p:nvPr/>
        </p:nvSpPr>
        <p:spPr>
          <a:xfrm>
            <a:off x="762000" y="1625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--format console,json,html,sarif — kommagetrennt kombinierbar. Alle Formate trennen Sicherheit und Coding Guidelines mit eigenen Schweregrad-Zusammenfassungen.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B598AD6-9669-FB45-81A5-BD8B6F4D48E6}"/>
              </a:ext>
            </a:extLst>
          </p:cNvPr>
          <p:cNvSpPr/>
          <p:nvPr/>
        </p:nvSpPr>
        <p:spPr>
          <a:xfrm>
            <a:off x="762000" y="2222500"/>
            <a:ext cx="25400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C8CC15D-A06B-9044-9212-C1B0CBB5A93D}"/>
              </a:ext>
            </a:extLst>
          </p:cNvPr>
          <p:cNvSpPr/>
          <p:nvPr/>
        </p:nvSpPr>
        <p:spPr>
          <a:xfrm>
            <a:off x="762000" y="2222500"/>
            <a:ext cx="2540000" cy="762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A95B9FE-DF9C-A248-8E0C-E64227C7840D}"/>
              </a:ext>
            </a:extLst>
          </p:cNvPr>
          <p:cNvSpPr txBox="1"/>
          <p:nvPr/>
        </p:nvSpPr>
        <p:spPr>
          <a:xfrm>
            <a:off x="939800" y="2400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▤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9E7D4A0-687C-4440-AB82-BE9702DDAE72}"/>
              </a:ext>
            </a:extLst>
          </p:cNvPr>
          <p:cNvSpPr txBox="1"/>
          <p:nvPr/>
        </p:nvSpPr>
        <p:spPr>
          <a:xfrm>
            <a:off x="1498600" y="24511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Console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802588F-A12F-2C4D-A059-5B058F454D25}"/>
              </a:ext>
            </a:extLst>
          </p:cNvPr>
          <p:cNvSpPr txBox="1"/>
          <p:nvPr/>
        </p:nvSpPr>
        <p:spPr>
          <a:xfrm>
            <a:off x="965200" y="3187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156082"/>
                </a:solidFill>
              </a:rPr>
              <a:t>BUILD-LOG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E111A6F-C3F2-0945-B01A-90218F6BADF1}"/>
              </a:ext>
            </a:extLst>
          </p:cNvPr>
          <p:cNvSpPr/>
          <p:nvPr/>
        </p:nvSpPr>
        <p:spPr>
          <a:xfrm>
            <a:off x="965200" y="3467100"/>
            <a:ext cx="381000" cy="25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E3AAE60-52DF-D440-8102-A9C6216BF833}"/>
              </a:ext>
            </a:extLst>
          </p:cNvPr>
          <p:cNvSpPr txBox="1"/>
          <p:nvPr/>
        </p:nvSpPr>
        <p:spPr>
          <a:xfrm>
            <a:off x="965200" y="3619500"/>
            <a:ext cx="2133600" cy="215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Farbiger Textreport, je Gruppe ein eigener Abschnitt. Mit --no-color ohne ANSI-Farben für CI-Logs.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7165609-4489-1147-B5F5-E136DBB0EF5F}"/>
              </a:ext>
            </a:extLst>
          </p:cNvPr>
          <p:cNvSpPr/>
          <p:nvPr/>
        </p:nvSpPr>
        <p:spPr>
          <a:xfrm>
            <a:off x="3467100" y="2222500"/>
            <a:ext cx="25400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A5A5D1B-30B1-3546-AA34-2706919B775E}"/>
              </a:ext>
            </a:extLst>
          </p:cNvPr>
          <p:cNvSpPr/>
          <p:nvPr/>
        </p:nvSpPr>
        <p:spPr>
          <a:xfrm>
            <a:off x="3467100" y="2222500"/>
            <a:ext cx="2540000" cy="762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F0C52F-C42A-604D-8649-4BBC65EA8922}"/>
              </a:ext>
            </a:extLst>
          </p:cNvPr>
          <p:cNvSpPr txBox="1"/>
          <p:nvPr/>
        </p:nvSpPr>
        <p:spPr>
          <a:xfrm>
            <a:off x="3644900" y="2400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{ }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5E90084-3F3D-964E-B5C4-C9ABA87532B8}"/>
              </a:ext>
            </a:extLst>
          </p:cNvPr>
          <p:cNvSpPr txBox="1"/>
          <p:nvPr/>
        </p:nvSpPr>
        <p:spPr>
          <a:xfrm>
            <a:off x="4203700" y="24511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48F7E35-29C3-C847-A37B-9902E97216D5}"/>
              </a:ext>
            </a:extLst>
          </p:cNvPr>
          <p:cNvSpPr txBox="1"/>
          <p:nvPr/>
        </p:nvSpPr>
        <p:spPr>
          <a:xfrm>
            <a:off x="3670300" y="3187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0F9ED5"/>
                </a:solidFill>
              </a:rPr>
              <a:t>ARCHIVIERUNG &amp; AUSWERTUNG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5E2A171-6AD5-CB4C-A935-BC1FA4F00873}"/>
              </a:ext>
            </a:extLst>
          </p:cNvPr>
          <p:cNvSpPr/>
          <p:nvPr/>
        </p:nvSpPr>
        <p:spPr>
          <a:xfrm>
            <a:off x="3670300" y="3467100"/>
            <a:ext cx="381000" cy="25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84D2BF9-35B9-4045-8A6D-BE40957D1AA3}"/>
              </a:ext>
            </a:extLst>
          </p:cNvPr>
          <p:cNvSpPr txBox="1"/>
          <p:nvPr/>
        </p:nvSpPr>
        <p:spPr>
          <a:xfrm>
            <a:off x="3670300" y="3619500"/>
            <a:ext cx="2133600" cy="215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Maschinenlesbar. Enthält scanner_config, ruleset.integrity, ggf. waivers-Block, je Finding group/severity/fingerprint.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75A97C1-109E-A24D-BBE0-D0F1367D55B4}"/>
              </a:ext>
            </a:extLst>
          </p:cNvPr>
          <p:cNvSpPr/>
          <p:nvPr/>
        </p:nvSpPr>
        <p:spPr>
          <a:xfrm>
            <a:off x="6172200" y="2222500"/>
            <a:ext cx="25400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68469A6-0F29-0E4A-8F41-ED45032B1733}"/>
              </a:ext>
            </a:extLst>
          </p:cNvPr>
          <p:cNvSpPr/>
          <p:nvPr/>
        </p:nvSpPr>
        <p:spPr>
          <a:xfrm>
            <a:off x="6172200" y="2222500"/>
            <a:ext cx="2540000" cy="762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9F08FB5-4D7F-834D-84D2-EFE15A74E853}"/>
              </a:ext>
            </a:extLst>
          </p:cNvPr>
          <p:cNvSpPr txBox="1"/>
          <p:nvPr/>
        </p:nvSpPr>
        <p:spPr>
          <a:xfrm>
            <a:off x="6350000" y="2400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◧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0AC0ED5-623C-CA4E-BE6B-897FEAE713C3}"/>
              </a:ext>
            </a:extLst>
          </p:cNvPr>
          <p:cNvSpPr txBox="1"/>
          <p:nvPr/>
        </p:nvSpPr>
        <p:spPr>
          <a:xfrm>
            <a:off x="6908800" y="24511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61B84B0-779A-EB4F-90D7-377FF259E44C}"/>
              </a:ext>
            </a:extLst>
          </p:cNvPr>
          <p:cNvSpPr txBox="1"/>
          <p:nvPr/>
        </p:nvSpPr>
        <p:spPr>
          <a:xfrm>
            <a:off x="6375400" y="3187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196B24"/>
                </a:solidFill>
              </a:rPr>
              <a:t>REVIEW IM BROWSER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9716242-AFBC-C249-ABF1-D3A4142ED79D}"/>
              </a:ext>
            </a:extLst>
          </p:cNvPr>
          <p:cNvSpPr/>
          <p:nvPr/>
        </p:nvSpPr>
        <p:spPr>
          <a:xfrm>
            <a:off x="6375400" y="3467100"/>
            <a:ext cx="381000" cy="25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7DB2A6-1288-B840-A6AE-D3AAB1A73E20}"/>
              </a:ext>
            </a:extLst>
          </p:cNvPr>
          <p:cNvSpPr txBox="1"/>
          <p:nvPr/>
        </p:nvSpPr>
        <p:spPr>
          <a:xfrm>
            <a:off x="6375400" y="3619500"/>
            <a:ext cx="2133600" cy="215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Eigenständige HTML-Seite mit Kennzahlen-Karten je Gruppe. --html-group-by wählt rule oder file als Gruppierung.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FDA9A23-61B3-A647-BC31-343E609E3211}"/>
              </a:ext>
            </a:extLst>
          </p:cNvPr>
          <p:cNvSpPr/>
          <p:nvPr/>
        </p:nvSpPr>
        <p:spPr>
          <a:xfrm>
            <a:off x="8877300" y="2222500"/>
            <a:ext cx="2540000" cy="374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ABDD3CE-9270-BA40-8C2F-F6BFBBDAA154}"/>
              </a:ext>
            </a:extLst>
          </p:cNvPr>
          <p:cNvSpPr/>
          <p:nvPr/>
        </p:nvSpPr>
        <p:spPr>
          <a:xfrm>
            <a:off x="8877300" y="2222500"/>
            <a:ext cx="2540000" cy="762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6E92DA2-537A-C343-9050-2CF938F33A50}"/>
              </a:ext>
            </a:extLst>
          </p:cNvPr>
          <p:cNvSpPr txBox="1"/>
          <p:nvPr/>
        </p:nvSpPr>
        <p:spPr>
          <a:xfrm>
            <a:off x="9055100" y="2400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◈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8488685-7F73-864A-879E-5CF7541D97A1}"/>
              </a:ext>
            </a:extLst>
          </p:cNvPr>
          <p:cNvSpPr txBox="1"/>
          <p:nvPr/>
        </p:nvSpPr>
        <p:spPr>
          <a:xfrm>
            <a:off x="9613900" y="24511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SARIF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C699B12-F2AC-D041-A529-E54E8984DA63}"/>
              </a:ext>
            </a:extLst>
          </p:cNvPr>
          <p:cNvSpPr txBox="1"/>
          <p:nvPr/>
        </p:nvSpPr>
        <p:spPr>
          <a:xfrm>
            <a:off x="9080500" y="3187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A02B93"/>
                </a:solidFill>
              </a:rPr>
              <a:t>CODE-SCANNING-INTEGRATION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437A477-0C29-2F4D-B9F2-AD208070B216}"/>
              </a:ext>
            </a:extLst>
          </p:cNvPr>
          <p:cNvSpPr/>
          <p:nvPr/>
        </p:nvSpPr>
        <p:spPr>
          <a:xfrm>
            <a:off x="9080500" y="3467100"/>
            <a:ext cx="381000" cy="254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A3EFA53-F436-F342-BA65-51CF5C21AF43}"/>
              </a:ext>
            </a:extLst>
          </p:cNvPr>
          <p:cNvSpPr txBox="1"/>
          <p:nvPr/>
        </p:nvSpPr>
        <p:spPr>
          <a:xfrm>
            <a:off x="9080500" y="3619500"/>
            <a:ext cx="2133600" cy="215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SARIF 2.1.0 für GitHub-/GitLab-/Azure-DevOps-Dashboards. Regelkatalog je check_id:rule_ref, Waiver als suppressions.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8447C68-9081-F646-8192-55B6DC950183}"/>
              </a:ext>
            </a:extLst>
          </p:cNvPr>
          <p:cNvSpPr txBox="1"/>
          <p:nvPr/>
        </p:nvSpPr>
        <p:spPr>
          <a:xfrm>
            <a:off x="762000" y="6197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156082"/>
                </a:solidFill>
              </a:rPr>
              <a:t>▶  Alle Formate akzeptieren --safe-report (= --no-context + --redact-secrets) für gefahrlose Archivierung als CI-Artefakt.</a:t>
            </a:r>
          </a:p>
        </p:txBody>
      </p:sp>
    </p:spTree>
    <p:extLst>
      <p:ext uri="{BB962C8B-B14F-4D97-AF65-F5344CB8AC3E}">
        <p14:creationId xmlns:p14="http://schemas.microsoft.com/office/powerpoint/2010/main" val="2723681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5A4B855-6731-1E4A-8D98-0F867AE5FAEB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REPORTFORMATE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27FFC3C-7B66-9347-A402-39D4A69BB762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Konsole &amp; JSON im Detail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31DC366-B0B1-EC46-8CB5-47195BEC718A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792A9AF-F6C1-A041-853B-90402220485D}"/>
              </a:ext>
            </a:extLst>
          </p:cNvPr>
          <p:cNvSpPr/>
          <p:nvPr/>
        </p:nvSpPr>
        <p:spPr>
          <a:xfrm>
            <a:off x="762000" y="1778000"/>
            <a:ext cx="5207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A5A8078-CB77-5344-96FB-D6C5038AFAB1}"/>
              </a:ext>
            </a:extLst>
          </p:cNvPr>
          <p:cNvSpPr/>
          <p:nvPr/>
        </p:nvSpPr>
        <p:spPr>
          <a:xfrm>
            <a:off x="762000" y="1778000"/>
            <a:ext cx="5207000" cy="482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A4D5B08-8411-B141-8DA4-FECE55C4D893}"/>
              </a:ext>
            </a:extLst>
          </p:cNvPr>
          <p:cNvSpPr txBox="1"/>
          <p:nvPr/>
        </p:nvSpPr>
        <p:spPr>
          <a:xfrm>
            <a:off x="939800" y="18796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▤   Konsole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B9239CC-2E79-214E-91FC-8E5FB838D9EB}"/>
              </a:ext>
            </a:extLst>
          </p:cNvPr>
          <p:cNvSpPr/>
          <p:nvPr/>
        </p:nvSpPr>
        <p:spPr>
          <a:xfrm>
            <a:off x="965200" y="2463800"/>
            <a:ext cx="4800600" cy="2336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84BAA2F-62A4-A64E-BC3D-AFF1976F77F6}"/>
              </a:ext>
            </a:extLst>
          </p:cNvPr>
          <p:cNvSpPr txBox="1"/>
          <p:nvPr/>
        </p:nvSpPr>
        <p:spPr>
          <a:xfrm>
            <a:off x="1041400" y="2540000"/>
            <a:ext cx="4648200" cy="203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$ python3 </a:t>
            </a:r>
            <a:r>
              <a:rPr lang="de-DE" sz="1000" dirty="0" err="1">
                <a:solidFill>
                  <a:srgbClr val="D4D4D4"/>
                </a:solidFill>
                <a:latin typeface="Consolas"/>
                <a:cs typeface="Consolas"/>
              </a:rPr>
              <a:t>aci.py</a:t>
            </a:r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lang="de-DE" sz="1000" dirty="0" err="1">
                <a:solidFill>
                  <a:srgbClr val="D4D4D4"/>
                </a:solidFill>
                <a:latin typeface="Consolas"/>
                <a:cs typeface="Consolas"/>
              </a:rPr>
              <a:t>samples</a:t>
            </a:r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/</a:t>
            </a:r>
            <a:r>
              <a:rPr lang="de-DE" sz="1000" dirty="0" err="1">
                <a:solidFill>
                  <a:srgbClr val="D4D4D4"/>
                </a:solidFill>
                <a:latin typeface="Consolas"/>
                <a:cs typeface="Consolas"/>
              </a:rPr>
              <a:t>vulnerable_oracle.sql</a:t>
            </a:r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
── Sicherheit ────────────────────────
  [CRIT]  ACI-SQLI  app.sql:42:7
          1st-order SQL-</a:t>
            </a:r>
            <a:r>
              <a:rPr lang="de-DE" sz="1000" dirty="0" err="1">
                <a:solidFill>
                  <a:srgbClr val="D4D4D4"/>
                </a:solidFill>
                <a:latin typeface="Consolas"/>
                <a:cs typeface="Consolas"/>
              </a:rPr>
              <a:t>Injection</a:t>
            </a:r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
  [HIGH]  ACI-PKG   app.sql:11:5
          UTL_HTTP nicht erlaubt
── Coding Guidelines ─────────────────
  [MAJ]   G-3145    proc.sql:18
          SELECT * vermeiden
Regeln  </a:t>
            </a:r>
            <a:r>
              <a:rPr lang="de-DE" sz="1000" dirty="0" err="1">
                <a:solidFill>
                  <a:srgbClr val="D4D4D4"/>
                </a:solidFill>
                <a:latin typeface="Consolas"/>
                <a:cs typeface="Consolas"/>
              </a:rPr>
              <a:t>bundled</a:t>
            </a:r>
            <a:r>
              <a:rPr lang="de-DE" sz="1000" dirty="0">
                <a:solidFill>
                  <a:srgbClr val="D4D4D4"/>
                </a:solidFill>
                <a:latin typeface="Consolas"/>
                <a:cs typeface="Consolas"/>
              </a:rPr>
              <a:t>  (Hash 8f3a…)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DE56D0F-4DC6-3242-831C-0C6EC1E439F6}"/>
              </a:ext>
            </a:extLst>
          </p:cNvPr>
          <p:cNvSpPr txBox="1"/>
          <p:nvPr/>
        </p:nvSpPr>
        <p:spPr>
          <a:xfrm>
            <a:off x="965200" y="4914900"/>
            <a:ext cx="4800600" cy="13335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dirty="0">
                <a:solidFill>
                  <a:srgbClr val="1A1A1A"/>
                </a:solidFill>
              </a:rPr>
              <a:t>•  Je Gruppe ein eigener Abschnitt mit Schweregrad-Zählern
•  Farbig per ANSI; --</a:t>
            </a:r>
            <a:r>
              <a:rPr lang="de-DE" sz="1200" dirty="0" err="1">
                <a:solidFill>
                  <a:srgbClr val="1A1A1A"/>
                </a:solidFill>
              </a:rPr>
              <a:t>no</a:t>
            </a:r>
            <a:r>
              <a:rPr lang="de-DE" sz="1200" dirty="0">
                <a:solidFill>
                  <a:srgbClr val="1A1A1A"/>
                </a:solidFill>
              </a:rPr>
              <a:t>-color für CI-Logs
•  Zeile »Regeln« zeigt </a:t>
            </a:r>
            <a:r>
              <a:rPr lang="de-DE" sz="1200" dirty="0" err="1">
                <a:solidFill>
                  <a:srgbClr val="1A1A1A"/>
                </a:solidFill>
              </a:rPr>
              <a:t>Ruleset</a:t>
            </a:r>
            <a:r>
              <a:rPr lang="de-DE" sz="1200" dirty="0">
                <a:solidFill>
                  <a:srgbClr val="1A1A1A"/>
                </a:solidFill>
              </a:rPr>
              <a:t>-Hash und Vertrauensstatus
•  Standardformat, wenn kein --format gesetzt ist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29B45C2-FE6C-D440-9B0E-80C818F18E0E}"/>
              </a:ext>
            </a:extLst>
          </p:cNvPr>
          <p:cNvSpPr/>
          <p:nvPr/>
        </p:nvSpPr>
        <p:spPr>
          <a:xfrm>
            <a:off x="6223000" y="1778000"/>
            <a:ext cx="5207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1B33260-9030-1043-A8CB-FAE17E544CE0}"/>
              </a:ext>
            </a:extLst>
          </p:cNvPr>
          <p:cNvSpPr/>
          <p:nvPr/>
        </p:nvSpPr>
        <p:spPr>
          <a:xfrm>
            <a:off x="6223000" y="1778000"/>
            <a:ext cx="5207000" cy="4826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D37AA15-CB75-594D-9CDF-6DF59D66F2BA}"/>
              </a:ext>
            </a:extLst>
          </p:cNvPr>
          <p:cNvSpPr txBox="1"/>
          <p:nvPr/>
        </p:nvSpPr>
        <p:spPr>
          <a:xfrm>
            <a:off x="6400800" y="18796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{ }   JSON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B85E735-CCEE-224C-84B1-F9015F850C33}"/>
              </a:ext>
            </a:extLst>
          </p:cNvPr>
          <p:cNvSpPr/>
          <p:nvPr/>
        </p:nvSpPr>
        <p:spPr>
          <a:xfrm>
            <a:off x="6426200" y="2463800"/>
            <a:ext cx="4800600" cy="23622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7ED9991-CDE3-CD41-BA46-D52039D0EC2D}"/>
              </a:ext>
            </a:extLst>
          </p:cNvPr>
          <p:cNvSpPr txBox="1"/>
          <p:nvPr/>
        </p:nvSpPr>
        <p:spPr>
          <a:xfrm>
            <a:off x="6502400" y="2540000"/>
            <a:ext cx="4648200" cy="2260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{
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scanner_config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{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dialect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oracle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 },
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ruleset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{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integrity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"8f3ade…",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trusted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true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
  },
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findings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[{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group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security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",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severity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"Critical",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rule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"ACI-SQLI",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fingerprint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"39e7c95257…",
  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file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app.sql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",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line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42
  }],
 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waivers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{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active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0, "</a:t>
            </a:r>
            <a:r>
              <a:rPr lang="de-DE" sz="1000" dirty="0" err="1">
                <a:solidFill>
                  <a:srgbClr val="1A1A1A"/>
                </a:solidFill>
                <a:latin typeface="Consolas"/>
                <a:cs typeface="Consolas"/>
              </a:rPr>
              <a:t>expired</a:t>
            </a:r>
            <a:r>
              <a:rPr lang="de-DE" sz="1000" dirty="0">
                <a:solidFill>
                  <a:srgbClr val="1A1A1A"/>
                </a:solidFill>
                <a:latin typeface="Consolas"/>
                <a:cs typeface="Consolas"/>
              </a:rPr>
              <a:t>": 0 }
}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C6EB05E-D801-D242-ACD9-8952E1EEB1D3}"/>
              </a:ext>
            </a:extLst>
          </p:cNvPr>
          <p:cNvSpPr txBox="1"/>
          <p:nvPr/>
        </p:nvSpPr>
        <p:spPr>
          <a:xfrm>
            <a:off x="6426200" y="4902200"/>
            <a:ext cx="4800600" cy="1346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dirty="0">
                <a:solidFill>
                  <a:srgbClr val="1A1A1A"/>
                </a:solidFill>
              </a:rPr>
              <a:t>•  Maschinenlesbar — Eingabe für Dashboards, Skripte
•  </a:t>
            </a:r>
            <a:r>
              <a:rPr lang="de-DE" sz="1200" dirty="0" err="1">
                <a:solidFill>
                  <a:srgbClr val="1A1A1A"/>
                </a:solidFill>
              </a:rPr>
              <a:t>Findings</a:t>
            </a:r>
            <a:r>
              <a:rPr lang="de-DE" sz="1200" dirty="0">
                <a:solidFill>
                  <a:srgbClr val="1A1A1A"/>
                </a:solidFill>
              </a:rPr>
              <a:t> mit </a:t>
            </a:r>
            <a:r>
              <a:rPr lang="de-DE" sz="1200" dirty="0" err="1">
                <a:solidFill>
                  <a:srgbClr val="1A1A1A"/>
                </a:solidFill>
              </a:rPr>
              <a:t>group</a:t>
            </a:r>
            <a:r>
              <a:rPr lang="de-DE" sz="1200" dirty="0">
                <a:solidFill>
                  <a:srgbClr val="1A1A1A"/>
                </a:solidFill>
              </a:rPr>
              <a:t>, </a:t>
            </a:r>
            <a:r>
              <a:rPr lang="de-DE" sz="1200" dirty="0" err="1">
                <a:solidFill>
                  <a:srgbClr val="1A1A1A"/>
                </a:solidFill>
              </a:rPr>
              <a:t>severity</a:t>
            </a:r>
            <a:r>
              <a:rPr lang="de-DE" sz="1200" dirty="0">
                <a:solidFill>
                  <a:srgbClr val="1A1A1A"/>
                </a:solidFill>
              </a:rPr>
              <a:t>, </a:t>
            </a:r>
            <a:r>
              <a:rPr lang="de-DE" sz="1200" dirty="0" err="1">
                <a:solidFill>
                  <a:srgbClr val="1A1A1A"/>
                </a:solidFill>
              </a:rPr>
              <a:t>fingerprint</a:t>
            </a:r>
            <a:r>
              <a:rPr lang="de-DE" sz="1200" dirty="0">
                <a:solidFill>
                  <a:srgbClr val="1A1A1A"/>
                </a:solidFill>
              </a:rPr>
              <a:t>, </a:t>
            </a:r>
            <a:r>
              <a:rPr lang="de-DE" sz="1200" dirty="0" err="1">
                <a:solidFill>
                  <a:srgbClr val="1A1A1A"/>
                </a:solidFill>
              </a:rPr>
              <a:t>url</a:t>
            </a:r>
            <a:r>
              <a:rPr lang="de-DE" sz="1200" dirty="0">
                <a:solidFill>
                  <a:srgbClr val="1A1A1A"/>
                </a:solidFill>
              </a:rPr>
              <a:t>
•  </a:t>
            </a:r>
            <a:r>
              <a:rPr lang="de-DE" sz="1200" dirty="0" err="1">
                <a:solidFill>
                  <a:srgbClr val="1A1A1A"/>
                </a:solidFill>
              </a:rPr>
              <a:t>ruleset.integrity</a:t>
            </a:r>
            <a:r>
              <a:rPr lang="de-DE" sz="1200" dirty="0">
                <a:solidFill>
                  <a:srgbClr val="1A1A1A"/>
                </a:solidFill>
              </a:rPr>
              <a:t> macht Regelstand prüfbar
•  </a:t>
            </a:r>
            <a:r>
              <a:rPr lang="de-DE" sz="1200" dirty="0" err="1">
                <a:solidFill>
                  <a:srgbClr val="1A1A1A"/>
                </a:solidFill>
              </a:rPr>
              <a:t>waivers</a:t>
            </a:r>
            <a:r>
              <a:rPr lang="de-DE" sz="1200" dirty="0">
                <a:solidFill>
                  <a:srgbClr val="1A1A1A"/>
                </a:solidFill>
              </a:rPr>
              <a:t>-Block bei genutzter Waiver-Datei</a:t>
            </a:r>
          </a:p>
        </p:txBody>
      </p:sp>
    </p:spTree>
    <p:extLst>
      <p:ext uri="{BB962C8B-B14F-4D97-AF65-F5344CB8AC3E}">
        <p14:creationId xmlns:p14="http://schemas.microsoft.com/office/powerpoint/2010/main" val="1187965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6680C48-59BD-834A-818A-E69E1E720AA6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REPORTFORMATE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643077D-6A0A-804C-A228-0D79F8D8F461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HTML — eigenständige Browser-Seite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744360-FFCF-5144-9B1B-A70FA25DFCFB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F421246-E753-2A4C-9F1A-331B1DD610AC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Self-contained HTML-Datei mit Kennzahlen-Karten je Gruppe und gruppierten Findings. Ideal für Review-Meetings und Nicht-CI-Konsumenten.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E9FAA2F-C053-F44C-A430-58A818DE02F0}"/>
              </a:ext>
            </a:extLst>
          </p:cNvPr>
          <p:cNvSpPr/>
          <p:nvPr/>
        </p:nvSpPr>
        <p:spPr>
          <a:xfrm>
            <a:off x="762000" y="2057400"/>
            <a:ext cx="6858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0D5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ABED8BF-506C-D948-B7FC-19FD18444E6F}"/>
              </a:ext>
            </a:extLst>
          </p:cNvPr>
          <p:cNvSpPr/>
          <p:nvPr/>
        </p:nvSpPr>
        <p:spPr>
          <a:xfrm>
            <a:off x="762000" y="2057400"/>
            <a:ext cx="6858000" cy="304800"/>
          </a:xfrm>
          <a:prstGeom prst="rect">
            <a:avLst/>
          </a:prstGeom>
          <a:solidFill>
            <a:srgbClr val="E8EC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591194-1F76-3145-B2CB-AF1D37CCB05A}"/>
              </a:ext>
            </a:extLst>
          </p:cNvPr>
          <p:cNvSpPr/>
          <p:nvPr/>
        </p:nvSpPr>
        <p:spPr>
          <a:xfrm>
            <a:off x="863600" y="2159000"/>
            <a:ext cx="101600" cy="101600"/>
          </a:xfrm>
          <a:prstGeom prst="ellipse">
            <a:avLst/>
          </a:prstGeom>
          <a:solidFill>
            <a:srgbClr val="FF5F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EF402B-B55D-434C-B342-A984A9143492}"/>
              </a:ext>
            </a:extLst>
          </p:cNvPr>
          <p:cNvSpPr/>
          <p:nvPr/>
        </p:nvSpPr>
        <p:spPr>
          <a:xfrm>
            <a:off x="1016000" y="2159000"/>
            <a:ext cx="101600" cy="101600"/>
          </a:xfrm>
          <a:prstGeom prst="ellipse">
            <a:avLst/>
          </a:prstGeom>
          <a:solidFill>
            <a:srgbClr val="FEBC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FA3926-DBA1-6E44-9325-9D020ABE1DD6}"/>
              </a:ext>
            </a:extLst>
          </p:cNvPr>
          <p:cNvSpPr/>
          <p:nvPr/>
        </p:nvSpPr>
        <p:spPr>
          <a:xfrm>
            <a:off x="1168400" y="2159000"/>
            <a:ext cx="101600" cy="101600"/>
          </a:xfrm>
          <a:prstGeom prst="ellipse">
            <a:avLst/>
          </a:prstGeom>
          <a:solidFill>
            <a:srgbClr val="28C8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BB2531-0282-6346-B94E-D6D1E1DA0A4E}"/>
              </a:ext>
            </a:extLst>
          </p:cNvPr>
          <p:cNvSpPr txBox="1"/>
          <p:nvPr/>
        </p:nvSpPr>
        <p:spPr>
          <a:xfrm>
            <a:off x="1524000" y="2133600"/>
            <a:ext cx="5842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555555"/>
                </a:solidFill>
                <a:latin typeface="Consolas"/>
                <a:cs typeface="Consolas"/>
              </a:rPr>
              <a:t>aci_report_app.html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167F8AB-9D9C-DA4E-8DAD-E76F0F493E01}"/>
              </a:ext>
            </a:extLst>
          </p:cNvPr>
          <p:cNvSpPr/>
          <p:nvPr/>
        </p:nvSpPr>
        <p:spPr>
          <a:xfrm>
            <a:off x="762000" y="2362200"/>
            <a:ext cx="68580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E6FBB54-E1D5-384F-B5EB-358EA8BE7A2E}"/>
              </a:ext>
            </a:extLst>
          </p:cNvPr>
          <p:cNvSpPr txBox="1"/>
          <p:nvPr/>
        </p:nvSpPr>
        <p:spPr>
          <a:xfrm>
            <a:off x="914400" y="2463800"/>
            <a:ext cx="6553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ACI Report  ·  app/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27F6B9-3832-9646-B420-A3D2DF2B73BF}"/>
              </a:ext>
            </a:extLst>
          </p:cNvPr>
          <p:cNvSpPr/>
          <p:nvPr/>
        </p:nvSpPr>
        <p:spPr>
          <a:xfrm>
            <a:off x="914400" y="2971800"/>
            <a:ext cx="1562100" cy="9144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DCF5CC-77C7-EE40-8DF3-242D7B6FC0D2}"/>
              </a:ext>
            </a:extLst>
          </p:cNvPr>
          <p:cNvSpPr/>
          <p:nvPr/>
        </p:nvSpPr>
        <p:spPr>
          <a:xfrm>
            <a:off x="914400" y="2971800"/>
            <a:ext cx="15621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E41D5B3-7E39-C14F-A389-944DEBF9AD53}"/>
              </a:ext>
            </a:extLst>
          </p:cNvPr>
          <p:cNvSpPr txBox="1"/>
          <p:nvPr/>
        </p:nvSpPr>
        <p:spPr>
          <a:xfrm>
            <a:off x="1016000" y="3073400"/>
            <a:ext cx="13589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800" b="1">
                <a:solidFill>
                  <a:srgbClr val="E97132"/>
                </a:solidFill>
              </a:rPr>
              <a:t>SICHERHEIT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0B8F4CB-E79A-0B4C-B5AD-5769110A4E6B}"/>
              </a:ext>
            </a:extLst>
          </p:cNvPr>
          <p:cNvSpPr txBox="1"/>
          <p:nvPr/>
        </p:nvSpPr>
        <p:spPr>
          <a:xfrm>
            <a:off x="1016000" y="3251200"/>
            <a:ext cx="13589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0E2841"/>
                </a:solidFill>
              </a:rPr>
              <a:t>7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61BF0F-98BD-3B40-9185-3BA56832FE1B}"/>
              </a:ext>
            </a:extLst>
          </p:cNvPr>
          <p:cNvSpPr txBox="1"/>
          <p:nvPr/>
        </p:nvSpPr>
        <p:spPr>
          <a:xfrm>
            <a:off x="1016000" y="3657600"/>
            <a:ext cx="13589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666666"/>
                </a:solidFill>
              </a:rPr>
              <a:t>Findings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B71F7D0-6D44-3247-A78E-DB31EF9A60AC}"/>
              </a:ext>
            </a:extLst>
          </p:cNvPr>
          <p:cNvSpPr/>
          <p:nvPr/>
        </p:nvSpPr>
        <p:spPr>
          <a:xfrm>
            <a:off x="2527300" y="2971800"/>
            <a:ext cx="1562100" cy="9144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37261D1-C7A2-114A-8F40-84565AC2EF57}"/>
              </a:ext>
            </a:extLst>
          </p:cNvPr>
          <p:cNvSpPr/>
          <p:nvPr/>
        </p:nvSpPr>
        <p:spPr>
          <a:xfrm>
            <a:off x="2527300" y="2971800"/>
            <a:ext cx="1562100" cy="381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913390C-B515-2740-9D97-5B370E40EEB1}"/>
              </a:ext>
            </a:extLst>
          </p:cNvPr>
          <p:cNvSpPr txBox="1"/>
          <p:nvPr/>
        </p:nvSpPr>
        <p:spPr>
          <a:xfrm>
            <a:off x="2628900" y="3073400"/>
            <a:ext cx="13589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800" b="1">
                <a:solidFill>
                  <a:srgbClr val="0F9ED5"/>
                </a:solidFill>
              </a:rPr>
              <a:t>GUIDELINES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A4DF973-3D0F-EF4A-BCA8-477541BFE14B}"/>
              </a:ext>
            </a:extLst>
          </p:cNvPr>
          <p:cNvSpPr txBox="1"/>
          <p:nvPr/>
        </p:nvSpPr>
        <p:spPr>
          <a:xfrm>
            <a:off x="2628900" y="3251200"/>
            <a:ext cx="13589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0E2841"/>
                </a:solidFill>
              </a:rPr>
              <a:t>24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7E2CE3A-B7C6-6A4E-A29E-A0A9AD62D3CE}"/>
              </a:ext>
            </a:extLst>
          </p:cNvPr>
          <p:cNvSpPr txBox="1"/>
          <p:nvPr/>
        </p:nvSpPr>
        <p:spPr>
          <a:xfrm>
            <a:off x="2628900" y="3657600"/>
            <a:ext cx="13589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666666"/>
                </a:solidFill>
              </a:rPr>
              <a:t>Findings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1D3AEA7-DC09-BF4A-815B-0EB0B3D9495D}"/>
              </a:ext>
            </a:extLst>
          </p:cNvPr>
          <p:cNvSpPr/>
          <p:nvPr/>
        </p:nvSpPr>
        <p:spPr>
          <a:xfrm>
            <a:off x="4140200" y="2971800"/>
            <a:ext cx="1562100" cy="9144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3313A2E-74F9-A149-9E0A-95104A195270}"/>
              </a:ext>
            </a:extLst>
          </p:cNvPr>
          <p:cNvSpPr/>
          <p:nvPr/>
        </p:nvSpPr>
        <p:spPr>
          <a:xfrm>
            <a:off x="4140200" y="2971800"/>
            <a:ext cx="1562100" cy="381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1234A11-AB17-D64C-973C-FCEFE2206904}"/>
              </a:ext>
            </a:extLst>
          </p:cNvPr>
          <p:cNvSpPr txBox="1"/>
          <p:nvPr/>
        </p:nvSpPr>
        <p:spPr>
          <a:xfrm>
            <a:off x="4241800" y="3073400"/>
            <a:ext cx="13589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800" b="1">
                <a:solidFill>
                  <a:srgbClr val="C00000"/>
                </a:solidFill>
              </a:rPr>
              <a:t>CRITICAL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AAC850B-A92F-1842-8C85-6257A1F63D9B}"/>
              </a:ext>
            </a:extLst>
          </p:cNvPr>
          <p:cNvSpPr txBox="1"/>
          <p:nvPr/>
        </p:nvSpPr>
        <p:spPr>
          <a:xfrm>
            <a:off x="4241800" y="3251200"/>
            <a:ext cx="13589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0E2841"/>
                </a:solidFill>
              </a:rPr>
              <a:t>2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7DA4B50-03F7-384B-A064-F920DE4C1AB1}"/>
              </a:ext>
            </a:extLst>
          </p:cNvPr>
          <p:cNvSpPr txBox="1"/>
          <p:nvPr/>
        </p:nvSpPr>
        <p:spPr>
          <a:xfrm>
            <a:off x="4241800" y="3657600"/>
            <a:ext cx="13589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666666"/>
                </a:solidFill>
              </a:rPr>
              <a:t>Highest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3C31BD4-CFC6-CC43-BDEA-9933965B3CB8}"/>
              </a:ext>
            </a:extLst>
          </p:cNvPr>
          <p:cNvSpPr/>
          <p:nvPr/>
        </p:nvSpPr>
        <p:spPr>
          <a:xfrm>
            <a:off x="5753100" y="2971800"/>
            <a:ext cx="1562100" cy="9144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D4930D8-A239-FE43-8C00-C796AC7232C7}"/>
              </a:ext>
            </a:extLst>
          </p:cNvPr>
          <p:cNvSpPr/>
          <p:nvPr/>
        </p:nvSpPr>
        <p:spPr>
          <a:xfrm>
            <a:off x="5753100" y="2971800"/>
            <a:ext cx="1562100" cy="381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A830AA1-52E5-4546-AD31-9B189A482FE1}"/>
              </a:ext>
            </a:extLst>
          </p:cNvPr>
          <p:cNvSpPr txBox="1"/>
          <p:nvPr/>
        </p:nvSpPr>
        <p:spPr>
          <a:xfrm>
            <a:off x="5854700" y="3073400"/>
            <a:ext cx="13589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800" b="1">
                <a:solidFill>
                  <a:srgbClr val="196B24"/>
                </a:solidFill>
              </a:rPr>
              <a:t>WAIVED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539211D-03C6-C44E-854A-FF27BAE9B736}"/>
              </a:ext>
            </a:extLst>
          </p:cNvPr>
          <p:cNvSpPr txBox="1"/>
          <p:nvPr/>
        </p:nvSpPr>
        <p:spPr>
          <a:xfrm>
            <a:off x="5854700" y="3251200"/>
            <a:ext cx="13589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 b="1">
                <a:solidFill>
                  <a:srgbClr val="0E2841"/>
                </a:solidFill>
              </a:rPr>
              <a:t>1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2DB13DF-F1AE-A84C-91AC-5BA9ABB0B56B}"/>
              </a:ext>
            </a:extLst>
          </p:cNvPr>
          <p:cNvSpPr txBox="1"/>
          <p:nvPr/>
        </p:nvSpPr>
        <p:spPr>
          <a:xfrm>
            <a:off x="5854700" y="3657600"/>
            <a:ext cx="13589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>
                <a:solidFill>
                  <a:srgbClr val="666666"/>
                </a:solidFill>
              </a:rPr>
              <a:t>Active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E08479CA-A41B-094D-852B-DCF51E2710C2}"/>
              </a:ext>
            </a:extLst>
          </p:cNvPr>
          <p:cNvSpPr txBox="1"/>
          <p:nvPr/>
        </p:nvSpPr>
        <p:spPr>
          <a:xfrm>
            <a:off x="914400" y="4038600"/>
            <a:ext cx="6553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666666"/>
                </a:solidFill>
              </a:rPr>
              <a:t>Sicherheit (7)        Coding Guidelines (24)        Waiver (1)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5E1B5DA-2FEA-A641-8407-DE16034A31FF}"/>
              </a:ext>
            </a:extLst>
          </p:cNvPr>
          <p:cNvSpPr/>
          <p:nvPr/>
        </p:nvSpPr>
        <p:spPr>
          <a:xfrm>
            <a:off x="914400" y="4267200"/>
            <a:ext cx="889000" cy="25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1A8BC3F-1E1C-A143-9501-12C8DC374DB7}"/>
              </a:ext>
            </a:extLst>
          </p:cNvPr>
          <p:cNvSpPr/>
          <p:nvPr/>
        </p:nvSpPr>
        <p:spPr>
          <a:xfrm>
            <a:off x="914400" y="4419600"/>
            <a:ext cx="6553200" cy="330200"/>
          </a:xfrm>
          <a:prstGeom prst="rect">
            <a:avLst/>
          </a:prstGeom>
          <a:solidFill>
            <a:srgbClr val="FAFBFC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983FDE6-3E36-9D40-8894-1D124643BCC4}"/>
              </a:ext>
            </a:extLst>
          </p:cNvPr>
          <p:cNvSpPr/>
          <p:nvPr/>
        </p:nvSpPr>
        <p:spPr>
          <a:xfrm>
            <a:off x="990600" y="4483100"/>
            <a:ext cx="584200" cy="2032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800" b="1">
                <a:solidFill>
                  <a:srgbClr val="FFFFFF"/>
                </a:solidFill>
              </a:rPr>
              <a:t>CRIT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3B9AE46-8558-1544-97CF-239947541F38}"/>
              </a:ext>
            </a:extLst>
          </p:cNvPr>
          <p:cNvSpPr txBox="1"/>
          <p:nvPr/>
        </p:nvSpPr>
        <p:spPr>
          <a:xfrm>
            <a:off x="1676400" y="4495800"/>
            <a:ext cx="101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  <a:latin typeface="Consolas"/>
                <a:cs typeface="Consolas"/>
              </a:rPr>
              <a:t>ACI-SQLI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677A8F1-734F-5643-BAAB-2172DDD4BD1B}"/>
              </a:ext>
            </a:extLst>
          </p:cNvPr>
          <p:cNvSpPr txBox="1"/>
          <p:nvPr/>
        </p:nvSpPr>
        <p:spPr>
          <a:xfrm>
            <a:off x="2794000" y="44958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444444"/>
                </a:solidFill>
                <a:latin typeface="Consolas"/>
                <a:cs typeface="Consolas"/>
              </a:rPr>
              <a:t>app/login.sql:42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1333EAF-B7E9-0F49-A00C-FFF8C9D25066}"/>
              </a:ext>
            </a:extLst>
          </p:cNvPr>
          <p:cNvSpPr/>
          <p:nvPr/>
        </p:nvSpPr>
        <p:spPr>
          <a:xfrm>
            <a:off x="914400" y="4775200"/>
            <a:ext cx="6553200" cy="3302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0B9FDA6-7FB2-494F-B4E5-695A6708F74B}"/>
              </a:ext>
            </a:extLst>
          </p:cNvPr>
          <p:cNvSpPr/>
          <p:nvPr/>
        </p:nvSpPr>
        <p:spPr>
          <a:xfrm>
            <a:off x="990600" y="4838700"/>
            <a:ext cx="584200" cy="203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D43C765-8872-6A44-86BE-9687007636A8}"/>
              </a:ext>
            </a:extLst>
          </p:cNvPr>
          <p:cNvSpPr txBox="1"/>
          <p:nvPr/>
        </p:nvSpPr>
        <p:spPr>
          <a:xfrm>
            <a:off x="1676400" y="4851400"/>
            <a:ext cx="101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  <a:latin typeface="Consolas"/>
                <a:cs typeface="Consolas"/>
              </a:rPr>
              <a:t>ACI-PKG 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17703A2-331A-B649-A0D6-9C177D31A463}"/>
              </a:ext>
            </a:extLst>
          </p:cNvPr>
          <p:cNvSpPr txBox="1"/>
          <p:nvPr/>
        </p:nvSpPr>
        <p:spPr>
          <a:xfrm>
            <a:off x="2794000" y="48514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444444"/>
                </a:solidFill>
                <a:latin typeface="Consolas"/>
                <a:cs typeface="Consolas"/>
              </a:rPr>
              <a:t>app/util.sql:11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903FE19-9937-CC43-BEBD-F2737BF0B2D6}"/>
              </a:ext>
            </a:extLst>
          </p:cNvPr>
          <p:cNvSpPr/>
          <p:nvPr/>
        </p:nvSpPr>
        <p:spPr>
          <a:xfrm>
            <a:off x="914400" y="5130800"/>
            <a:ext cx="6553200" cy="330200"/>
          </a:xfrm>
          <a:prstGeom prst="rect">
            <a:avLst/>
          </a:prstGeom>
          <a:solidFill>
            <a:srgbClr val="FAFBFC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E7C16B4A-E262-BF45-9BFF-660BAC899DCF}"/>
              </a:ext>
            </a:extLst>
          </p:cNvPr>
          <p:cNvSpPr/>
          <p:nvPr/>
        </p:nvSpPr>
        <p:spPr>
          <a:xfrm>
            <a:off x="990600" y="5194300"/>
            <a:ext cx="584200" cy="203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F8882AE-6287-0640-A10A-5558A7BEF839}"/>
              </a:ext>
            </a:extLst>
          </p:cNvPr>
          <p:cNvSpPr txBox="1"/>
          <p:nvPr/>
        </p:nvSpPr>
        <p:spPr>
          <a:xfrm>
            <a:off x="1676400" y="5207000"/>
            <a:ext cx="101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  <a:latin typeface="Consolas"/>
                <a:cs typeface="Consolas"/>
              </a:rPr>
              <a:t>ACI-DDL 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F991A5B6-D1F3-0B4F-AD69-DB656482BE5C}"/>
              </a:ext>
            </a:extLst>
          </p:cNvPr>
          <p:cNvSpPr txBox="1"/>
          <p:nvPr/>
        </p:nvSpPr>
        <p:spPr>
          <a:xfrm>
            <a:off x="2794000" y="52070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444444"/>
                </a:solidFill>
                <a:latin typeface="Consolas"/>
                <a:cs typeface="Consolas"/>
              </a:rPr>
              <a:t>app/init.sql:5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9B05884-0CF8-B54A-9421-7D8DE799D5B2}"/>
              </a:ext>
            </a:extLst>
          </p:cNvPr>
          <p:cNvSpPr/>
          <p:nvPr/>
        </p:nvSpPr>
        <p:spPr>
          <a:xfrm>
            <a:off x="914400" y="5486400"/>
            <a:ext cx="6553200" cy="3302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8E8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29EB8E0-56FC-384C-BF4C-04C39DB3A9A7}"/>
              </a:ext>
            </a:extLst>
          </p:cNvPr>
          <p:cNvSpPr/>
          <p:nvPr/>
        </p:nvSpPr>
        <p:spPr>
          <a:xfrm>
            <a:off x="990600" y="5549900"/>
            <a:ext cx="584200" cy="2032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800" b="1">
                <a:solidFill>
                  <a:srgbClr val="FFFFFF"/>
                </a:solidFill>
              </a:rPr>
              <a:t>WARN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507E3985-70E3-0447-915C-6C31CC6F53DC}"/>
              </a:ext>
            </a:extLst>
          </p:cNvPr>
          <p:cNvSpPr txBox="1"/>
          <p:nvPr/>
        </p:nvSpPr>
        <p:spPr>
          <a:xfrm>
            <a:off x="1676400" y="5562600"/>
            <a:ext cx="101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E2841"/>
                </a:solidFill>
                <a:latin typeface="Consolas"/>
                <a:cs typeface="Consolas"/>
              </a:rPr>
              <a:t>ACI-OBF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68938974-B892-274F-A481-F4F9775F0E20}"/>
              </a:ext>
            </a:extLst>
          </p:cNvPr>
          <p:cNvSpPr txBox="1"/>
          <p:nvPr/>
        </p:nvSpPr>
        <p:spPr>
          <a:xfrm>
            <a:off x="2794000" y="55626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444444"/>
                </a:solidFill>
                <a:latin typeface="Consolas"/>
                <a:cs typeface="Consolas"/>
              </a:rPr>
              <a:t>app/hash.sql:88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15ADE35-AE02-6B4F-A81A-BE57D329742F}"/>
              </a:ext>
            </a:extLst>
          </p:cNvPr>
          <p:cNvSpPr txBox="1"/>
          <p:nvPr/>
        </p:nvSpPr>
        <p:spPr>
          <a:xfrm>
            <a:off x="7874000" y="2057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Eigenschaften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633C835-6704-E341-8DAB-B813CA199DED}"/>
              </a:ext>
            </a:extLst>
          </p:cNvPr>
          <p:cNvSpPr/>
          <p:nvPr/>
        </p:nvSpPr>
        <p:spPr>
          <a:xfrm>
            <a:off x="7874000" y="25146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AB3E604-F732-244D-8364-9640CC625FC0}"/>
              </a:ext>
            </a:extLst>
          </p:cNvPr>
          <p:cNvSpPr txBox="1"/>
          <p:nvPr/>
        </p:nvSpPr>
        <p:spPr>
          <a:xfrm>
            <a:off x="8026400" y="24384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Eigenständig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89C4E6E-9E14-D941-9DB8-1296CA4EA357}"/>
              </a:ext>
            </a:extLst>
          </p:cNvPr>
          <p:cNvSpPr txBox="1"/>
          <p:nvPr/>
        </p:nvSpPr>
        <p:spPr>
          <a:xfrm>
            <a:off x="8026400" y="26670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Eine HTML-Datei, keine externen Assets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AD0B812-6DD1-2548-ACBC-E32EA459E395}"/>
              </a:ext>
            </a:extLst>
          </p:cNvPr>
          <p:cNvSpPr/>
          <p:nvPr/>
        </p:nvSpPr>
        <p:spPr>
          <a:xfrm>
            <a:off x="7874000" y="31242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460DB51-FE82-D54F-9FEA-80DB1B510B74}"/>
              </a:ext>
            </a:extLst>
          </p:cNvPr>
          <p:cNvSpPr txBox="1"/>
          <p:nvPr/>
        </p:nvSpPr>
        <p:spPr>
          <a:xfrm>
            <a:off x="8026400" y="30480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Gruppierung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8E537126-D556-ED43-B385-D3E29472C047}"/>
              </a:ext>
            </a:extLst>
          </p:cNvPr>
          <p:cNvSpPr txBox="1"/>
          <p:nvPr/>
        </p:nvSpPr>
        <p:spPr>
          <a:xfrm>
            <a:off x="8026400" y="32766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--html-group-by rule oder file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957AB842-7E6B-E34F-A6BB-8CC7F4CFE283}"/>
              </a:ext>
            </a:extLst>
          </p:cNvPr>
          <p:cNvSpPr/>
          <p:nvPr/>
        </p:nvSpPr>
        <p:spPr>
          <a:xfrm>
            <a:off x="7874000" y="37338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7C007435-544A-054D-ACF2-DF2D12883372}"/>
              </a:ext>
            </a:extLst>
          </p:cNvPr>
          <p:cNvSpPr txBox="1"/>
          <p:nvPr/>
        </p:nvSpPr>
        <p:spPr>
          <a:xfrm>
            <a:off x="8026400" y="36576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KPI-Karten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FE0BE714-5F38-AE4F-A617-618EE67EB021}"/>
              </a:ext>
            </a:extLst>
          </p:cNvPr>
          <p:cNvSpPr txBox="1"/>
          <p:nvPr/>
        </p:nvSpPr>
        <p:spPr>
          <a:xfrm>
            <a:off x="8026400" y="38862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Je Gruppe Schweregrad-Zähler oben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EBD5E482-0FD5-2241-806B-78BE502430D1}"/>
              </a:ext>
            </a:extLst>
          </p:cNvPr>
          <p:cNvSpPr/>
          <p:nvPr/>
        </p:nvSpPr>
        <p:spPr>
          <a:xfrm>
            <a:off x="7874000" y="43434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3C73A100-B01B-6446-91B4-1388B8FB81B1}"/>
              </a:ext>
            </a:extLst>
          </p:cNvPr>
          <p:cNvSpPr txBox="1"/>
          <p:nvPr/>
        </p:nvSpPr>
        <p:spPr>
          <a:xfrm>
            <a:off x="8026400" y="42672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Drill-Down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0F2197A-D10D-3340-AF32-398AD9A03D94}"/>
              </a:ext>
            </a:extLst>
          </p:cNvPr>
          <p:cNvSpPr txBox="1"/>
          <p:nvPr/>
        </p:nvSpPr>
        <p:spPr>
          <a:xfrm>
            <a:off x="8026400" y="44958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Klick auf Regel öffnet Trivadis-Seite (Guidelines)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F588E70C-52E9-7348-A9AC-D91DED3A2615}"/>
              </a:ext>
            </a:extLst>
          </p:cNvPr>
          <p:cNvSpPr/>
          <p:nvPr/>
        </p:nvSpPr>
        <p:spPr>
          <a:xfrm>
            <a:off x="7874000" y="49530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7F62B054-53AF-1145-BFFD-7823F9132ACD}"/>
              </a:ext>
            </a:extLst>
          </p:cNvPr>
          <p:cNvSpPr txBox="1"/>
          <p:nvPr/>
        </p:nvSpPr>
        <p:spPr>
          <a:xfrm>
            <a:off x="8026400" y="48768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Quelltext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CD0D591F-32FF-794B-B26D-43F1ADA48EA3}"/>
              </a:ext>
            </a:extLst>
          </p:cNvPr>
          <p:cNvSpPr txBox="1"/>
          <p:nvPr/>
        </p:nvSpPr>
        <p:spPr>
          <a:xfrm>
            <a:off x="8026400" y="51054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Inline-Code-Auszüge je Finding (mit --no-context aus)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5776D21C-6525-FA4A-A32D-CE975EDED98B}"/>
              </a:ext>
            </a:extLst>
          </p:cNvPr>
          <p:cNvSpPr/>
          <p:nvPr/>
        </p:nvSpPr>
        <p:spPr>
          <a:xfrm>
            <a:off x="7874000" y="5562600"/>
            <a:ext cx="38100" cy="457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BBE6029-6E9A-2A43-9344-AE9B155CB09E}"/>
              </a:ext>
            </a:extLst>
          </p:cNvPr>
          <p:cNvSpPr txBox="1"/>
          <p:nvPr/>
        </p:nvSpPr>
        <p:spPr>
          <a:xfrm>
            <a:off x="8026400" y="54864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Waiver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9FD59F48-3B66-F947-922D-884A50171E9F}"/>
              </a:ext>
            </a:extLst>
          </p:cNvPr>
          <p:cNvSpPr txBox="1"/>
          <p:nvPr/>
        </p:nvSpPr>
        <p:spPr>
          <a:xfrm>
            <a:off x="8026400" y="57150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Eigene Sektion, deutlich markiert</a:t>
            </a:r>
          </a:p>
        </p:txBody>
      </p:sp>
    </p:spTree>
    <p:extLst>
      <p:ext uri="{BB962C8B-B14F-4D97-AF65-F5344CB8AC3E}">
        <p14:creationId xmlns:p14="http://schemas.microsoft.com/office/powerpoint/2010/main" val="1262237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F6FA074-3C87-EB45-B979-49F80013DB59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REPORTFORMATE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E0CC4A2-F3F1-7141-BEB9-B0134B98EEB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SARIF — Integration in Code-Scanning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45111A-F87A-F44E-9593-84104FC0DDBD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4AA09D-6A9F-E246-99E4-E2973A2D4FF8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Static Analysis Results Interchange Format 2.1.0 — der offene Standard, den GitHub, GitLab und Azure DevOps direkt einlesen können.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160855-9E69-5D4C-A13C-E3BFC46C80AD}"/>
              </a:ext>
            </a:extLst>
          </p:cNvPr>
          <p:cNvSpPr txBox="1"/>
          <p:nvPr/>
        </p:nvSpPr>
        <p:spPr>
          <a:xfrm>
            <a:off x="762000" y="2057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Spezifika in ACI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030E77-3DA3-C74C-9ED4-E1D8C96C2626}"/>
              </a:ext>
            </a:extLst>
          </p:cNvPr>
          <p:cNvSpPr/>
          <p:nvPr/>
        </p:nvSpPr>
        <p:spPr>
          <a:xfrm>
            <a:off x="762000" y="2514600"/>
            <a:ext cx="330200" cy="330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D18C9C-E65F-2548-8A06-1978D8F69EE5}"/>
              </a:ext>
            </a:extLst>
          </p:cNvPr>
          <p:cNvSpPr txBox="1"/>
          <p:nvPr/>
        </p:nvSpPr>
        <p:spPr>
          <a:xfrm>
            <a:off x="1219200" y="2514600"/>
            <a:ext cx="5511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Regelkatalog je Regelreferenz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B388707-123B-894C-B200-067223D73CBD}"/>
              </a:ext>
            </a:extLst>
          </p:cNvPr>
          <p:cNvSpPr txBox="1"/>
          <p:nvPr/>
        </p:nvSpPr>
        <p:spPr>
          <a:xfrm>
            <a:off x="1219200" y="2768600"/>
            <a:ext cx="55118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tool.driver.rules wird je check_id:rule_ref geführt — nicht nur check_id. So verfolgen Dashboards einzelne Regeln getrennt.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7EC161-0859-6C4A-88FB-1D04FE2E4757}"/>
              </a:ext>
            </a:extLst>
          </p:cNvPr>
          <p:cNvSpPr/>
          <p:nvPr/>
        </p:nvSpPr>
        <p:spPr>
          <a:xfrm>
            <a:off x="762000" y="3479800"/>
            <a:ext cx="330200" cy="330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76AC31-F618-4845-BE78-EB5625A50711}"/>
              </a:ext>
            </a:extLst>
          </p:cNvPr>
          <p:cNvSpPr txBox="1"/>
          <p:nvPr/>
        </p:nvSpPr>
        <p:spPr>
          <a:xfrm>
            <a:off x="1219200" y="3479800"/>
            <a:ext cx="5511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Suppressions = Waiver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0524DA7-5D15-0842-B254-13F0BAB545E8}"/>
              </a:ext>
            </a:extLst>
          </p:cNvPr>
          <p:cNvSpPr txBox="1"/>
          <p:nvPr/>
        </p:nvSpPr>
        <p:spPr>
          <a:xfrm>
            <a:off x="1219200" y="3733800"/>
            <a:ext cx="55118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Gewaiverte Findings werden als suppressions (kind: external) exportiert. Sie bleiben sichtbar und auditierbar.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67D3CA-ED9D-434D-8E99-845A9E45FCBB}"/>
              </a:ext>
            </a:extLst>
          </p:cNvPr>
          <p:cNvSpPr/>
          <p:nvPr/>
        </p:nvSpPr>
        <p:spPr>
          <a:xfrm>
            <a:off x="762000" y="4445000"/>
            <a:ext cx="330200" cy="330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D07ADD0-AFFA-FC46-8497-271AF519C6DE}"/>
              </a:ext>
            </a:extLst>
          </p:cNvPr>
          <p:cNvSpPr txBox="1"/>
          <p:nvPr/>
        </p:nvSpPr>
        <p:spPr>
          <a:xfrm>
            <a:off x="1219200" y="4445000"/>
            <a:ext cx="5511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Fingerabdruck als partialFingerprints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493A4EE-C2E9-9B45-B8AF-C5B61548888E}"/>
              </a:ext>
            </a:extLst>
          </p:cNvPr>
          <p:cNvSpPr txBox="1"/>
          <p:nvPr/>
        </p:nvSpPr>
        <p:spPr>
          <a:xfrm>
            <a:off x="1219200" y="4699000"/>
            <a:ext cx="55118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Jeder Befund trägt seinen Fingerprint im SARIF-Standardfeld — Bewegungen der Codezeile ändern die Identität nicht.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C4F14D-05AA-0C4F-9006-EFD0147A67E7}"/>
              </a:ext>
            </a:extLst>
          </p:cNvPr>
          <p:cNvSpPr/>
          <p:nvPr/>
        </p:nvSpPr>
        <p:spPr>
          <a:xfrm>
            <a:off x="762000" y="5410200"/>
            <a:ext cx="330200" cy="330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1CEA5AD-1DBE-E44E-965A-FEACD2429988}"/>
              </a:ext>
            </a:extLst>
          </p:cNvPr>
          <p:cNvSpPr txBox="1"/>
          <p:nvPr/>
        </p:nvSpPr>
        <p:spPr>
          <a:xfrm>
            <a:off x="1219200" y="5410200"/>
            <a:ext cx="5511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Ruleset-Hash als Run-Property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1BB56-4449-4149-9D3E-B8054008A32A}"/>
              </a:ext>
            </a:extLst>
          </p:cNvPr>
          <p:cNvSpPr txBox="1"/>
          <p:nvPr/>
        </p:nvSpPr>
        <p:spPr>
          <a:xfrm>
            <a:off x="1219200" y="5664200"/>
            <a:ext cx="55118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runs[].properties.aci_ruleset_hash macht den verwendeten Regelstand im Dashboard sichtbar.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D78D854-942B-4B4C-8801-06D656F58EE4}"/>
              </a:ext>
            </a:extLst>
          </p:cNvPr>
          <p:cNvSpPr/>
          <p:nvPr/>
        </p:nvSpPr>
        <p:spPr>
          <a:xfrm>
            <a:off x="7048500" y="2057400"/>
            <a:ext cx="4381500" cy="4064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BF3E9D2-9ED4-1D4A-823D-52BF0CDC190E}"/>
              </a:ext>
            </a:extLst>
          </p:cNvPr>
          <p:cNvSpPr/>
          <p:nvPr/>
        </p:nvSpPr>
        <p:spPr>
          <a:xfrm>
            <a:off x="7048500" y="2057400"/>
            <a:ext cx="4381500" cy="381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6539A6B-40D7-1045-B8FF-0B3C72947287}"/>
              </a:ext>
            </a:extLst>
          </p:cNvPr>
          <p:cNvSpPr txBox="1"/>
          <p:nvPr/>
        </p:nvSpPr>
        <p:spPr>
          <a:xfrm>
            <a:off x="7200900" y="2146300"/>
            <a:ext cx="40767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  <a:latin typeface="Consolas"/>
                <a:cs typeface="Consolas"/>
              </a:rPr>
              <a:t>aci_report_app.sarif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178C0E1-8FDE-2149-8FF2-C6C1D3FFD5E1}"/>
              </a:ext>
            </a:extLst>
          </p:cNvPr>
          <p:cNvSpPr txBox="1"/>
          <p:nvPr/>
        </p:nvSpPr>
        <p:spPr>
          <a:xfrm>
            <a:off x="7226300" y="2540000"/>
            <a:ext cx="4025900" cy="342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D4D4D4"/>
                </a:solidFill>
                <a:latin typeface="Consolas"/>
                <a:cs typeface="Consolas"/>
              </a:rPr>
              <a:t>"runs": [{
  "tool": { "driver": {
    "name": "ACI",
    "version": "2.20.1",
    "rules": [{
      "id": "ACI-PKG:utl_http",
      "shortDescription": …
    }, {
      "id": "ACI-OBF:CHR-CHAIN",
      …
    }]
  }},
  "properties": {
    "aci_ruleset_hash": "8f3ade…"
  },
  "results": [{
    "ruleId": "ACI-SQLI:dyn_param",
    "partialFingerprints": {
      "aci/v1": "39e7c95257…"
    },
    "suppressions": []
  }]
}]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1ABF3C6-BB1B-9945-A887-8B8E686B5A92}"/>
              </a:ext>
            </a:extLst>
          </p:cNvPr>
          <p:cNvSpPr txBox="1"/>
          <p:nvPr/>
        </p:nvSpPr>
        <p:spPr>
          <a:xfrm>
            <a:off x="762000" y="6248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200" i="1">
                <a:solidFill>
                  <a:srgbClr val="156082"/>
                </a:solidFill>
              </a:rPr>
              <a:t>▶  Ziel-Dashboards: GitHub Code Scanning  ·  GitLab Security Dashboard  ·  Azure DevOps Advanced Security</a:t>
            </a:r>
          </a:p>
        </p:txBody>
      </p:sp>
    </p:spTree>
    <p:extLst>
      <p:ext uri="{BB962C8B-B14F-4D97-AF65-F5344CB8AC3E}">
        <p14:creationId xmlns:p14="http://schemas.microsoft.com/office/powerpoint/2010/main" val="538333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C726EDF-11F7-A541-86D7-CDFD055FF5AA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REPORTFORMATE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7A3B03E-AF69-444A-A170-F14167E5155B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Reportpfade &amp; Vertraulichkeit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4FFA340-B5D3-CD4F-8C70-B1FBB8E5E91E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A9B142-B858-D04B-A334-57A6AA22B556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Reports können Dateipfade, Scan-Metadaten und Quelltext-Kontext enthalten — behandle sie als interne Artefakte, sofern nicht bereinigt.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A1B797-EFA6-B140-BC82-3F7C9ECF8184}"/>
              </a:ext>
            </a:extLst>
          </p:cNvPr>
          <p:cNvSpPr/>
          <p:nvPr/>
        </p:nvSpPr>
        <p:spPr>
          <a:xfrm>
            <a:off x="762000" y="2057400"/>
            <a:ext cx="5207000" cy="40640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6753E9D-5E99-D546-BA33-F85DDFDC848D}"/>
              </a:ext>
            </a:extLst>
          </p:cNvPr>
          <p:cNvSpPr/>
          <p:nvPr/>
        </p:nvSpPr>
        <p:spPr>
          <a:xfrm>
            <a:off x="762000" y="2057400"/>
            <a:ext cx="76200" cy="4064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C81263C-F400-044A-B330-1A5444F7C516}"/>
              </a:ext>
            </a:extLst>
          </p:cNvPr>
          <p:cNvSpPr txBox="1"/>
          <p:nvPr/>
        </p:nvSpPr>
        <p:spPr>
          <a:xfrm>
            <a:off x="990600" y="22352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E97132"/>
                </a:solidFill>
              </a:rPr>
              <a:t>⚠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985F6D9-BC6A-CF43-960F-B1031A6F7E2C}"/>
              </a:ext>
            </a:extLst>
          </p:cNvPr>
          <p:cNvSpPr txBox="1"/>
          <p:nvPr/>
        </p:nvSpPr>
        <p:spPr>
          <a:xfrm>
            <a:off x="1397000" y="22860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Was Reports preisgeben können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E3DEDF-6783-0E40-B896-FC9221950551}"/>
              </a:ext>
            </a:extLst>
          </p:cNvPr>
          <p:cNvSpPr/>
          <p:nvPr/>
        </p:nvSpPr>
        <p:spPr>
          <a:xfrm>
            <a:off x="1041400" y="2895600"/>
            <a:ext cx="101600" cy="101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288F57-BA20-664F-AF73-7F350EC9A0A3}"/>
              </a:ext>
            </a:extLst>
          </p:cNvPr>
          <p:cNvSpPr txBox="1"/>
          <p:nvPr/>
        </p:nvSpPr>
        <p:spPr>
          <a:xfrm>
            <a:off x="1244600" y="28194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Absolute Pfade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B658CFE-F17D-0147-98B2-8DA755BDB810}"/>
              </a:ext>
            </a:extLst>
          </p:cNvPr>
          <p:cNvSpPr txBox="1"/>
          <p:nvPr/>
        </p:nvSpPr>
        <p:spPr>
          <a:xfrm>
            <a:off x="1244600" y="30480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Repository-Strukturen, Workspace-Namen, CI-Runner-Pfade — per --redact-paths anonymisierbar.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A446AF-97B3-0F4F-A6FB-A0F14F3DF640}"/>
              </a:ext>
            </a:extLst>
          </p:cNvPr>
          <p:cNvSpPr/>
          <p:nvPr/>
        </p:nvSpPr>
        <p:spPr>
          <a:xfrm>
            <a:off x="1041400" y="3683000"/>
            <a:ext cx="101600" cy="101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EC771E5-D2E9-7D42-8B99-0A9BD7E7CBF7}"/>
              </a:ext>
            </a:extLst>
          </p:cNvPr>
          <p:cNvSpPr txBox="1"/>
          <p:nvPr/>
        </p:nvSpPr>
        <p:spPr>
          <a:xfrm>
            <a:off x="1244600" y="36068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Quelltext-Kontext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23496B1-5411-CF41-9967-75D50681BAB6}"/>
              </a:ext>
            </a:extLst>
          </p:cNvPr>
          <p:cNvSpPr txBox="1"/>
          <p:nvPr/>
        </p:nvSpPr>
        <p:spPr>
          <a:xfrm>
            <a:off x="1244600" y="3835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Standardmäßig 3 Zeilen vor und nach jedem Fund.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561F49-C955-4F47-B72E-2EF85460DB09}"/>
              </a:ext>
            </a:extLst>
          </p:cNvPr>
          <p:cNvSpPr/>
          <p:nvPr/>
        </p:nvSpPr>
        <p:spPr>
          <a:xfrm>
            <a:off x="1041400" y="4470400"/>
            <a:ext cx="101600" cy="101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20E1A64-3014-0B42-A042-3055AC5D5534}"/>
              </a:ext>
            </a:extLst>
          </p:cNvPr>
          <p:cNvSpPr txBox="1"/>
          <p:nvPr/>
        </p:nvSpPr>
        <p:spPr>
          <a:xfrm>
            <a:off x="1244600" y="43942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Erkannte Geheimnisse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9B67EBB-5A31-4B47-8E18-850913206B0F}"/>
              </a:ext>
            </a:extLst>
          </p:cNvPr>
          <p:cNvSpPr txBox="1"/>
          <p:nvPr/>
        </p:nvSpPr>
        <p:spPr>
          <a:xfrm>
            <a:off x="1244600" y="46228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Passwörter, API-Keys, Connection-Strings im Codeauszug.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587DCF-3EB3-4845-8BF0-FD2CA04EEDF3}"/>
              </a:ext>
            </a:extLst>
          </p:cNvPr>
          <p:cNvSpPr/>
          <p:nvPr/>
        </p:nvSpPr>
        <p:spPr>
          <a:xfrm>
            <a:off x="1041400" y="5257800"/>
            <a:ext cx="101600" cy="101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AD712CB-CF8E-8649-BC9E-A6E3498B4DF3}"/>
              </a:ext>
            </a:extLst>
          </p:cNvPr>
          <p:cNvSpPr txBox="1"/>
          <p:nvPr/>
        </p:nvSpPr>
        <p:spPr>
          <a:xfrm>
            <a:off x="1244600" y="51816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Scan-Metadaten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42095F6-2A4B-F745-9AE4-D413D1AC6E47}"/>
              </a:ext>
            </a:extLst>
          </p:cNvPr>
          <p:cNvSpPr txBox="1"/>
          <p:nvPr/>
        </p:nvSpPr>
        <p:spPr>
          <a:xfrm>
            <a:off x="1244600" y="54102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Hostnamen, Benutzernamen, Toolversionen.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C9A41AD-78CA-FF42-9030-1D12D2689F8D}"/>
              </a:ext>
            </a:extLst>
          </p:cNvPr>
          <p:cNvSpPr/>
          <p:nvPr/>
        </p:nvSpPr>
        <p:spPr>
          <a:xfrm>
            <a:off x="6223000" y="2057400"/>
            <a:ext cx="5207000" cy="4064000"/>
          </a:xfrm>
          <a:prstGeom prst="rect">
            <a:avLst/>
          </a:prstGeom>
          <a:solidFill>
            <a:srgbClr val="F4FAF5"/>
          </a:solidFill>
          <a:ln w="1270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986F4E1-DDA6-E845-A6CD-04473CA83582}"/>
              </a:ext>
            </a:extLst>
          </p:cNvPr>
          <p:cNvSpPr/>
          <p:nvPr/>
        </p:nvSpPr>
        <p:spPr>
          <a:xfrm>
            <a:off x="6223000" y="2057400"/>
            <a:ext cx="76200" cy="4064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F690227-2610-3048-B1AF-8FC6B64D4B1D}"/>
              </a:ext>
            </a:extLst>
          </p:cNvPr>
          <p:cNvSpPr txBox="1"/>
          <p:nvPr/>
        </p:nvSpPr>
        <p:spPr>
          <a:xfrm>
            <a:off x="6451600" y="22352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196B24"/>
                </a:solidFill>
              </a:rPr>
              <a:t>✓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3E86AAF-E6C4-374B-9020-0DE8E047D2E2}"/>
              </a:ext>
            </a:extLst>
          </p:cNvPr>
          <p:cNvSpPr txBox="1"/>
          <p:nvPr/>
        </p:nvSpPr>
        <p:spPr>
          <a:xfrm>
            <a:off x="6858000" y="22860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Schalter zur Absicherung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27E754-356E-F44C-BDE3-E72FB002445D}"/>
              </a:ext>
            </a:extLst>
          </p:cNvPr>
          <p:cNvSpPr/>
          <p:nvPr/>
        </p:nvSpPr>
        <p:spPr>
          <a:xfrm>
            <a:off x="6502400" y="2895600"/>
            <a:ext cx="101600" cy="101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4940AFF-EBE2-4143-AC64-BA1046292E46}"/>
              </a:ext>
            </a:extLst>
          </p:cNvPr>
          <p:cNvSpPr txBox="1"/>
          <p:nvPr/>
        </p:nvSpPr>
        <p:spPr>
          <a:xfrm>
            <a:off x="6705600" y="28194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  <a:latin typeface="Consolas"/>
                <a:cs typeface="Consolas"/>
              </a:rPr>
              <a:t>--no-context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EB18301-99D8-F248-87A4-7E1411DF976D}"/>
              </a:ext>
            </a:extLst>
          </p:cNvPr>
          <p:cNvSpPr txBox="1"/>
          <p:nvPr/>
        </p:nvSpPr>
        <p:spPr>
          <a:xfrm>
            <a:off x="6705600" y="30480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Kein Quelltext-Kontext in Reports — nur Fundstelle.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D296526-2FFB-A649-BEDD-70FFE272C8BE}"/>
              </a:ext>
            </a:extLst>
          </p:cNvPr>
          <p:cNvSpPr/>
          <p:nvPr/>
        </p:nvSpPr>
        <p:spPr>
          <a:xfrm>
            <a:off x="6502400" y="3683000"/>
            <a:ext cx="101600" cy="101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1D48DA1-F3E6-B348-A064-68DDCBEB2B70}"/>
              </a:ext>
            </a:extLst>
          </p:cNvPr>
          <p:cNvSpPr txBox="1"/>
          <p:nvPr/>
        </p:nvSpPr>
        <p:spPr>
          <a:xfrm>
            <a:off x="6705600" y="36068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  <a:latin typeface="Consolas"/>
                <a:cs typeface="Consolas"/>
              </a:rPr>
              <a:t>--redact-secrets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373D130-ECC2-0647-AF64-70F7E825B057}"/>
              </a:ext>
            </a:extLst>
          </p:cNvPr>
          <p:cNvSpPr txBox="1"/>
          <p:nvPr/>
        </p:nvSpPr>
        <p:spPr>
          <a:xfrm>
            <a:off x="6705600" y="3835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Geheimnis-Muster maskiert, inkl. PostgreSQL/EPAS PASSWORD '…'.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E97A9D-48D9-5A4A-8445-08A8E576CFCF}"/>
              </a:ext>
            </a:extLst>
          </p:cNvPr>
          <p:cNvSpPr/>
          <p:nvPr/>
        </p:nvSpPr>
        <p:spPr>
          <a:xfrm>
            <a:off x="6502400" y="4470400"/>
            <a:ext cx="101600" cy="101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0F2F39B-A746-7B4C-975E-84A5485FC769}"/>
              </a:ext>
            </a:extLst>
          </p:cNvPr>
          <p:cNvSpPr txBox="1"/>
          <p:nvPr/>
        </p:nvSpPr>
        <p:spPr>
          <a:xfrm>
            <a:off x="6705600" y="43942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  <a:latin typeface="Consolas"/>
                <a:cs typeface="Consolas"/>
              </a:rPr>
              <a:t>--safe-report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34B5E47-1FC3-7C42-B2CB-4652CF5B0CD8}"/>
              </a:ext>
            </a:extLst>
          </p:cNvPr>
          <p:cNvSpPr txBox="1"/>
          <p:nvPr/>
        </p:nvSpPr>
        <p:spPr>
          <a:xfrm>
            <a:off x="6705600" y="46228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Bündelt --no-context + --redact-secrets + --redact-paths. Empfohlen für CI-Artefakte.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5713A54-EB06-384C-9858-0E6C7C0E28DA}"/>
              </a:ext>
            </a:extLst>
          </p:cNvPr>
          <p:cNvSpPr/>
          <p:nvPr/>
        </p:nvSpPr>
        <p:spPr>
          <a:xfrm>
            <a:off x="6502400" y="5257800"/>
            <a:ext cx="101600" cy="101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5C88B86-26AD-8E42-A807-535A32DBE7C2}"/>
              </a:ext>
            </a:extLst>
          </p:cNvPr>
          <p:cNvSpPr txBox="1"/>
          <p:nvPr/>
        </p:nvSpPr>
        <p:spPr>
          <a:xfrm>
            <a:off x="6705600" y="51816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  <a:latin typeface="Consolas"/>
                <a:cs typeface="Consolas"/>
              </a:rPr>
              <a:t>--context-lines 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7F6EF86-DC20-D545-A271-5092C865A662}"/>
              </a:ext>
            </a:extLst>
          </p:cNvPr>
          <p:cNvSpPr txBox="1"/>
          <p:nvPr/>
        </p:nvSpPr>
        <p:spPr>
          <a:xfrm>
            <a:off x="6705600" y="54102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Feinkorn-Kontrolle (0 = aus). Standard ist 3.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27B5377-EE88-864F-B8C0-150C623C93E6}"/>
              </a:ext>
            </a:extLst>
          </p:cNvPr>
          <p:cNvSpPr txBox="1"/>
          <p:nvPr/>
        </p:nvSpPr>
        <p:spPr>
          <a:xfrm>
            <a:off x="762000" y="6248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Die Redaction ist heuristisch — sie bietet keine Vollständigkeitsgarantie. Reports für externe Weitergabe immer manuell prüfen.</a:t>
            </a:r>
          </a:p>
        </p:txBody>
      </p:sp>
    </p:spTree>
    <p:extLst>
      <p:ext uri="{BB962C8B-B14F-4D97-AF65-F5344CB8AC3E}">
        <p14:creationId xmlns:p14="http://schemas.microsoft.com/office/powerpoint/2010/main" val="1507223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65AEEC6-31A6-8448-8E90-B05FDB9137FA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TEIL 6 · 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BFEA38E-077B-B649-8FD0-C7E77876B202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ACI als blockierender Gate in der Pipeline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C0404C-84B1-4D40-A763-71F2270D7BA9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DCADCD3-EDAD-FA49-BFBC-D49FCACCD4EA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Exit-Code 0 gibt frei  ·  Exit-Code 1/2 stoppt den Build. Report-Artefakte fließen ins Code-Scanning.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071855-0DFA-7647-A394-45646D94AAF2}"/>
              </a:ext>
            </a:extLst>
          </p:cNvPr>
          <p:cNvSpPr/>
          <p:nvPr/>
        </p:nvSpPr>
        <p:spPr>
          <a:xfrm>
            <a:off x="762000" y="2222500"/>
            <a:ext cx="2286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8E34640-EE27-C34D-97DE-B3DBB451D862}"/>
              </a:ext>
            </a:extLst>
          </p:cNvPr>
          <p:cNvSpPr/>
          <p:nvPr/>
        </p:nvSpPr>
        <p:spPr>
          <a:xfrm>
            <a:off x="762000" y="2222500"/>
            <a:ext cx="22860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5DFD5C-4411-9B48-AEA7-7620311BD5C5}"/>
              </a:ext>
            </a:extLst>
          </p:cNvPr>
          <p:cNvSpPr txBox="1"/>
          <p:nvPr/>
        </p:nvSpPr>
        <p:spPr>
          <a:xfrm>
            <a:off x="762000" y="25019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Commit / MR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EE70653-3BB9-1140-A4C7-A3FEC8A1D804}"/>
              </a:ext>
            </a:extLst>
          </p:cNvPr>
          <p:cNvSpPr txBox="1"/>
          <p:nvPr/>
        </p:nvSpPr>
        <p:spPr>
          <a:xfrm>
            <a:off x="762000" y="28829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Quellcode-Änderung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2505E04E-7931-7349-ADC7-AD3B0B89809A}"/>
              </a:ext>
            </a:extLst>
          </p:cNvPr>
          <p:cNvSpPr/>
          <p:nvPr/>
        </p:nvSpPr>
        <p:spPr>
          <a:xfrm>
            <a:off x="3098800" y="2724150"/>
            <a:ext cx="279400" cy="2032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0BAB2B-19E8-BB4D-81B3-029196CB0421}"/>
              </a:ext>
            </a:extLst>
          </p:cNvPr>
          <p:cNvSpPr/>
          <p:nvPr/>
        </p:nvSpPr>
        <p:spPr>
          <a:xfrm>
            <a:off x="3429000" y="2222500"/>
            <a:ext cx="2286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05CEECB-5146-064C-8949-F89FFA290044}"/>
              </a:ext>
            </a:extLst>
          </p:cNvPr>
          <p:cNvSpPr/>
          <p:nvPr/>
        </p:nvSpPr>
        <p:spPr>
          <a:xfrm>
            <a:off x="3429000" y="2222500"/>
            <a:ext cx="2286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6EE72CA-B808-C647-8B28-F495F5CA0518}"/>
              </a:ext>
            </a:extLst>
          </p:cNvPr>
          <p:cNvSpPr txBox="1"/>
          <p:nvPr/>
        </p:nvSpPr>
        <p:spPr>
          <a:xfrm>
            <a:off x="3429000" y="25019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Build &amp; Test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85ECA22-D7EC-6E44-98C5-EE2DB7C45EF6}"/>
              </a:ext>
            </a:extLst>
          </p:cNvPr>
          <p:cNvSpPr txBox="1"/>
          <p:nvPr/>
        </p:nvSpPr>
        <p:spPr>
          <a:xfrm>
            <a:off x="3429000" y="28829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Kompilieren · Tests</a:t>
            </a:r>
          </a:p>
        </p:txBody>
      </p:sp>
      <p:sp>
        <p:nvSpPr>
          <p:cNvPr id="15" name="Pfeil nach rechts 14">
            <a:extLst>
              <a:ext uri="{FF2B5EF4-FFF2-40B4-BE49-F238E27FC236}">
                <a16:creationId xmlns:a16="http://schemas.microsoft.com/office/drawing/2014/main" id="{0A79B0C6-1672-E249-9B7D-8E06E6A9B9D5}"/>
              </a:ext>
            </a:extLst>
          </p:cNvPr>
          <p:cNvSpPr/>
          <p:nvPr/>
        </p:nvSpPr>
        <p:spPr>
          <a:xfrm>
            <a:off x="5765800" y="2724150"/>
            <a:ext cx="279400" cy="2032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9EAFA23-93CF-154D-9836-6C4DDC1445FA}"/>
              </a:ext>
            </a:extLst>
          </p:cNvPr>
          <p:cNvSpPr/>
          <p:nvPr/>
        </p:nvSpPr>
        <p:spPr>
          <a:xfrm>
            <a:off x="6096000" y="2222500"/>
            <a:ext cx="2286000" cy="1206500"/>
          </a:xfrm>
          <a:prstGeom prst="rect">
            <a:avLst/>
          </a:prstGeom>
          <a:solidFill>
            <a:srgbClr val="0E2841"/>
          </a:solidFill>
          <a:ln w="2540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F130BFA-D5D2-0F43-9723-EE94FC2D32AA}"/>
              </a:ext>
            </a:extLst>
          </p:cNvPr>
          <p:cNvSpPr txBox="1"/>
          <p:nvPr/>
        </p:nvSpPr>
        <p:spPr>
          <a:xfrm>
            <a:off x="6096000" y="24511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ACI-Gate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9174633-91EC-B742-BB76-F2F9FF2855FF}"/>
              </a:ext>
            </a:extLst>
          </p:cNvPr>
          <p:cNvSpPr txBox="1"/>
          <p:nvPr/>
        </p:nvSpPr>
        <p:spPr>
          <a:xfrm>
            <a:off x="6096000" y="28321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--fail-on high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3D61373-F349-4B4D-8EA9-9DE198A90B43}"/>
              </a:ext>
            </a:extLst>
          </p:cNvPr>
          <p:cNvSpPr/>
          <p:nvPr/>
        </p:nvSpPr>
        <p:spPr>
          <a:xfrm>
            <a:off x="6731000" y="3111500"/>
            <a:ext cx="10160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ACI</a:t>
            </a:r>
          </a:p>
        </p:txBody>
      </p:sp>
      <p:sp>
        <p:nvSpPr>
          <p:cNvPr id="20" name="Pfeil nach rechts 19">
            <a:extLst>
              <a:ext uri="{FF2B5EF4-FFF2-40B4-BE49-F238E27FC236}">
                <a16:creationId xmlns:a16="http://schemas.microsoft.com/office/drawing/2014/main" id="{5CC94CFD-AD2A-8C4D-9232-9B780F185C14}"/>
              </a:ext>
            </a:extLst>
          </p:cNvPr>
          <p:cNvSpPr/>
          <p:nvPr/>
        </p:nvSpPr>
        <p:spPr>
          <a:xfrm>
            <a:off x="8432800" y="2724150"/>
            <a:ext cx="279400" cy="2032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FC61D4E-4B45-8241-9473-E27C98381AD3}"/>
              </a:ext>
            </a:extLst>
          </p:cNvPr>
          <p:cNvSpPr/>
          <p:nvPr/>
        </p:nvSpPr>
        <p:spPr>
          <a:xfrm>
            <a:off x="8763000" y="2222500"/>
            <a:ext cx="2286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A884336-BBBB-DF4B-88FD-29A7710951D8}"/>
              </a:ext>
            </a:extLst>
          </p:cNvPr>
          <p:cNvSpPr/>
          <p:nvPr/>
        </p:nvSpPr>
        <p:spPr>
          <a:xfrm>
            <a:off x="8763000" y="2222500"/>
            <a:ext cx="2286000" cy="63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D097E0B-8243-AB44-A8DC-12270FFD52FB}"/>
              </a:ext>
            </a:extLst>
          </p:cNvPr>
          <p:cNvSpPr txBox="1"/>
          <p:nvPr/>
        </p:nvSpPr>
        <p:spPr>
          <a:xfrm>
            <a:off x="8763000" y="25019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Deployment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22DBCCF-4399-BF43-A393-FFBD02B4E98D}"/>
              </a:ext>
            </a:extLst>
          </p:cNvPr>
          <p:cNvSpPr txBox="1"/>
          <p:nvPr/>
        </p:nvSpPr>
        <p:spPr>
          <a:xfrm>
            <a:off x="8763000" y="28829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Freigabe &amp; Rollout</a:t>
            </a:r>
          </a:p>
        </p:txBody>
      </p:sp>
      <p:sp>
        <p:nvSpPr>
          <p:cNvPr id="25" name="Pfeil nach unten 24">
            <a:extLst>
              <a:ext uri="{FF2B5EF4-FFF2-40B4-BE49-F238E27FC236}">
                <a16:creationId xmlns:a16="http://schemas.microsoft.com/office/drawing/2014/main" id="{36986E8E-8516-8D4C-9FED-C373837F0C2D}"/>
              </a:ext>
            </a:extLst>
          </p:cNvPr>
          <p:cNvSpPr/>
          <p:nvPr/>
        </p:nvSpPr>
        <p:spPr>
          <a:xfrm>
            <a:off x="7137400" y="3581400"/>
            <a:ext cx="203200" cy="381000"/>
          </a:xfrm>
          <a:prstGeom prst="downArrow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37E2093-54EE-3742-90F8-6D7B63F501D9}"/>
              </a:ext>
            </a:extLst>
          </p:cNvPr>
          <p:cNvSpPr/>
          <p:nvPr/>
        </p:nvSpPr>
        <p:spPr>
          <a:xfrm>
            <a:off x="6096000" y="4038600"/>
            <a:ext cx="2286000" cy="711200"/>
          </a:xfrm>
          <a:prstGeom prst="rect">
            <a:avLst/>
          </a:prstGeom>
          <a:solidFill>
            <a:srgbClr val="FDF2F2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40D6CDA-8E3F-1D47-B18B-0F3F073CF9A4}"/>
              </a:ext>
            </a:extLst>
          </p:cNvPr>
          <p:cNvSpPr txBox="1"/>
          <p:nvPr/>
        </p:nvSpPr>
        <p:spPr>
          <a:xfrm>
            <a:off x="6096000" y="41148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C00000"/>
                </a:solidFill>
              </a:rPr>
              <a:t>Build gestoppt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D6AEB4C-EB41-C64B-B5F8-9FC1567A606E}"/>
              </a:ext>
            </a:extLst>
          </p:cNvPr>
          <p:cNvSpPr txBox="1"/>
          <p:nvPr/>
        </p:nvSpPr>
        <p:spPr>
          <a:xfrm>
            <a:off x="6096000" y="44196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666666"/>
                </a:solidFill>
              </a:rPr>
              <a:t>kein Deployment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CD72DD7-4451-CE48-9A4F-2BE4D97605B3}"/>
              </a:ext>
            </a:extLst>
          </p:cNvPr>
          <p:cNvSpPr txBox="1"/>
          <p:nvPr/>
        </p:nvSpPr>
        <p:spPr>
          <a:xfrm>
            <a:off x="8432800" y="2978150"/>
            <a:ext cx="2794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196B24"/>
                </a:solidFill>
                <a:latin typeface="Consolas"/>
                <a:cs typeface="Consolas"/>
              </a:rPr>
              <a:t>Exit-Code 0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CB1D513-D7EF-814B-B02A-2DFEE0BD76F1}"/>
              </a:ext>
            </a:extLst>
          </p:cNvPr>
          <p:cNvSpPr txBox="1"/>
          <p:nvPr/>
        </p:nvSpPr>
        <p:spPr>
          <a:xfrm>
            <a:off x="7391400" y="36576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C00000"/>
                </a:solidFill>
                <a:latin typeface="Consolas"/>
                <a:cs typeface="Consolas"/>
              </a:rPr>
              <a:t>Exit 1 / 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E204F4F-FDFA-C444-A993-02F61EAAE7D5}"/>
              </a:ext>
            </a:extLst>
          </p:cNvPr>
          <p:cNvSpPr/>
          <p:nvPr/>
        </p:nvSpPr>
        <p:spPr>
          <a:xfrm>
            <a:off x="762000" y="5080000"/>
            <a:ext cx="10668000" cy="1219200"/>
          </a:xfrm>
          <a:prstGeom prst="rect">
            <a:avLst/>
          </a:prstGeom>
          <a:solidFill>
            <a:srgbClr val="F8F9FB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D949A88-1563-C04A-802C-4F96816BA917}"/>
              </a:ext>
            </a:extLst>
          </p:cNvPr>
          <p:cNvSpPr txBox="1"/>
          <p:nvPr/>
        </p:nvSpPr>
        <p:spPr>
          <a:xfrm>
            <a:off x="1016000" y="52324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156082"/>
                </a:solidFill>
              </a:rPr>
              <a:t>REPORT-ARTEFAKTE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C880C03-8B92-F34B-B541-2DFE5FD61BEA}"/>
              </a:ext>
            </a:extLst>
          </p:cNvPr>
          <p:cNvSpPr/>
          <p:nvPr/>
        </p:nvSpPr>
        <p:spPr>
          <a:xfrm>
            <a:off x="1016000" y="5511800"/>
            <a:ext cx="1016000" cy="381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2E21785-498D-A444-87B8-A2D0880D5F0A}"/>
              </a:ext>
            </a:extLst>
          </p:cNvPr>
          <p:cNvSpPr/>
          <p:nvPr/>
        </p:nvSpPr>
        <p:spPr>
          <a:xfrm>
            <a:off x="2159000" y="5511800"/>
            <a:ext cx="1016000" cy="381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SARIF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14A9B52-BFA3-3542-8D46-7D3EFACA98E1}"/>
              </a:ext>
            </a:extLst>
          </p:cNvPr>
          <p:cNvSpPr/>
          <p:nvPr/>
        </p:nvSpPr>
        <p:spPr>
          <a:xfrm>
            <a:off x="3302000" y="5511800"/>
            <a:ext cx="1016000" cy="381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36" name="Pfeil nach rechts 35">
            <a:extLst>
              <a:ext uri="{FF2B5EF4-FFF2-40B4-BE49-F238E27FC236}">
                <a16:creationId xmlns:a16="http://schemas.microsoft.com/office/drawing/2014/main" id="{46024D76-8D9B-D741-A379-63B24D454537}"/>
              </a:ext>
            </a:extLst>
          </p:cNvPr>
          <p:cNvSpPr/>
          <p:nvPr/>
        </p:nvSpPr>
        <p:spPr>
          <a:xfrm>
            <a:off x="4572000" y="5562600"/>
            <a:ext cx="508000" cy="2794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EDF20A1-F6BE-1447-AA9B-60AE829496F9}"/>
              </a:ext>
            </a:extLst>
          </p:cNvPr>
          <p:cNvSpPr/>
          <p:nvPr/>
        </p:nvSpPr>
        <p:spPr>
          <a:xfrm>
            <a:off x="5207000" y="5461000"/>
            <a:ext cx="5969000" cy="508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A3194D7-E39D-914E-8CB2-A261803CBF03}"/>
              </a:ext>
            </a:extLst>
          </p:cNvPr>
          <p:cNvSpPr txBox="1"/>
          <p:nvPr/>
        </p:nvSpPr>
        <p:spPr>
          <a:xfrm>
            <a:off x="5207000" y="55626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Code-Scanning  ·  Audit-Dashboard</a:t>
            </a:r>
          </a:p>
        </p:txBody>
      </p:sp>
    </p:spTree>
    <p:extLst>
      <p:ext uri="{BB962C8B-B14F-4D97-AF65-F5344CB8AC3E}">
        <p14:creationId xmlns:p14="http://schemas.microsoft.com/office/powerpoint/2010/main" val="387733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C2923E9-76E1-3544-8F39-1B5F6F6C559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C79B96-C27D-F64A-942C-21B08350CB81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Exit-Codes — die drei Signale an die Pipeline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B4FBD70-6517-1C45-8422-BC47F7BBB8D7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4798073-3518-5347-B89B-4AF5FF72881B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Der Exit-Code ist die einzige Information, die ACI nach außen gibt. Er bestimmt, ob der Build durchgeht.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6A437D6-3FD0-DC42-BCE8-019A108C9562}"/>
              </a:ext>
            </a:extLst>
          </p:cNvPr>
          <p:cNvSpPr/>
          <p:nvPr/>
        </p:nvSpPr>
        <p:spPr>
          <a:xfrm>
            <a:off x="762000" y="2057400"/>
            <a:ext cx="10668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3383AB1-103A-D642-AE4E-F830947F607A}"/>
              </a:ext>
            </a:extLst>
          </p:cNvPr>
          <p:cNvSpPr/>
          <p:nvPr/>
        </p:nvSpPr>
        <p:spPr>
          <a:xfrm>
            <a:off x="762000" y="2057400"/>
            <a:ext cx="1270000" cy="1397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7CC40A0-1113-0E44-9359-5B1FB384795C}"/>
              </a:ext>
            </a:extLst>
          </p:cNvPr>
          <p:cNvSpPr txBox="1"/>
          <p:nvPr/>
        </p:nvSpPr>
        <p:spPr>
          <a:xfrm>
            <a:off x="762000" y="22352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600" b="1">
                <a:solidFill>
                  <a:srgbClr val="FFFFFF"/>
                </a:solidFill>
                <a:latin typeface="Calibri Light"/>
                <a:cs typeface="Calibri Light"/>
              </a:rPr>
              <a:t>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898D56C-01A2-AF41-B1CE-51A6D01A189E}"/>
              </a:ext>
            </a:extLst>
          </p:cNvPr>
          <p:cNvSpPr txBox="1"/>
          <p:nvPr/>
        </p:nvSpPr>
        <p:spPr>
          <a:xfrm>
            <a:off x="762000" y="30480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Consolas"/>
                <a:cs typeface="Consolas"/>
              </a:rPr>
              <a:t>Exit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B019EB-1F5B-DD40-966E-28039905E227}"/>
              </a:ext>
            </a:extLst>
          </p:cNvPr>
          <p:cNvSpPr txBox="1"/>
          <p:nvPr/>
        </p:nvSpPr>
        <p:spPr>
          <a:xfrm>
            <a:off x="2260600" y="2209800"/>
            <a:ext cx="911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196B24"/>
                </a:solidFill>
              </a:rPr>
              <a:t>GATE BESTANDEN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E02897A-491D-CD40-BFB9-79B5ABB8BE65}"/>
              </a:ext>
            </a:extLst>
          </p:cNvPr>
          <p:cNvSpPr txBox="1"/>
          <p:nvPr/>
        </p:nvSpPr>
        <p:spPr>
          <a:xfrm>
            <a:off x="2260600" y="2387600"/>
            <a:ext cx="9118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Kein Finding erreicht die Schwelle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8F1B95-39CA-1245-98BF-433765937065}"/>
              </a:ext>
            </a:extLst>
          </p:cNvPr>
          <p:cNvSpPr txBox="1"/>
          <p:nvPr/>
        </p:nvSpPr>
        <p:spPr>
          <a:xfrm>
            <a:off x="2260600" y="2667000"/>
            <a:ext cx="9118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444444"/>
                </a:solidFill>
              </a:rPr>
              <a:t>Build geht durch. Der Lauf war erfolgreich, alle Findings liegen unter der mit --fail-on gesetzten Schwelle (oder es gab keine Findings).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31C9259-0215-4D44-A077-8A5C6E4D6C1A}"/>
              </a:ext>
            </a:extLst>
          </p:cNvPr>
          <p:cNvSpPr txBox="1"/>
          <p:nvPr/>
        </p:nvSpPr>
        <p:spPr>
          <a:xfrm>
            <a:off x="2260600" y="3175000"/>
            <a:ext cx="9118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96B24"/>
                </a:solidFill>
              </a:rPr>
              <a:t>▶ Build fortsetzen → Deployment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03E4BE6-DFB0-414B-A470-F0DA4C7710C5}"/>
              </a:ext>
            </a:extLst>
          </p:cNvPr>
          <p:cNvSpPr/>
          <p:nvPr/>
        </p:nvSpPr>
        <p:spPr>
          <a:xfrm>
            <a:off x="762000" y="3606800"/>
            <a:ext cx="10668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54F189D-17D9-E549-8C0D-78C632AE26BE}"/>
              </a:ext>
            </a:extLst>
          </p:cNvPr>
          <p:cNvSpPr/>
          <p:nvPr/>
        </p:nvSpPr>
        <p:spPr>
          <a:xfrm>
            <a:off x="762000" y="3606800"/>
            <a:ext cx="1270000" cy="1397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3F21617-38B1-A14E-9DEA-E908441CA878}"/>
              </a:ext>
            </a:extLst>
          </p:cNvPr>
          <p:cNvSpPr txBox="1"/>
          <p:nvPr/>
        </p:nvSpPr>
        <p:spPr>
          <a:xfrm>
            <a:off x="762000" y="37846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600" b="1">
                <a:solidFill>
                  <a:srgbClr val="FFFFFF"/>
                </a:solidFill>
                <a:latin typeface="Calibri Light"/>
                <a:cs typeface="Calibri Light"/>
              </a:rPr>
              <a:t>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710A41E-7B8A-9E49-BEF8-5CC3603318EC}"/>
              </a:ext>
            </a:extLst>
          </p:cNvPr>
          <p:cNvSpPr txBox="1"/>
          <p:nvPr/>
        </p:nvSpPr>
        <p:spPr>
          <a:xfrm>
            <a:off x="762000" y="4597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Consolas"/>
                <a:cs typeface="Consolas"/>
              </a:rPr>
              <a:t>Exit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F750532-B4D2-304F-9D72-3EFDA99F5048}"/>
              </a:ext>
            </a:extLst>
          </p:cNvPr>
          <p:cNvSpPr txBox="1"/>
          <p:nvPr/>
        </p:nvSpPr>
        <p:spPr>
          <a:xfrm>
            <a:off x="2260600" y="3759200"/>
            <a:ext cx="911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E97132"/>
                </a:solidFill>
              </a:rPr>
              <a:t>FINDINGS ÜBER SCHWELLE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D6F9E64-4E48-E041-9ED7-1201177F921F}"/>
              </a:ext>
            </a:extLst>
          </p:cNvPr>
          <p:cNvSpPr txBox="1"/>
          <p:nvPr/>
        </p:nvSpPr>
        <p:spPr>
          <a:xfrm>
            <a:off x="2260600" y="3937000"/>
            <a:ext cx="9118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Mindestens ein Finding erreicht / übersteigt die Schwelle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E92465D-6175-5840-ABF7-A400F7D4EC88}"/>
              </a:ext>
            </a:extLst>
          </p:cNvPr>
          <p:cNvSpPr txBox="1"/>
          <p:nvPr/>
        </p:nvSpPr>
        <p:spPr>
          <a:xfrm>
            <a:off x="2260600" y="4216400"/>
            <a:ext cx="9118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444444"/>
                </a:solidFill>
              </a:rPr>
              <a:t>Build stoppt. Ein blockierendes Finding (z.B. ein Critical bei --fail-on critical) wurde gemeldet. Das gewünschte Verhalten eines funktionierenden Gates.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143EBE7-1B3E-5442-BD4A-580749064A63}"/>
              </a:ext>
            </a:extLst>
          </p:cNvPr>
          <p:cNvSpPr txBox="1"/>
          <p:nvPr/>
        </p:nvSpPr>
        <p:spPr>
          <a:xfrm>
            <a:off x="2260600" y="4724400"/>
            <a:ext cx="9118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▶ Findings beheben oder via Waiver dokumentieren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36BCBE7-FD68-7E4E-BB4D-8D8A6E37609C}"/>
              </a:ext>
            </a:extLst>
          </p:cNvPr>
          <p:cNvSpPr/>
          <p:nvPr/>
        </p:nvSpPr>
        <p:spPr>
          <a:xfrm>
            <a:off x="762000" y="5156200"/>
            <a:ext cx="10668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728ED37-760C-814B-80C2-35EACC0BA975}"/>
              </a:ext>
            </a:extLst>
          </p:cNvPr>
          <p:cNvSpPr/>
          <p:nvPr/>
        </p:nvSpPr>
        <p:spPr>
          <a:xfrm>
            <a:off x="762000" y="5156200"/>
            <a:ext cx="1270000" cy="1397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854C370-C803-DD45-BCDE-CC396ECABFE4}"/>
              </a:ext>
            </a:extLst>
          </p:cNvPr>
          <p:cNvSpPr txBox="1"/>
          <p:nvPr/>
        </p:nvSpPr>
        <p:spPr>
          <a:xfrm>
            <a:off x="762000" y="5334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5600" b="1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C6D3E67-09F1-9043-8C0C-0BF87A8FFD81}"/>
              </a:ext>
            </a:extLst>
          </p:cNvPr>
          <p:cNvSpPr txBox="1"/>
          <p:nvPr/>
        </p:nvSpPr>
        <p:spPr>
          <a:xfrm>
            <a:off x="762000" y="61468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Consolas"/>
                <a:cs typeface="Consolas"/>
              </a:rPr>
              <a:t>Exit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73BC3AF-08B1-DE4C-B0D1-675828483F6B}"/>
              </a:ext>
            </a:extLst>
          </p:cNvPr>
          <p:cNvSpPr txBox="1"/>
          <p:nvPr/>
        </p:nvSpPr>
        <p:spPr>
          <a:xfrm>
            <a:off x="2260600" y="5308600"/>
            <a:ext cx="911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C00000"/>
                </a:solidFill>
              </a:rPr>
              <a:t>WERKZEUG- / EINGABEFEHLER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C4DE4B-2ECC-A74C-8B5F-4FB8CA253BE4}"/>
              </a:ext>
            </a:extLst>
          </p:cNvPr>
          <p:cNvSpPr txBox="1"/>
          <p:nvPr/>
        </p:nvSpPr>
        <p:spPr>
          <a:xfrm>
            <a:off x="2260600" y="5486400"/>
            <a:ext cx="9118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Tool-Fehler oder durch --strict-* erzwungener Abbruch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8190D9D-FB12-5D40-A0C5-0E51624D1B6B}"/>
              </a:ext>
            </a:extLst>
          </p:cNvPr>
          <p:cNvSpPr txBox="1"/>
          <p:nvPr/>
        </p:nvSpPr>
        <p:spPr>
          <a:xfrm>
            <a:off x="2260600" y="5765800"/>
            <a:ext cx="9118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444444"/>
                </a:solidFill>
              </a:rPr>
              <a:t>Build stoppt. Ungültige Regeldatei, Pfad nicht gefunden, ungültige Option — oder ein interner Check-Fehler mit --strict-internal-errors bzw. eine fehlerhafte Waiver-Datei mit --strict-waivers.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7C1DB7C-1933-344A-9D77-8B440F459C9C}"/>
              </a:ext>
            </a:extLst>
          </p:cNvPr>
          <p:cNvSpPr txBox="1"/>
          <p:nvPr/>
        </p:nvSpPr>
        <p:spPr>
          <a:xfrm>
            <a:off x="2260600" y="6273800"/>
            <a:ext cx="9118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C00000"/>
                </a:solidFill>
              </a:rPr>
              <a:t>▶ Fehlermeldung auf stderr prüfen — kein stilles Durchwinken</a:t>
            </a:r>
          </a:p>
        </p:txBody>
      </p:sp>
    </p:spTree>
    <p:extLst>
      <p:ext uri="{BB962C8B-B14F-4D97-AF65-F5344CB8AC3E}">
        <p14:creationId xmlns:p14="http://schemas.microsoft.com/office/powerpoint/2010/main" val="3418910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10577C-540E-FD46-B618-01A7DFC6878A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FE9CC4-A2D3-EC47-88F7-8CFE24A5C6FF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Empfohlener Gate-Aufruf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F65C9A-15E3-5049-8CEE-954F2D6E1546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C4AF633-0B76-B847-8FE0-D8CF1D1B7F41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Blockiert den Build bei sicherheitsrelevanten Findings und erzeugt zugleich archivierbare, kontextfreie Report-Artefakte.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CE5B86F-292E-AE41-BC11-615608473249}"/>
              </a:ext>
            </a:extLst>
          </p:cNvPr>
          <p:cNvSpPr/>
          <p:nvPr/>
        </p:nvSpPr>
        <p:spPr>
          <a:xfrm>
            <a:off x="762000" y="2032000"/>
            <a:ext cx="5207000" cy="3048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7D49F8-4605-174C-B830-186D6D93BF24}"/>
              </a:ext>
            </a:extLst>
          </p:cNvPr>
          <p:cNvSpPr/>
          <p:nvPr/>
        </p:nvSpPr>
        <p:spPr>
          <a:xfrm>
            <a:off x="762000" y="2032000"/>
            <a:ext cx="5207000" cy="406400"/>
          </a:xfrm>
          <a:prstGeom prst="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F114FF-BBE9-9E40-BBB4-4D34BEB4B7AE}"/>
              </a:ext>
            </a:extLst>
          </p:cNvPr>
          <p:cNvSpPr/>
          <p:nvPr/>
        </p:nvSpPr>
        <p:spPr>
          <a:xfrm>
            <a:off x="889000" y="2184400"/>
            <a:ext cx="101600" cy="101600"/>
          </a:xfrm>
          <a:prstGeom prst="ellipse">
            <a:avLst/>
          </a:prstGeom>
          <a:solidFill>
            <a:srgbClr val="FF5F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2CA58B-39D6-7246-832F-C540EF261B41}"/>
              </a:ext>
            </a:extLst>
          </p:cNvPr>
          <p:cNvSpPr/>
          <p:nvPr/>
        </p:nvSpPr>
        <p:spPr>
          <a:xfrm>
            <a:off x="1041400" y="2184400"/>
            <a:ext cx="101600" cy="101600"/>
          </a:xfrm>
          <a:prstGeom prst="ellipse">
            <a:avLst/>
          </a:prstGeom>
          <a:solidFill>
            <a:srgbClr val="FEBC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595F54-0D10-D247-AB96-F19ABE8F092C}"/>
              </a:ext>
            </a:extLst>
          </p:cNvPr>
          <p:cNvSpPr/>
          <p:nvPr/>
        </p:nvSpPr>
        <p:spPr>
          <a:xfrm>
            <a:off x="1193800" y="2184400"/>
            <a:ext cx="101600" cy="101600"/>
          </a:xfrm>
          <a:prstGeom prst="ellipse">
            <a:avLst/>
          </a:prstGeom>
          <a:solidFill>
            <a:srgbClr val="28C8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2552439-1F61-3F42-A83D-2F1AD21BE4F2}"/>
              </a:ext>
            </a:extLst>
          </p:cNvPr>
          <p:cNvSpPr/>
          <p:nvPr/>
        </p:nvSpPr>
        <p:spPr>
          <a:xfrm>
            <a:off x="4699000" y="2120900"/>
            <a:ext cx="11176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E28ADE-2DC5-2E49-ACCB-CA1D77C2B057}"/>
              </a:ext>
            </a:extLst>
          </p:cNvPr>
          <p:cNvSpPr txBox="1"/>
          <p:nvPr/>
        </p:nvSpPr>
        <p:spPr>
          <a:xfrm>
            <a:off x="965200" y="2565400"/>
            <a:ext cx="4800600" cy="241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$ python -m aci sql/ \
    --dialect oracle \
    --group security \
    --fail-on high \
    --strict-internal-errors \
    --safe-report \
    --format console,json,sarif \
    --output-dir reports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EACE8-4028-4946-8BBC-2616A06FA625}"/>
              </a:ext>
            </a:extLst>
          </p:cNvPr>
          <p:cNvSpPr/>
          <p:nvPr/>
        </p:nvSpPr>
        <p:spPr>
          <a:xfrm>
            <a:off x="6223000" y="2032000"/>
            <a:ext cx="5207000" cy="3048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423C2D1-B30C-9C44-A808-DB0C9C98B60B}"/>
              </a:ext>
            </a:extLst>
          </p:cNvPr>
          <p:cNvSpPr/>
          <p:nvPr/>
        </p:nvSpPr>
        <p:spPr>
          <a:xfrm>
            <a:off x="6223000" y="2032000"/>
            <a:ext cx="5207000" cy="406400"/>
          </a:xfrm>
          <a:prstGeom prst="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A25F08-792A-BD41-BB2B-D1266EA24C0B}"/>
              </a:ext>
            </a:extLst>
          </p:cNvPr>
          <p:cNvSpPr/>
          <p:nvPr/>
        </p:nvSpPr>
        <p:spPr>
          <a:xfrm>
            <a:off x="6350000" y="2184400"/>
            <a:ext cx="101600" cy="101600"/>
          </a:xfrm>
          <a:prstGeom prst="ellipse">
            <a:avLst/>
          </a:prstGeom>
          <a:solidFill>
            <a:srgbClr val="FF5F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D53190-D850-BB40-A20F-62DB6450F767}"/>
              </a:ext>
            </a:extLst>
          </p:cNvPr>
          <p:cNvSpPr/>
          <p:nvPr/>
        </p:nvSpPr>
        <p:spPr>
          <a:xfrm>
            <a:off x="6502400" y="2184400"/>
            <a:ext cx="101600" cy="101600"/>
          </a:xfrm>
          <a:prstGeom prst="ellipse">
            <a:avLst/>
          </a:prstGeom>
          <a:solidFill>
            <a:srgbClr val="FEBC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D9D183-A95D-5647-B996-6A51EAD901E7}"/>
              </a:ext>
            </a:extLst>
          </p:cNvPr>
          <p:cNvSpPr/>
          <p:nvPr/>
        </p:nvSpPr>
        <p:spPr>
          <a:xfrm>
            <a:off x="6654800" y="2184400"/>
            <a:ext cx="101600" cy="101600"/>
          </a:xfrm>
          <a:prstGeom prst="ellipse">
            <a:avLst/>
          </a:prstGeom>
          <a:solidFill>
            <a:srgbClr val="28C8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A503568-0D70-2F41-A69B-2BB4A3B8712E}"/>
              </a:ext>
            </a:extLst>
          </p:cNvPr>
          <p:cNvSpPr/>
          <p:nvPr/>
        </p:nvSpPr>
        <p:spPr>
          <a:xfrm>
            <a:off x="10160000" y="2120900"/>
            <a:ext cx="1117600" cy="2286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1457FA6-502E-E04B-B958-3C2169E42790}"/>
              </a:ext>
            </a:extLst>
          </p:cNvPr>
          <p:cNvSpPr txBox="1"/>
          <p:nvPr/>
        </p:nvSpPr>
        <p:spPr>
          <a:xfrm>
            <a:off x="6426200" y="2565400"/>
            <a:ext cx="4800600" cy="241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$ python -m aci sql/ \
    --dialect postgresql \
    --group security \
    --fail-on high \
    --strict-internal-errors \
    --safe-report \
    --format console,json,sarif \
    --output-dir reports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1D0E4A3-E3A0-3A45-A68E-2B3FAF7CF17F}"/>
              </a:ext>
            </a:extLst>
          </p:cNvPr>
          <p:cNvSpPr/>
          <p:nvPr/>
        </p:nvSpPr>
        <p:spPr>
          <a:xfrm>
            <a:off x="762000" y="5334000"/>
            <a:ext cx="10668000" cy="1143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DC3A650-B892-444E-8E40-9DD832F19E93}"/>
              </a:ext>
            </a:extLst>
          </p:cNvPr>
          <p:cNvSpPr/>
          <p:nvPr/>
        </p:nvSpPr>
        <p:spPr>
          <a:xfrm>
            <a:off x="762000" y="5334000"/>
            <a:ext cx="76200" cy="1143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5E7024F-56AB-2341-BF7D-FDA7F87DC9D1}"/>
              </a:ext>
            </a:extLst>
          </p:cNvPr>
          <p:cNvSpPr txBox="1"/>
          <p:nvPr/>
        </p:nvSpPr>
        <p:spPr>
          <a:xfrm>
            <a:off x="1016000" y="55118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50" b="1">
                <a:solidFill>
                  <a:srgbClr val="E97132"/>
                </a:solidFill>
              </a:rPr>
              <a:t>AUDIT-RELEVANT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69E7917-67A1-C44B-B194-1FB288D37C3D}"/>
              </a:ext>
            </a:extLst>
          </p:cNvPr>
          <p:cNvSpPr txBox="1"/>
          <p:nvPr/>
        </p:nvSpPr>
        <p:spPr>
          <a:xfrm>
            <a:off x="1016000" y="56896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Mindestens --fail-on high für ein verlässliches Gate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736C894-D577-E141-ACA1-FE95CE2957C6}"/>
              </a:ext>
            </a:extLst>
          </p:cNvPr>
          <p:cNvSpPr txBox="1"/>
          <p:nvPr/>
        </p:nvSpPr>
        <p:spPr>
          <a:xfrm>
            <a:off x="1016000" y="5994400"/>
            <a:ext cx="102616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D4D4D4"/>
                </a:solidFill>
              </a:rPr>
              <a:t>--fail-on critical ist zu schwach: ALTER SYSTEM SET, CREATE EXTENSION dblink und serverseitiger Dateizugriff sind oft mit High bewertet, nicht Critical.</a:t>
            </a:r>
          </a:p>
        </p:txBody>
      </p:sp>
    </p:spTree>
    <p:extLst>
      <p:ext uri="{BB962C8B-B14F-4D97-AF65-F5344CB8AC3E}">
        <p14:creationId xmlns:p14="http://schemas.microsoft.com/office/powerpoint/2010/main" val="499920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3BD5487-64AE-774D-837D-2F9BDE0905B8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B445EE-F0C1-5745-87A8-B86A78EBAFBE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Die Schalter im Einzelnen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A7BBA4-65EA-5E43-820A-BA537C97AA5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5727F9F-8AE3-9346-8A61-70937E8FD1B4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Jeder Schalter hat einen klaren Zweck — gemeinsam ergeben sie einen funktionierenden, gehärteten Gate.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1B6872-5185-ED49-868A-72AE920C3152}"/>
              </a:ext>
            </a:extLst>
          </p:cNvPr>
          <p:cNvSpPr/>
          <p:nvPr/>
        </p:nvSpPr>
        <p:spPr>
          <a:xfrm>
            <a:off x="762000" y="20320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97A6E35-62EB-7F44-8525-097730EA34EF}"/>
              </a:ext>
            </a:extLst>
          </p:cNvPr>
          <p:cNvSpPr/>
          <p:nvPr/>
        </p:nvSpPr>
        <p:spPr>
          <a:xfrm>
            <a:off x="762000" y="2032000"/>
            <a:ext cx="50800" cy="133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23AA64-8ECD-8044-9975-A94F3629CC1A}"/>
              </a:ext>
            </a:extLst>
          </p:cNvPr>
          <p:cNvSpPr txBox="1"/>
          <p:nvPr/>
        </p:nvSpPr>
        <p:spPr>
          <a:xfrm>
            <a:off x="990600" y="21844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--group security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A73854F-BFEA-9340-8417-8D73924EF225}"/>
              </a:ext>
            </a:extLst>
          </p:cNvPr>
          <p:cNvSpPr txBox="1"/>
          <p:nvPr/>
        </p:nvSpPr>
        <p:spPr>
          <a:xfrm>
            <a:off x="990600" y="24892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NUR SICHERHEITS-FINDINGS BLOCKIEREN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ACAF980-1A4C-DE46-922B-4746D29ED296}"/>
              </a:ext>
            </a:extLst>
          </p:cNvPr>
          <p:cNvSpPr txBox="1"/>
          <p:nvPr/>
        </p:nvSpPr>
        <p:spPr>
          <a:xfrm>
            <a:off x="990600" y="27178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Coding-Guideline-Findings bleiben beratend, blockieren den Build nicht.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D67D2CB-EB0F-1A4B-903D-5BB85B40AA9F}"/>
              </a:ext>
            </a:extLst>
          </p:cNvPr>
          <p:cNvSpPr/>
          <p:nvPr/>
        </p:nvSpPr>
        <p:spPr>
          <a:xfrm>
            <a:off x="6223000" y="20320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D63C4F9-2D19-A642-9B62-CAB5E204BF3A}"/>
              </a:ext>
            </a:extLst>
          </p:cNvPr>
          <p:cNvSpPr/>
          <p:nvPr/>
        </p:nvSpPr>
        <p:spPr>
          <a:xfrm>
            <a:off x="6223000" y="2032000"/>
            <a:ext cx="50800" cy="13335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9001B31-20BF-EF49-9EF6-3265D1581F84}"/>
              </a:ext>
            </a:extLst>
          </p:cNvPr>
          <p:cNvSpPr txBox="1"/>
          <p:nvPr/>
        </p:nvSpPr>
        <p:spPr>
          <a:xfrm>
            <a:off x="6451600" y="21844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--fail-on high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E8FD6B1-E2C7-FD44-9826-AC57418C1A15}"/>
              </a:ext>
            </a:extLst>
          </p:cNvPr>
          <p:cNvSpPr txBox="1"/>
          <p:nvPr/>
        </p:nvSpPr>
        <p:spPr>
          <a:xfrm>
            <a:off x="6451600" y="24892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C00000"/>
                </a:solidFill>
              </a:rPr>
              <a:t>SCHWELLE FÜR EXIT-CODE 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8179058-E018-AF40-91B9-2A8CAB071AA5}"/>
              </a:ext>
            </a:extLst>
          </p:cNvPr>
          <p:cNvSpPr txBox="1"/>
          <p:nvPr/>
        </p:nvSpPr>
        <p:spPr>
          <a:xfrm>
            <a:off x="6451600" y="27178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Blockiert ab Schweregrad High — deckt also High und Critical ab.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3B60F06-CE8A-C945-9D1C-565DCAA3560B}"/>
              </a:ext>
            </a:extLst>
          </p:cNvPr>
          <p:cNvSpPr/>
          <p:nvPr/>
        </p:nvSpPr>
        <p:spPr>
          <a:xfrm>
            <a:off x="762000" y="35179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1122FC5-319E-BA44-811D-537E3BB68035}"/>
              </a:ext>
            </a:extLst>
          </p:cNvPr>
          <p:cNvSpPr/>
          <p:nvPr/>
        </p:nvSpPr>
        <p:spPr>
          <a:xfrm>
            <a:off x="762000" y="3517900"/>
            <a:ext cx="50800" cy="13335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D882BE-B47D-624B-9692-0B5B6F85E6E9}"/>
              </a:ext>
            </a:extLst>
          </p:cNvPr>
          <p:cNvSpPr txBox="1"/>
          <p:nvPr/>
        </p:nvSpPr>
        <p:spPr>
          <a:xfrm>
            <a:off x="990600" y="36703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--strict-internal-errors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CE53323-19A4-154F-863B-30BBDFCA68E0}"/>
              </a:ext>
            </a:extLst>
          </p:cNvPr>
          <p:cNvSpPr txBox="1"/>
          <p:nvPr/>
        </p:nvSpPr>
        <p:spPr>
          <a:xfrm>
            <a:off x="990600" y="39751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A02B93"/>
                </a:solidFill>
              </a:rPr>
              <a:t>STILLE PRÜFLÜCKEN VERHINDERN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20C9B95-E462-4149-AE6A-C47561976634}"/>
              </a:ext>
            </a:extLst>
          </p:cNvPr>
          <p:cNvSpPr txBox="1"/>
          <p:nvPr/>
        </p:nvSpPr>
        <p:spPr>
          <a:xfrm>
            <a:off x="990600" y="42037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Schlägt ein Check intern fehl, endet der Lauf mit Exit-Code 2 statt mit verstecktem Pass.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932B4D1-4ECE-5E44-9DB2-0F9CCA807FDF}"/>
              </a:ext>
            </a:extLst>
          </p:cNvPr>
          <p:cNvSpPr/>
          <p:nvPr/>
        </p:nvSpPr>
        <p:spPr>
          <a:xfrm>
            <a:off x="6223000" y="35179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74B4CC9-2E6D-D947-B9F6-BB41F7D5CA1D}"/>
              </a:ext>
            </a:extLst>
          </p:cNvPr>
          <p:cNvSpPr/>
          <p:nvPr/>
        </p:nvSpPr>
        <p:spPr>
          <a:xfrm>
            <a:off x="6223000" y="3517900"/>
            <a:ext cx="50800" cy="1333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A0D5FD3-DA5C-5B4F-96E1-68F198CCA47A}"/>
              </a:ext>
            </a:extLst>
          </p:cNvPr>
          <p:cNvSpPr txBox="1"/>
          <p:nvPr/>
        </p:nvSpPr>
        <p:spPr>
          <a:xfrm>
            <a:off x="6451600" y="36703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--safe-report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E239504-A670-964C-8E42-2C7BA2C00CE7}"/>
              </a:ext>
            </a:extLst>
          </p:cNvPr>
          <p:cNvSpPr txBox="1"/>
          <p:nvPr/>
        </p:nvSpPr>
        <p:spPr>
          <a:xfrm>
            <a:off x="6451600" y="39751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SICHERE ARTEFAKTE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1E27045-7190-3C4B-97FC-37E06E48C5FB}"/>
              </a:ext>
            </a:extLst>
          </p:cNvPr>
          <p:cNvSpPr txBox="1"/>
          <p:nvPr/>
        </p:nvSpPr>
        <p:spPr>
          <a:xfrm>
            <a:off x="6451600" y="42037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Bündelt --no-context und --redact-secrets — Reports enthalten keinen Quelltext, keine Geheimnisse.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4A2F004-329C-A742-BABE-0792AE5EC397}"/>
              </a:ext>
            </a:extLst>
          </p:cNvPr>
          <p:cNvSpPr/>
          <p:nvPr/>
        </p:nvSpPr>
        <p:spPr>
          <a:xfrm>
            <a:off x="762000" y="50038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9E39D69-C109-DF42-8795-AD8AD4E7C686}"/>
              </a:ext>
            </a:extLst>
          </p:cNvPr>
          <p:cNvSpPr/>
          <p:nvPr/>
        </p:nvSpPr>
        <p:spPr>
          <a:xfrm>
            <a:off x="762000" y="5003800"/>
            <a:ext cx="50800" cy="133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02AB25A-EF5F-C340-897B-CCA857EF5885}"/>
              </a:ext>
            </a:extLst>
          </p:cNvPr>
          <p:cNvSpPr txBox="1"/>
          <p:nvPr/>
        </p:nvSpPr>
        <p:spPr>
          <a:xfrm>
            <a:off x="990600" y="51562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--format console,json,sarif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A129DAD-1FB5-654B-87FE-377A6402A2EE}"/>
              </a:ext>
            </a:extLst>
          </p:cNvPr>
          <p:cNvSpPr txBox="1"/>
          <p:nvPr/>
        </p:nvSpPr>
        <p:spPr>
          <a:xfrm>
            <a:off x="990600" y="54610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F9ED5"/>
                </a:solidFill>
              </a:rPr>
              <a:t>DREI AUSGABEKANÄLE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B369A11-6538-0649-B80F-BF818D45C028}"/>
              </a:ext>
            </a:extLst>
          </p:cNvPr>
          <p:cNvSpPr txBox="1"/>
          <p:nvPr/>
        </p:nvSpPr>
        <p:spPr>
          <a:xfrm>
            <a:off x="990600" y="56896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Konsole fürs Build-Log, JSON zur Auswertung, SARIF fürs Code-Scanning-Dashboard.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55902DE-7540-1649-8274-0399A32CA1AA}"/>
              </a:ext>
            </a:extLst>
          </p:cNvPr>
          <p:cNvSpPr/>
          <p:nvPr/>
        </p:nvSpPr>
        <p:spPr>
          <a:xfrm>
            <a:off x="6223000" y="5003800"/>
            <a:ext cx="5207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BCE8895-9E8A-A148-9F25-6F16E85392A6}"/>
              </a:ext>
            </a:extLst>
          </p:cNvPr>
          <p:cNvSpPr/>
          <p:nvPr/>
        </p:nvSpPr>
        <p:spPr>
          <a:xfrm>
            <a:off x="6223000" y="5003800"/>
            <a:ext cx="50800" cy="133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DD45EB2-F7F0-9246-AFF3-7EB7BBF88DDC}"/>
              </a:ext>
            </a:extLst>
          </p:cNvPr>
          <p:cNvSpPr txBox="1"/>
          <p:nvPr/>
        </p:nvSpPr>
        <p:spPr>
          <a:xfrm>
            <a:off x="6451600" y="51562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  <a:latin typeface="Consolas"/>
                <a:cs typeface="Consolas"/>
              </a:rPr>
              <a:t>--output-dir reports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F10CDB0-059F-B14E-A81C-DFE37EEDE546}"/>
              </a:ext>
            </a:extLst>
          </p:cNvPr>
          <p:cNvSpPr txBox="1"/>
          <p:nvPr/>
        </p:nvSpPr>
        <p:spPr>
          <a:xfrm>
            <a:off x="6451600" y="54610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56082"/>
                </a:solidFill>
              </a:rPr>
              <a:t>ZIELVERZEICHNIS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7E3C1F0-0854-4644-B16A-B86B682AF7D3}"/>
              </a:ext>
            </a:extLst>
          </p:cNvPr>
          <p:cNvSpPr txBox="1"/>
          <p:nvPr/>
        </p:nvSpPr>
        <p:spPr>
          <a:xfrm>
            <a:off x="6451600" y="5689600"/>
            <a:ext cx="48006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Hier landen die JSON-/SARIF-/HTML-Artefakte für die CI-Archivierung.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5208EF5-9C4F-4B43-B0DD-0B7BDB133AE6}"/>
              </a:ext>
            </a:extLst>
          </p:cNvPr>
          <p:cNvSpPr txBox="1"/>
          <p:nvPr/>
        </p:nvSpPr>
        <p:spPr>
          <a:xfrm>
            <a:off x="762000" y="6477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Bestanden bei Exit-Code 0  ·  blockiert bei Exit-Code 1 (Finding) oder 2 (Werkzeugfehler / strict-Abbruch).</a:t>
            </a:r>
          </a:p>
        </p:txBody>
      </p:sp>
    </p:spTree>
    <p:extLst>
      <p:ext uri="{BB962C8B-B14F-4D97-AF65-F5344CB8AC3E}">
        <p14:creationId xmlns:p14="http://schemas.microsoft.com/office/powerpoint/2010/main" val="741705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54DE9A5-003C-0040-BF5E-CAAC61F02831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875D933-9573-9940-8193-1EDDDD158B89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Waiver — der kontrollierte Ausnahmeprozess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3C93356-8235-A04D-B3E2-A2148A63932D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C7ACA9-5820-B947-B188-C8D6D060545E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Reale Pipelines brauchen einen Weg, einzelne Befunde zu akzeptieren — ohne den Gate als Ganzes zu schwächen.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A0D0D-6EBF-6E44-ABD1-3A9E8EE9E669}"/>
              </a:ext>
            </a:extLst>
          </p:cNvPr>
          <p:cNvSpPr/>
          <p:nvPr/>
        </p:nvSpPr>
        <p:spPr>
          <a:xfrm>
            <a:off x="762000" y="2032000"/>
            <a:ext cx="5207000" cy="10160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7917E34-EA46-6746-B319-99AF6A665C3D}"/>
              </a:ext>
            </a:extLst>
          </p:cNvPr>
          <p:cNvSpPr/>
          <p:nvPr/>
        </p:nvSpPr>
        <p:spPr>
          <a:xfrm>
            <a:off x="762000" y="2032000"/>
            <a:ext cx="63500" cy="1016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D109515-B31A-9649-83CA-F027E9DE0519}"/>
              </a:ext>
            </a:extLst>
          </p:cNvPr>
          <p:cNvSpPr txBox="1"/>
          <p:nvPr/>
        </p:nvSpPr>
        <p:spPr>
          <a:xfrm>
            <a:off x="990600" y="21844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PROBLEM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395FDE1-E14F-9A4C-8B93-67EF11BF6ABD}"/>
              </a:ext>
            </a:extLst>
          </p:cNvPr>
          <p:cNvSpPr txBox="1"/>
          <p:nvPr/>
        </p:nvSpPr>
        <p:spPr>
          <a:xfrm>
            <a:off x="990600" y="23876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Einzelne akzeptierte Befunde — wie umgehen ohne --fail-on global abzuschwächen oder Regeln zu deaktivieren?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3502C08-EB9F-6449-9FA3-89F5782A5199}"/>
              </a:ext>
            </a:extLst>
          </p:cNvPr>
          <p:cNvSpPr/>
          <p:nvPr/>
        </p:nvSpPr>
        <p:spPr>
          <a:xfrm>
            <a:off x="6223000" y="2032000"/>
            <a:ext cx="5207000" cy="1016000"/>
          </a:xfrm>
          <a:prstGeom prst="rect">
            <a:avLst/>
          </a:prstGeom>
          <a:solidFill>
            <a:srgbClr val="F4FAF5"/>
          </a:solidFill>
          <a:ln w="1270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C629421-F17C-154F-8CB5-E4197DA08F11}"/>
              </a:ext>
            </a:extLst>
          </p:cNvPr>
          <p:cNvSpPr/>
          <p:nvPr/>
        </p:nvSpPr>
        <p:spPr>
          <a:xfrm>
            <a:off x="6223000" y="2032000"/>
            <a:ext cx="63500" cy="1016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88C8F21-D7B4-D840-B285-3AEEBFD733CD}"/>
              </a:ext>
            </a:extLst>
          </p:cNvPr>
          <p:cNvSpPr txBox="1"/>
          <p:nvPr/>
        </p:nvSpPr>
        <p:spPr>
          <a:xfrm>
            <a:off x="6451600" y="21844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LÖSUNG: WAIVER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8B3F11A-FC07-3F4C-86B8-3297DD5B65CA}"/>
              </a:ext>
            </a:extLst>
          </p:cNvPr>
          <p:cNvSpPr txBox="1"/>
          <p:nvPr/>
        </p:nvSpPr>
        <p:spPr>
          <a:xfrm>
            <a:off x="6451600" y="23876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Versionierte JSON-Datei mit einem Eintrag je Ausnahme. --waivers aci-waivers.json — sichtbar im Report, aber außerhalb des --fail-on-Gates.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BABE162-8129-CE47-A708-797B5A5DCE84}"/>
              </a:ext>
            </a:extLst>
          </p:cNvPr>
          <p:cNvSpPr txBox="1"/>
          <p:nvPr/>
        </p:nvSpPr>
        <p:spPr>
          <a:xfrm>
            <a:off x="762000" y="325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Eigenschaften eines Waivers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E351837-8DC1-184B-8F4D-9E21B34611D2}"/>
              </a:ext>
            </a:extLst>
          </p:cNvPr>
          <p:cNvSpPr/>
          <p:nvPr/>
        </p:nvSpPr>
        <p:spPr>
          <a:xfrm>
            <a:off x="762000" y="3632200"/>
            <a:ext cx="2540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7A16116-E969-1742-BD85-1DC64DCA7CA9}"/>
              </a:ext>
            </a:extLst>
          </p:cNvPr>
          <p:cNvSpPr/>
          <p:nvPr/>
        </p:nvSpPr>
        <p:spPr>
          <a:xfrm>
            <a:off x="762000" y="3632200"/>
            <a:ext cx="2540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F308813-DAD1-6848-B4E3-A1FA8B834731}"/>
              </a:ext>
            </a:extLst>
          </p:cNvPr>
          <p:cNvSpPr txBox="1"/>
          <p:nvPr/>
        </p:nvSpPr>
        <p:spPr>
          <a:xfrm>
            <a:off x="762000" y="38354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800"/>
              <a:t>👁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07F8A4E-6C27-8E4D-82B2-84199E18D968}"/>
              </a:ext>
            </a:extLst>
          </p:cNvPr>
          <p:cNvSpPr txBox="1"/>
          <p:nvPr/>
        </p:nvSpPr>
        <p:spPr>
          <a:xfrm>
            <a:off x="7620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Sichtbar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31FE90D-B580-F043-BC1C-E546B5449717}"/>
              </a:ext>
            </a:extLst>
          </p:cNvPr>
          <p:cNvSpPr txBox="1"/>
          <p:nvPr/>
        </p:nvSpPr>
        <p:spPr>
          <a:xfrm>
            <a:off x="914400" y="4699000"/>
            <a:ext cx="2235200" cy="114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Bleibt im Report — deutlich als »Waived« markiert mit Ticket, Owner, Ablaufdatum und Begründung.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5D11608-E49D-D24A-AD9C-3351AE6B56DD}"/>
              </a:ext>
            </a:extLst>
          </p:cNvPr>
          <p:cNvSpPr/>
          <p:nvPr/>
        </p:nvSpPr>
        <p:spPr>
          <a:xfrm>
            <a:off x="3467100" y="3632200"/>
            <a:ext cx="2540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5DBC328-616C-DA4A-9976-C5F218E4B664}"/>
              </a:ext>
            </a:extLst>
          </p:cNvPr>
          <p:cNvSpPr/>
          <p:nvPr/>
        </p:nvSpPr>
        <p:spPr>
          <a:xfrm>
            <a:off x="3467100" y="3632200"/>
            <a:ext cx="2540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E1FDA2F-B56D-7E41-9539-EE4A89485E88}"/>
              </a:ext>
            </a:extLst>
          </p:cNvPr>
          <p:cNvSpPr txBox="1"/>
          <p:nvPr/>
        </p:nvSpPr>
        <p:spPr>
          <a:xfrm>
            <a:off x="3467100" y="38354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800"/>
              <a:t>🔗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25E6B2E-5D0D-3246-91C7-A91BCD631FF6}"/>
              </a:ext>
            </a:extLst>
          </p:cNvPr>
          <p:cNvSpPr txBox="1"/>
          <p:nvPr/>
        </p:nvSpPr>
        <p:spPr>
          <a:xfrm>
            <a:off x="34671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Inhaltsgebunden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209FA31-1335-D145-BE29-594D66ACB665}"/>
              </a:ext>
            </a:extLst>
          </p:cNvPr>
          <p:cNvSpPr txBox="1"/>
          <p:nvPr/>
        </p:nvSpPr>
        <p:spPr>
          <a:xfrm>
            <a:off x="3619500" y="4699000"/>
            <a:ext cx="2235200" cy="114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Über SHA-256-Fingerabdruck an den Code-Inhalt geknüpft — nicht an die Zeilennummer.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169EAA1-FA75-654C-9484-58B21E1ABF9A}"/>
              </a:ext>
            </a:extLst>
          </p:cNvPr>
          <p:cNvSpPr/>
          <p:nvPr/>
        </p:nvSpPr>
        <p:spPr>
          <a:xfrm>
            <a:off x="6172200" y="3632200"/>
            <a:ext cx="2540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A37F70A-F82C-4146-B49C-42C1FA4C2941}"/>
              </a:ext>
            </a:extLst>
          </p:cNvPr>
          <p:cNvSpPr/>
          <p:nvPr/>
        </p:nvSpPr>
        <p:spPr>
          <a:xfrm>
            <a:off x="6172200" y="3632200"/>
            <a:ext cx="2540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4EFA7E9-D113-D947-9394-EA6194EC62E2}"/>
              </a:ext>
            </a:extLst>
          </p:cNvPr>
          <p:cNvSpPr txBox="1"/>
          <p:nvPr/>
        </p:nvSpPr>
        <p:spPr>
          <a:xfrm>
            <a:off x="6172200" y="38354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800"/>
              <a:t>⏱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E83A662-5E9F-BA4E-AC09-3D3BAFCD7493}"/>
              </a:ext>
            </a:extLst>
          </p:cNvPr>
          <p:cNvSpPr txBox="1"/>
          <p:nvPr/>
        </p:nvSpPr>
        <p:spPr>
          <a:xfrm>
            <a:off x="61722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Befristet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9BA24CC-734F-FD42-9E36-735230D98E71}"/>
              </a:ext>
            </a:extLst>
          </p:cNvPr>
          <p:cNvSpPr txBox="1"/>
          <p:nvPr/>
        </p:nvSpPr>
        <p:spPr>
          <a:xfrm>
            <a:off x="6324600" y="4699000"/>
            <a:ext cx="2235200" cy="114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Pflicht-Ablaufdatum erzwingt Wiedervorlage — keine ewigen Ausnahmen.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51AC4F3-EAFE-B846-8BD3-47FD150EE6F9}"/>
              </a:ext>
            </a:extLst>
          </p:cNvPr>
          <p:cNvSpPr/>
          <p:nvPr/>
        </p:nvSpPr>
        <p:spPr>
          <a:xfrm>
            <a:off x="8877300" y="3632200"/>
            <a:ext cx="2540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EC9A646-4F52-D446-A517-24D52BAF2729}"/>
              </a:ext>
            </a:extLst>
          </p:cNvPr>
          <p:cNvSpPr/>
          <p:nvPr/>
        </p:nvSpPr>
        <p:spPr>
          <a:xfrm>
            <a:off x="8877300" y="3632200"/>
            <a:ext cx="2540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23B1469-2777-2E4E-B3BD-995F7C7EA8A7}"/>
              </a:ext>
            </a:extLst>
          </p:cNvPr>
          <p:cNvSpPr txBox="1"/>
          <p:nvPr/>
        </p:nvSpPr>
        <p:spPr>
          <a:xfrm>
            <a:off x="8877300" y="38354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800"/>
              <a:t>🔍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E5909E1-C44F-EA4B-AF10-6F772ED8C114}"/>
              </a:ext>
            </a:extLst>
          </p:cNvPr>
          <p:cNvSpPr txBox="1"/>
          <p:nvPr/>
        </p:nvSpPr>
        <p:spPr>
          <a:xfrm>
            <a:off x="88773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Auditierbar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191904E-1BB1-3E42-A321-3BAE79192CD2}"/>
              </a:ext>
            </a:extLst>
          </p:cNvPr>
          <p:cNvSpPr txBox="1"/>
          <p:nvPr/>
        </p:nvSpPr>
        <p:spPr>
          <a:xfrm>
            <a:off x="9029700" y="4699000"/>
            <a:ext cx="2235200" cy="1143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444444"/>
                </a:solidFill>
              </a:rPr>
              <a:t>Datei unter Versionskontrolle — Änderungen laufen über regulären Pull-Request-Review.</a:t>
            </a:r>
          </a:p>
        </p:txBody>
      </p:sp>
    </p:spTree>
    <p:extLst>
      <p:ext uri="{BB962C8B-B14F-4D97-AF65-F5344CB8AC3E}">
        <p14:creationId xmlns:p14="http://schemas.microsoft.com/office/powerpoint/2010/main" val="3622897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F166FB7-F27A-9C42-8254-CF9AD309853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04DA9BA-9A7B-034C-8851-E694AB825CE9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Waiver-Lebenszyklus — die vier Zustände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02489A5-A847-CD4C-A013-30D6F8FE1EE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53B7E3-228F-4A45-9C74-25B2892F2373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prüft den Zustand jedes Waivers bei jedem Lauf und warnt aktiv über Wartungsbedarf.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D277A2A-FDF0-B04B-BA1D-97AECEC3C3BC}"/>
              </a:ext>
            </a:extLst>
          </p:cNvPr>
          <p:cNvSpPr/>
          <p:nvPr/>
        </p:nvSpPr>
        <p:spPr>
          <a:xfrm>
            <a:off x="762000" y="2057400"/>
            <a:ext cx="10668000" cy="965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860832B-E410-8F48-BFCD-2DDC6E0436BB}"/>
              </a:ext>
            </a:extLst>
          </p:cNvPr>
          <p:cNvSpPr/>
          <p:nvPr/>
        </p:nvSpPr>
        <p:spPr>
          <a:xfrm>
            <a:off x="762000" y="2057400"/>
            <a:ext cx="1397000" cy="965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D52C054-81E6-5B4D-B8E1-F8165B44A1DF}"/>
              </a:ext>
            </a:extLst>
          </p:cNvPr>
          <p:cNvSpPr txBox="1"/>
          <p:nvPr/>
        </p:nvSpPr>
        <p:spPr>
          <a:xfrm>
            <a:off x="762000" y="2235200"/>
            <a:ext cx="13970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66461FB-519E-274D-A885-FB00E8CE2BA4}"/>
              </a:ext>
            </a:extLst>
          </p:cNvPr>
          <p:cNvSpPr txBox="1"/>
          <p:nvPr/>
        </p:nvSpPr>
        <p:spPr>
          <a:xfrm>
            <a:off x="762000" y="26670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GÜLTIG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C884E0B-66D6-E244-87F8-170B65EE8617}"/>
              </a:ext>
            </a:extLst>
          </p:cNvPr>
          <p:cNvSpPr txBox="1"/>
          <p:nvPr/>
        </p:nvSpPr>
        <p:spPr>
          <a:xfrm>
            <a:off x="2387600" y="2209800"/>
            <a:ext cx="35560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666666"/>
                </a:solidFill>
              </a:rPr>
              <a:t>BEDINGUNG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6FEFF9F-E6A5-6348-84B4-45015709104A}"/>
              </a:ext>
            </a:extLst>
          </p:cNvPr>
          <p:cNvSpPr txBox="1"/>
          <p:nvPr/>
        </p:nvSpPr>
        <p:spPr>
          <a:xfrm>
            <a:off x="2387600" y="2387600"/>
            <a:ext cx="3556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  <a:latin typeface="Consolas"/>
                <a:cs typeface="Consolas"/>
              </a:rPr>
              <a:t>Ablaufdatum ≥ heute  +  Fingerabdruck trifft ein Finding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BEE1709-0E64-A84E-BE62-E833E488A1B2}"/>
              </a:ext>
            </a:extLst>
          </p:cNvPr>
          <p:cNvSpPr/>
          <p:nvPr/>
        </p:nvSpPr>
        <p:spPr>
          <a:xfrm>
            <a:off x="6096000" y="2235200"/>
            <a:ext cx="12700" cy="6096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CED29D7-1979-8348-A23C-EA1148F0E923}"/>
              </a:ext>
            </a:extLst>
          </p:cNvPr>
          <p:cNvSpPr txBox="1"/>
          <p:nvPr/>
        </p:nvSpPr>
        <p:spPr>
          <a:xfrm>
            <a:off x="6299200" y="2209800"/>
            <a:ext cx="49784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196B24"/>
                </a:solidFill>
              </a:rPr>
              <a:t>WIRKUNG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469FE16-AD54-1F4C-9E38-04AE67E0FE07}"/>
              </a:ext>
            </a:extLst>
          </p:cNvPr>
          <p:cNvSpPr txBox="1"/>
          <p:nvPr/>
        </p:nvSpPr>
        <p:spPr>
          <a:xfrm>
            <a:off x="6299200" y="2387600"/>
            <a:ext cx="49784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Finding wird Waived: sichtbar im Report, zählt nicht für --fail-on. In SARIF als suppressions (kind: external).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D101828-7D03-3641-891F-5BF17B57CF70}"/>
              </a:ext>
            </a:extLst>
          </p:cNvPr>
          <p:cNvSpPr/>
          <p:nvPr/>
        </p:nvSpPr>
        <p:spPr>
          <a:xfrm>
            <a:off x="762000" y="3149600"/>
            <a:ext cx="10668000" cy="965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2954B93-A975-4D46-9BBF-A680BB6F99AE}"/>
              </a:ext>
            </a:extLst>
          </p:cNvPr>
          <p:cNvSpPr/>
          <p:nvPr/>
        </p:nvSpPr>
        <p:spPr>
          <a:xfrm>
            <a:off x="762000" y="3149600"/>
            <a:ext cx="1397000" cy="965200"/>
          </a:xfrm>
          <a:prstGeom prst="rect">
            <a:avLst/>
          </a:prstGeom>
          <a:solidFill>
            <a:srgbClr val="E5A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3439DFA-140C-374D-91E4-60F33F5F47EE}"/>
              </a:ext>
            </a:extLst>
          </p:cNvPr>
          <p:cNvSpPr txBox="1"/>
          <p:nvPr/>
        </p:nvSpPr>
        <p:spPr>
          <a:xfrm>
            <a:off x="762000" y="3327400"/>
            <a:ext cx="13970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600" b="1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F84E268-4D85-5B46-93BB-B51D80E4D970}"/>
              </a:ext>
            </a:extLst>
          </p:cNvPr>
          <p:cNvSpPr txBox="1"/>
          <p:nvPr/>
        </p:nvSpPr>
        <p:spPr>
          <a:xfrm>
            <a:off x="762000" y="37592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BALD FÄLLIG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E613568-7B3C-474E-8973-CC2B086AAE78}"/>
              </a:ext>
            </a:extLst>
          </p:cNvPr>
          <p:cNvSpPr txBox="1"/>
          <p:nvPr/>
        </p:nvSpPr>
        <p:spPr>
          <a:xfrm>
            <a:off x="2387600" y="3302000"/>
            <a:ext cx="35560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666666"/>
                </a:solidFill>
              </a:rPr>
              <a:t>BEDINGUNG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3DDBE72-1288-9E4F-80B5-EBC90E8BD39C}"/>
              </a:ext>
            </a:extLst>
          </p:cNvPr>
          <p:cNvSpPr txBox="1"/>
          <p:nvPr/>
        </p:nvSpPr>
        <p:spPr>
          <a:xfrm>
            <a:off x="2387600" y="3479800"/>
            <a:ext cx="3556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  <a:latin typeface="Consolas"/>
                <a:cs typeface="Consolas"/>
              </a:rPr>
              <a:t>Noch gültig  +  Ablauf ≤ 14 Tage entfernt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158EFA8-7275-CE40-A6D8-971C0741B032}"/>
              </a:ext>
            </a:extLst>
          </p:cNvPr>
          <p:cNvSpPr/>
          <p:nvPr/>
        </p:nvSpPr>
        <p:spPr>
          <a:xfrm>
            <a:off x="6096000" y="3327400"/>
            <a:ext cx="12700" cy="6096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0968FCB-7C3B-3641-84E9-5C3775250D32}"/>
              </a:ext>
            </a:extLst>
          </p:cNvPr>
          <p:cNvSpPr txBox="1"/>
          <p:nvPr/>
        </p:nvSpPr>
        <p:spPr>
          <a:xfrm>
            <a:off x="6299200" y="3302000"/>
            <a:ext cx="49784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E5A100"/>
                </a:solidFill>
              </a:rPr>
              <a:t>WIRKUNG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AE2AE0B-C9DA-F543-B34A-F2F9C7F6AF01}"/>
              </a:ext>
            </a:extLst>
          </p:cNvPr>
          <p:cNvSpPr txBox="1"/>
          <p:nvPr/>
        </p:nvSpPr>
        <p:spPr>
          <a:xfrm>
            <a:off x="6299200" y="3479800"/>
            <a:ext cx="49784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Waiver greift weiter, aber ACI weist im Report auf die Wiedervorlage hin — rechtzeitig erneuern oder Code beheben.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B1AD22E-7500-324C-A294-9DB0F22E58DE}"/>
              </a:ext>
            </a:extLst>
          </p:cNvPr>
          <p:cNvSpPr/>
          <p:nvPr/>
        </p:nvSpPr>
        <p:spPr>
          <a:xfrm>
            <a:off x="762000" y="4241800"/>
            <a:ext cx="10668000" cy="965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C39E817-5E76-6148-B532-98D5BB65861C}"/>
              </a:ext>
            </a:extLst>
          </p:cNvPr>
          <p:cNvSpPr/>
          <p:nvPr/>
        </p:nvSpPr>
        <p:spPr>
          <a:xfrm>
            <a:off x="762000" y="4241800"/>
            <a:ext cx="1397000" cy="9652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89A6370-96E4-8646-A4FB-E79D8E5905B0}"/>
              </a:ext>
            </a:extLst>
          </p:cNvPr>
          <p:cNvSpPr txBox="1"/>
          <p:nvPr/>
        </p:nvSpPr>
        <p:spPr>
          <a:xfrm>
            <a:off x="762000" y="4419600"/>
            <a:ext cx="13970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6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64817D9-2094-564E-8840-47B1B9D9300D}"/>
              </a:ext>
            </a:extLst>
          </p:cNvPr>
          <p:cNvSpPr txBox="1"/>
          <p:nvPr/>
        </p:nvSpPr>
        <p:spPr>
          <a:xfrm>
            <a:off x="762000" y="48514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ABGELAUFEN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3637A7C-F95F-5F44-8330-3258C707A777}"/>
              </a:ext>
            </a:extLst>
          </p:cNvPr>
          <p:cNvSpPr txBox="1"/>
          <p:nvPr/>
        </p:nvSpPr>
        <p:spPr>
          <a:xfrm>
            <a:off x="2387600" y="4394200"/>
            <a:ext cx="35560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666666"/>
                </a:solidFill>
              </a:rPr>
              <a:t>BEDINGUNG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68C2CC-D05C-6847-9603-FB2F4413FCFD}"/>
              </a:ext>
            </a:extLst>
          </p:cNvPr>
          <p:cNvSpPr txBox="1"/>
          <p:nvPr/>
        </p:nvSpPr>
        <p:spPr>
          <a:xfrm>
            <a:off x="2387600" y="4572000"/>
            <a:ext cx="3556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  <a:latin typeface="Consolas"/>
                <a:cs typeface="Consolas"/>
              </a:rPr>
              <a:t>Ablaufdatum &lt; heute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0A52D8E-E0AF-EA42-AFDC-1BD27FD66DEC}"/>
              </a:ext>
            </a:extLst>
          </p:cNvPr>
          <p:cNvSpPr/>
          <p:nvPr/>
        </p:nvSpPr>
        <p:spPr>
          <a:xfrm>
            <a:off x="6096000" y="4419600"/>
            <a:ext cx="12700" cy="6096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D00CB53-4EF6-8240-8518-0B17A101F5FA}"/>
              </a:ext>
            </a:extLst>
          </p:cNvPr>
          <p:cNvSpPr txBox="1"/>
          <p:nvPr/>
        </p:nvSpPr>
        <p:spPr>
          <a:xfrm>
            <a:off x="6299200" y="4394200"/>
            <a:ext cx="49784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C00000"/>
                </a:solidFill>
              </a:rPr>
              <a:t>WIRKUNG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141468D-C836-1244-9378-018EFA474AA4}"/>
              </a:ext>
            </a:extLst>
          </p:cNvPr>
          <p:cNvSpPr txBox="1"/>
          <p:nvPr/>
        </p:nvSpPr>
        <p:spPr>
          <a:xfrm>
            <a:off x="6299200" y="4572000"/>
            <a:ext cx="49784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Waiver greift nicht mehr — das Finding zählt wieder voll. ACI warnt aktiv über abgelaufene Waiver, der Build kann brechen.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A2090B4-5E63-6949-A9B3-824D0505281C}"/>
              </a:ext>
            </a:extLst>
          </p:cNvPr>
          <p:cNvSpPr/>
          <p:nvPr/>
        </p:nvSpPr>
        <p:spPr>
          <a:xfrm>
            <a:off x="762000" y="5334000"/>
            <a:ext cx="10668000" cy="965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817AD39-2743-E440-B809-AF793F546621}"/>
              </a:ext>
            </a:extLst>
          </p:cNvPr>
          <p:cNvSpPr/>
          <p:nvPr/>
        </p:nvSpPr>
        <p:spPr>
          <a:xfrm>
            <a:off x="762000" y="5334000"/>
            <a:ext cx="1397000" cy="9652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ED7C267-15F9-0741-B538-7FD286F9DF94}"/>
              </a:ext>
            </a:extLst>
          </p:cNvPr>
          <p:cNvSpPr txBox="1"/>
          <p:nvPr/>
        </p:nvSpPr>
        <p:spPr>
          <a:xfrm>
            <a:off x="762000" y="5511800"/>
            <a:ext cx="13970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600" b="1">
                <a:solidFill>
                  <a:srgbClr val="FFFFFF"/>
                </a:solidFill>
              </a:rPr>
              <a:t>⊘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EDE40B5-F7BB-1843-81A4-FAC0B0D2C05B}"/>
              </a:ext>
            </a:extLst>
          </p:cNvPr>
          <p:cNvSpPr txBox="1"/>
          <p:nvPr/>
        </p:nvSpPr>
        <p:spPr>
          <a:xfrm>
            <a:off x="762000" y="59436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VERWAIST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77807328-84BD-C549-99B4-6218006BD833}"/>
              </a:ext>
            </a:extLst>
          </p:cNvPr>
          <p:cNvSpPr txBox="1"/>
          <p:nvPr/>
        </p:nvSpPr>
        <p:spPr>
          <a:xfrm>
            <a:off x="2387600" y="5486400"/>
            <a:ext cx="35560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666666"/>
                </a:solidFill>
              </a:rPr>
              <a:t>BEDINGUNG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9928EC3-0BB4-8F4D-A20D-4029AE6C92E7}"/>
              </a:ext>
            </a:extLst>
          </p:cNvPr>
          <p:cNvSpPr txBox="1"/>
          <p:nvPr/>
        </p:nvSpPr>
        <p:spPr>
          <a:xfrm>
            <a:off x="2387600" y="5664200"/>
            <a:ext cx="3556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  <a:latin typeface="Consolas"/>
                <a:cs typeface="Consolas"/>
              </a:rPr>
              <a:t>Fingerabdruck trifft kein Finding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436D76B-4E74-9840-9407-21064B4052A5}"/>
              </a:ext>
            </a:extLst>
          </p:cNvPr>
          <p:cNvSpPr/>
          <p:nvPr/>
        </p:nvSpPr>
        <p:spPr>
          <a:xfrm>
            <a:off x="6096000" y="5511800"/>
            <a:ext cx="12700" cy="609600"/>
          </a:xfrm>
          <a:prstGeom prst="rect">
            <a:avLst/>
          </a:prstGeom>
          <a:solidFill>
            <a:srgbClr val="E0E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B5B4035-920A-D949-AD9E-D5414E378F98}"/>
              </a:ext>
            </a:extLst>
          </p:cNvPr>
          <p:cNvSpPr txBox="1"/>
          <p:nvPr/>
        </p:nvSpPr>
        <p:spPr>
          <a:xfrm>
            <a:off x="6299200" y="5486400"/>
            <a:ext cx="49784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A02B93"/>
                </a:solidFill>
              </a:rPr>
              <a:t>WIRKUNG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9513EF6-7E8C-6347-8FEF-FBB30202A0A5}"/>
              </a:ext>
            </a:extLst>
          </p:cNvPr>
          <p:cNvSpPr txBox="1"/>
          <p:nvPr/>
        </p:nvSpPr>
        <p:spPr>
          <a:xfrm>
            <a:off x="6299200" y="5664200"/>
            <a:ext cx="49784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ACI meldet den Waiver als entfernbar — der Code wurde geändert (Fingerprint passt nicht mehr) oder es lag ein Tippfehler vor.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0938C83-FC86-0248-AFD7-CD2B9B54799D}"/>
              </a:ext>
            </a:extLst>
          </p:cNvPr>
          <p:cNvSpPr txBox="1"/>
          <p:nvPr/>
        </p:nvSpPr>
        <p:spPr>
          <a:xfrm>
            <a:off x="762000" y="6477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Fehlerhafte Waiver-Datei (ungültiges JSON, fehlende Pflichtfelder, doppelter Fingerprint) → standardmäßig Warnung. Mit --strict-waivers → Exit-Code 2.</a:t>
            </a:r>
          </a:p>
        </p:txBody>
      </p:sp>
    </p:spTree>
    <p:extLst>
      <p:ext uri="{BB962C8B-B14F-4D97-AF65-F5344CB8AC3E}">
        <p14:creationId xmlns:p14="http://schemas.microsoft.com/office/powerpoint/2010/main" val="2226606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C50DA5-8F5A-9249-82A9-2AF5AF77643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41AC2E-78D1-0B4E-B415-9CF336D26B1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Waiver-Datei — Aufbau &amp; Verwendung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3853CD-0B85-3B44-8668-8D47BCDB8DDB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0856AD-9AEA-B64F-AB30-97C1CB8691C8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aci-waivers.json — eine JSON-Liste, jeder Eintrag ein Waiver. Über --waivers an ACI übergeben.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5DE9DC0-F140-E145-998C-35A6BD9B865D}"/>
              </a:ext>
            </a:extLst>
          </p:cNvPr>
          <p:cNvSpPr/>
          <p:nvPr/>
        </p:nvSpPr>
        <p:spPr>
          <a:xfrm>
            <a:off x="762000" y="2057400"/>
            <a:ext cx="6096000" cy="4064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476DE5B-2AF6-EA42-ABED-C00F58ADBE91}"/>
              </a:ext>
            </a:extLst>
          </p:cNvPr>
          <p:cNvSpPr/>
          <p:nvPr/>
        </p:nvSpPr>
        <p:spPr>
          <a:xfrm>
            <a:off x="762000" y="2057400"/>
            <a:ext cx="6096000" cy="381000"/>
          </a:xfrm>
          <a:prstGeom prst="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E78CF4-C315-0C47-BD16-9763C7E9D1CD}"/>
              </a:ext>
            </a:extLst>
          </p:cNvPr>
          <p:cNvSpPr/>
          <p:nvPr/>
        </p:nvSpPr>
        <p:spPr>
          <a:xfrm>
            <a:off x="889000" y="2197100"/>
            <a:ext cx="101600" cy="101600"/>
          </a:xfrm>
          <a:prstGeom prst="ellipse">
            <a:avLst/>
          </a:prstGeom>
          <a:solidFill>
            <a:srgbClr val="FF5F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250D3F-B97E-C946-801C-E0782ACEC198}"/>
              </a:ext>
            </a:extLst>
          </p:cNvPr>
          <p:cNvSpPr/>
          <p:nvPr/>
        </p:nvSpPr>
        <p:spPr>
          <a:xfrm>
            <a:off x="1041400" y="2197100"/>
            <a:ext cx="101600" cy="101600"/>
          </a:xfrm>
          <a:prstGeom prst="ellipse">
            <a:avLst/>
          </a:prstGeom>
          <a:solidFill>
            <a:srgbClr val="FEBC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1BFCB4-74A4-804C-835C-A40A737E235D}"/>
              </a:ext>
            </a:extLst>
          </p:cNvPr>
          <p:cNvSpPr/>
          <p:nvPr/>
        </p:nvSpPr>
        <p:spPr>
          <a:xfrm>
            <a:off x="1193800" y="2197100"/>
            <a:ext cx="101600" cy="101600"/>
          </a:xfrm>
          <a:prstGeom prst="ellipse">
            <a:avLst/>
          </a:prstGeom>
          <a:solidFill>
            <a:srgbClr val="28C8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D32BC5-99D1-5148-8D5B-E12FFF0A1431}"/>
              </a:ext>
            </a:extLst>
          </p:cNvPr>
          <p:cNvSpPr txBox="1"/>
          <p:nvPr/>
        </p:nvSpPr>
        <p:spPr>
          <a:xfrm>
            <a:off x="1473200" y="21590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>
                <a:solidFill>
                  <a:srgbClr val="999999"/>
                </a:solidFill>
                <a:latin typeface="Consolas"/>
                <a:cs typeface="Consolas"/>
              </a:rPr>
              <a:t>aci-waivers.json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D1629C-58BE-5E4A-9523-F496D36873FC}"/>
              </a:ext>
            </a:extLst>
          </p:cNvPr>
          <p:cNvSpPr txBox="1"/>
          <p:nvPr/>
        </p:nvSpPr>
        <p:spPr>
          <a:xfrm>
            <a:off x="965200" y="2565400"/>
            <a:ext cx="5689600" cy="3429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[
  {
    "fingerprint":   "39e7c9525757badd",
    "ticket":        "SEC-1423",
    "owner":         "ak@red-database-security.com",
    "expires":       "2026-09-30",
    "reason":        "Dyn. SQL nur über validierte
                      Whitelist-Konstante;
                      Refactor in SEC-1423 geplant.",
    "created":       "2026-05-24",
    "risk_accepted": true
  }
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3A36ECF-54FA-2443-BC05-42C03DD593CB}"/>
              </a:ext>
            </a:extLst>
          </p:cNvPr>
          <p:cNvSpPr txBox="1"/>
          <p:nvPr/>
        </p:nvSpPr>
        <p:spPr>
          <a:xfrm>
            <a:off x="7086600" y="2057400"/>
            <a:ext cx="4343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Pflichtfelder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FBA2A99-911D-6C46-88A4-9E8C34DE2391}"/>
              </a:ext>
            </a:extLst>
          </p:cNvPr>
          <p:cNvSpPr txBox="1"/>
          <p:nvPr/>
        </p:nvSpPr>
        <p:spPr>
          <a:xfrm>
            <a:off x="7086600" y="238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  <a:latin typeface="Consolas"/>
                <a:cs typeface="Consolas"/>
              </a:rPr>
              <a:t>fingerprint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8A9349B-594E-344B-8436-8A1537A21250}"/>
              </a:ext>
            </a:extLst>
          </p:cNvPr>
          <p:cNvSpPr txBox="1"/>
          <p:nvPr/>
        </p:nvSpPr>
        <p:spPr>
          <a:xfrm>
            <a:off x="8737600" y="23876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Aus dem Report kopieren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AEF989-CF4D-5841-88B8-099AB3033806}"/>
              </a:ext>
            </a:extLst>
          </p:cNvPr>
          <p:cNvSpPr txBox="1"/>
          <p:nvPr/>
        </p:nvSpPr>
        <p:spPr>
          <a:xfrm>
            <a:off x="7086600" y="2717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  <a:latin typeface="Consolas"/>
                <a:cs typeface="Consolas"/>
              </a:rPr>
              <a:t>ticket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37B3C50-3968-D84D-A295-5F6F0A0CDA0E}"/>
              </a:ext>
            </a:extLst>
          </p:cNvPr>
          <p:cNvSpPr txBox="1"/>
          <p:nvPr/>
        </p:nvSpPr>
        <p:spPr>
          <a:xfrm>
            <a:off x="8737600" y="27178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Issue-Tracker-Referenz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62A66BE-F2C4-CE4A-8DDF-A985DB28E95A}"/>
              </a:ext>
            </a:extLst>
          </p:cNvPr>
          <p:cNvSpPr txBox="1"/>
          <p:nvPr/>
        </p:nvSpPr>
        <p:spPr>
          <a:xfrm>
            <a:off x="7086600" y="30480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  <a:latin typeface="Consolas"/>
                <a:cs typeface="Consolas"/>
              </a:rPr>
              <a:t>owner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A50A72B-673A-EB48-A619-2E04CCA37762}"/>
              </a:ext>
            </a:extLst>
          </p:cNvPr>
          <p:cNvSpPr txBox="1"/>
          <p:nvPr/>
        </p:nvSpPr>
        <p:spPr>
          <a:xfrm>
            <a:off x="8737600" y="30480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Verantwortliche E-Mail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458BB42-2EC4-5240-808E-FC76857BC65C}"/>
              </a:ext>
            </a:extLst>
          </p:cNvPr>
          <p:cNvSpPr txBox="1"/>
          <p:nvPr/>
        </p:nvSpPr>
        <p:spPr>
          <a:xfrm>
            <a:off x="7086600" y="337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  <a:latin typeface="Consolas"/>
                <a:cs typeface="Consolas"/>
              </a:rPr>
              <a:t>expires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3DD21BD-2A1F-4F44-BFFF-057CACD575F4}"/>
              </a:ext>
            </a:extLst>
          </p:cNvPr>
          <p:cNvSpPr txBox="1"/>
          <p:nvPr/>
        </p:nvSpPr>
        <p:spPr>
          <a:xfrm>
            <a:off x="8737600" y="33782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YYYY-MM-DD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BE0AF28-C1F5-B840-B5AC-A3CC8DD3F580}"/>
              </a:ext>
            </a:extLst>
          </p:cNvPr>
          <p:cNvSpPr txBox="1"/>
          <p:nvPr/>
        </p:nvSpPr>
        <p:spPr>
          <a:xfrm>
            <a:off x="7086600" y="37084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E97132"/>
                </a:solidFill>
                <a:latin typeface="Consolas"/>
                <a:cs typeface="Consolas"/>
              </a:rPr>
              <a:t>reason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D3B4ECA-0B4D-F04C-B6A3-0E30D337932A}"/>
              </a:ext>
            </a:extLst>
          </p:cNvPr>
          <p:cNvSpPr txBox="1"/>
          <p:nvPr/>
        </p:nvSpPr>
        <p:spPr>
          <a:xfrm>
            <a:off x="8737600" y="37084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Begründung der Ausnahme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D2607ED-76D0-5945-B363-D8EB561196BC}"/>
              </a:ext>
            </a:extLst>
          </p:cNvPr>
          <p:cNvSpPr txBox="1"/>
          <p:nvPr/>
        </p:nvSpPr>
        <p:spPr>
          <a:xfrm>
            <a:off x="7086600" y="4191000"/>
            <a:ext cx="4343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Optional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00EF277-81CC-E94F-AD0B-EDEDD0581C05}"/>
              </a:ext>
            </a:extLst>
          </p:cNvPr>
          <p:cNvSpPr txBox="1"/>
          <p:nvPr/>
        </p:nvSpPr>
        <p:spPr>
          <a:xfrm>
            <a:off x="7086600" y="4521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56082"/>
                </a:solidFill>
                <a:latin typeface="Consolas"/>
                <a:cs typeface="Consolas"/>
              </a:rPr>
              <a:t>created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EB2331C-54CE-424D-A057-7B570FCE9A70}"/>
              </a:ext>
            </a:extLst>
          </p:cNvPr>
          <p:cNvSpPr txBox="1"/>
          <p:nvPr/>
        </p:nvSpPr>
        <p:spPr>
          <a:xfrm>
            <a:off x="8737600" y="45212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Datum der Erstellung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114B62B-1812-B142-B2A8-092421311EAB}"/>
              </a:ext>
            </a:extLst>
          </p:cNvPr>
          <p:cNvSpPr txBox="1"/>
          <p:nvPr/>
        </p:nvSpPr>
        <p:spPr>
          <a:xfrm>
            <a:off x="7086600" y="48514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156082"/>
                </a:solidFill>
                <a:latin typeface="Consolas"/>
                <a:cs typeface="Consolas"/>
              </a:rPr>
              <a:t>risk_accepted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B536EFB-E20D-D140-983A-DCF0AB35E7E6}"/>
              </a:ext>
            </a:extLst>
          </p:cNvPr>
          <p:cNvSpPr txBox="1"/>
          <p:nvPr/>
        </p:nvSpPr>
        <p:spPr>
          <a:xfrm>
            <a:off x="8737600" y="48514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444444"/>
                </a:solidFill>
              </a:rPr>
              <a:t>Bool — Risiko formell akzeptiert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6325E65-3DF2-1C4E-BED7-E01F4A6394B3}"/>
              </a:ext>
            </a:extLst>
          </p:cNvPr>
          <p:cNvSpPr/>
          <p:nvPr/>
        </p:nvSpPr>
        <p:spPr>
          <a:xfrm>
            <a:off x="7086600" y="5308600"/>
            <a:ext cx="4343400" cy="711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44AFCCC-EFBB-7B42-889C-93F6D7FF899B}"/>
              </a:ext>
            </a:extLst>
          </p:cNvPr>
          <p:cNvSpPr txBox="1"/>
          <p:nvPr/>
        </p:nvSpPr>
        <p:spPr>
          <a:xfrm>
            <a:off x="7239000" y="5410200"/>
            <a:ext cx="4038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E97132"/>
                </a:solidFill>
              </a:rPr>
              <a:t>VERWENDUNG IN DER PIPELINE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ECCA45C-45B0-464E-9628-379F8524209B}"/>
              </a:ext>
            </a:extLst>
          </p:cNvPr>
          <p:cNvSpPr txBox="1"/>
          <p:nvPr/>
        </p:nvSpPr>
        <p:spPr>
          <a:xfrm>
            <a:off x="7239000" y="5588000"/>
            <a:ext cx="40386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python -m aci sql/ \
  --waivers aci-waivers.json</a:t>
            </a:r>
          </a:p>
        </p:txBody>
      </p:sp>
    </p:spTree>
    <p:extLst>
      <p:ext uri="{BB962C8B-B14F-4D97-AF65-F5344CB8AC3E}">
        <p14:creationId xmlns:p14="http://schemas.microsoft.com/office/powerpoint/2010/main" val="29894406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FF7510B-C1BA-E243-9970-D6CA7CB5018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E794B08-FBF6-F44F-BB02-885AB41C2E1D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Regelintegrität — Schutz vor manipulierten Regeln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A984831-339C-6545-98FA-C43F79B31A50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03EFC5-4702-D342-A42F-232F2D80A9B6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Wer die Regeln verändert, kann den Gate schwächen. ACI macht den verwendeten Regelstand überprüfbar.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754A61-85C1-F747-9BDB-D97D4D566A87}"/>
              </a:ext>
            </a:extLst>
          </p:cNvPr>
          <p:cNvSpPr/>
          <p:nvPr/>
        </p:nvSpPr>
        <p:spPr>
          <a:xfrm>
            <a:off x="762000" y="1981200"/>
            <a:ext cx="52070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73E801-3088-9B47-B463-3844DD02AD7E}"/>
              </a:ext>
            </a:extLst>
          </p:cNvPr>
          <p:cNvSpPr/>
          <p:nvPr/>
        </p:nvSpPr>
        <p:spPr>
          <a:xfrm>
            <a:off x="762000" y="1981200"/>
            <a:ext cx="5207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46E6832-AB90-4A47-B8DC-137A5700BA2D}"/>
              </a:ext>
            </a:extLst>
          </p:cNvPr>
          <p:cNvSpPr txBox="1"/>
          <p:nvPr/>
        </p:nvSpPr>
        <p:spPr>
          <a:xfrm>
            <a:off x="965200" y="21590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Ruleset-Hash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E4FB2FB-FC9C-4241-AAE6-F89084580470}"/>
              </a:ext>
            </a:extLst>
          </p:cNvPr>
          <p:cNvSpPr txBox="1"/>
          <p:nvPr/>
        </p:nvSpPr>
        <p:spPr>
          <a:xfrm>
            <a:off x="965200" y="2489200"/>
            <a:ext cx="4800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SHA-256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C891311-4F53-1843-BD2B-22941681CAE0}"/>
              </a:ext>
            </a:extLst>
          </p:cNvPr>
          <p:cNvSpPr txBox="1"/>
          <p:nvPr/>
        </p:nvSpPr>
        <p:spPr>
          <a:xfrm>
            <a:off x="965200" y="2794000"/>
            <a:ext cx="4800600" cy="787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Stabiler, reproduzierbarer Hash über den Inhalt aller geladenen Regeldateien (Sicherheit, Guidelines, MITRE). Teams prüfen ihn in der Pipeline gegen einen erwarteten Wert.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D91FF71-A75F-3947-9749-08CB76B408D3}"/>
              </a:ext>
            </a:extLst>
          </p:cNvPr>
          <p:cNvSpPr/>
          <p:nvPr/>
        </p:nvSpPr>
        <p:spPr>
          <a:xfrm>
            <a:off x="6223000" y="1981200"/>
            <a:ext cx="52070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B91EDE6-F993-9B48-878C-BEB271EEE1F9}"/>
              </a:ext>
            </a:extLst>
          </p:cNvPr>
          <p:cNvSpPr/>
          <p:nvPr/>
        </p:nvSpPr>
        <p:spPr>
          <a:xfrm>
            <a:off x="6223000" y="1981200"/>
            <a:ext cx="5207000" cy="508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28C134-5860-5549-804C-30B370CEAB82}"/>
              </a:ext>
            </a:extLst>
          </p:cNvPr>
          <p:cNvSpPr txBox="1"/>
          <p:nvPr/>
        </p:nvSpPr>
        <p:spPr>
          <a:xfrm>
            <a:off x="6426200" y="2159000"/>
            <a:ext cx="48006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Vertrauensstatus je Datei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2E21B00-BCE3-264E-8D38-1E7E7A182B46}"/>
              </a:ext>
            </a:extLst>
          </p:cNvPr>
          <p:cNvSpPr txBox="1"/>
          <p:nvPr/>
        </p:nvSpPr>
        <p:spPr>
          <a:xfrm>
            <a:off x="6426200" y="2489200"/>
            <a:ext cx="48006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0F9ED5"/>
                </a:solidFill>
                <a:latin typeface="Consolas"/>
                <a:cs typeface="Consolas"/>
              </a:rPr>
              <a:t>trusted / untrusted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3DCFCC-C123-B143-BF9E-BE1D5F3DDE79}"/>
              </a:ext>
            </a:extLst>
          </p:cNvPr>
          <p:cNvSpPr txBox="1"/>
          <p:nvPr/>
        </p:nvSpPr>
        <p:spPr>
          <a:xfrm>
            <a:off x="6426200" y="2794000"/>
            <a:ext cx="4800600" cy="787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ACI weist je Regeldatei aus, ob sie zur gebündelten Installation gehört (trusted) oder aus einem benutzerdefinierten Pfad stammt (untrusted). Untrusted-Dateien werden sichtbar markiert und auf stderr gewarnt.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C12E279-E1D7-CF4D-A84C-E0E54BE5B564}"/>
              </a:ext>
            </a:extLst>
          </p:cNvPr>
          <p:cNvSpPr txBox="1"/>
          <p:nvPr/>
        </p:nvSpPr>
        <p:spPr>
          <a:xfrm>
            <a:off x="762000" y="3911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Wo der Hash erscheint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0C2C963-7845-2348-A68E-2A1F25B4B702}"/>
              </a:ext>
            </a:extLst>
          </p:cNvPr>
          <p:cNvSpPr/>
          <p:nvPr/>
        </p:nvSpPr>
        <p:spPr>
          <a:xfrm>
            <a:off x="762000" y="4241800"/>
            <a:ext cx="2540000" cy="762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7B9E576-9429-2841-A44D-944C79744777}"/>
              </a:ext>
            </a:extLst>
          </p:cNvPr>
          <p:cNvSpPr txBox="1"/>
          <p:nvPr/>
        </p:nvSpPr>
        <p:spPr>
          <a:xfrm>
            <a:off x="914400" y="4343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Konsole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9AF0636-4B19-D746-BBE4-8E73976B1F3E}"/>
              </a:ext>
            </a:extLst>
          </p:cNvPr>
          <p:cNvSpPr txBox="1"/>
          <p:nvPr/>
        </p:nvSpPr>
        <p:spPr>
          <a:xfrm>
            <a:off x="914400" y="4597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Zeile »Regeln«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1FCC38B-C39B-5040-80FA-A612FEF10AED}"/>
              </a:ext>
            </a:extLst>
          </p:cNvPr>
          <p:cNvSpPr/>
          <p:nvPr/>
        </p:nvSpPr>
        <p:spPr>
          <a:xfrm>
            <a:off x="3467100" y="4241800"/>
            <a:ext cx="2540000" cy="762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83CBC51-9EC8-6E4B-8F30-42F582910705}"/>
              </a:ext>
            </a:extLst>
          </p:cNvPr>
          <p:cNvSpPr txBox="1"/>
          <p:nvPr/>
        </p:nvSpPr>
        <p:spPr>
          <a:xfrm>
            <a:off x="3619500" y="4343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JSON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ECFB92F-067D-8346-9EAB-8EDDC84F4B92}"/>
              </a:ext>
            </a:extLst>
          </p:cNvPr>
          <p:cNvSpPr txBox="1"/>
          <p:nvPr/>
        </p:nvSpPr>
        <p:spPr>
          <a:xfrm>
            <a:off x="3619500" y="4597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ruleset.integrity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020C25D-1E1C-1A43-A3D5-5E751C23D175}"/>
              </a:ext>
            </a:extLst>
          </p:cNvPr>
          <p:cNvSpPr/>
          <p:nvPr/>
        </p:nvSpPr>
        <p:spPr>
          <a:xfrm>
            <a:off x="6172200" y="4241800"/>
            <a:ext cx="2540000" cy="762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5668A69-A876-6A46-B752-B0EBB7A98038}"/>
              </a:ext>
            </a:extLst>
          </p:cNvPr>
          <p:cNvSpPr txBox="1"/>
          <p:nvPr/>
        </p:nvSpPr>
        <p:spPr>
          <a:xfrm>
            <a:off x="6324600" y="4343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HTML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C496F8A-F1C4-3F4B-8ADB-B0E6241A0FEB}"/>
              </a:ext>
            </a:extLst>
          </p:cNvPr>
          <p:cNvSpPr txBox="1"/>
          <p:nvPr/>
        </p:nvSpPr>
        <p:spPr>
          <a:xfrm>
            <a:off x="6324600" y="4597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Zeile »Regelintegrität«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BA3A3FA-4D9A-8042-B555-367E455FCB5F}"/>
              </a:ext>
            </a:extLst>
          </p:cNvPr>
          <p:cNvSpPr/>
          <p:nvPr/>
        </p:nvSpPr>
        <p:spPr>
          <a:xfrm>
            <a:off x="8877300" y="4241800"/>
            <a:ext cx="2540000" cy="762000"/>
          </a:xfrm>
          <a:prstGeom prst="rect">
            <a:avLst/>
          </a:prstGeom>
          <a:solidFill>
            <a:srgbClr val="F2F4F6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1B92248-F716-C649-B8BE-19750DDB2190}"/>
              </a:ext>
            </a:extLst>
          </p:cNvPr>
          <p:cNvSpPr txBox="1"/>
          <p:nvPr/>
        </p:nvSpPr>
        <p:spPr>
          <a:xfrm>
            <a:off x="9029700" y="4343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SARIF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B7913D9-0723-F549-A638-996BF1518585}"/>
              </a:ext>
            </a:extLst>
          </p:cNvPr>
          <p:cNvSpPr txBox="1"/>
          <p:nvPr/>
        </p:nvSpPr>
        <p:spPr>
          <a:xfrm>
            <a:off x="9029700" y="4597400"/>
            <a:ext cx="22352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runs[].properties.aci_ruleset_hash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7C8265A-A296-4D4F-98C6-EA9A6A7523D9}"/>
              </a:ext>
            </a:extLst>
          </p:cNvPr>
          <p:cNvSpPr/>
          <p:nvPr/>
        </p:nvSpPr>
        <p:spPr>
          <a:xfrm>
            <a:off x="762000" y="5232400"/>
            <a:ext cx="10668000" cy="1219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9AA3409-A5F8-784D-A002-425F07BCB17E}"/>
              </a:ext>
            </a:extLst>
          </p:cNvPr>
          <p:cNvSpPr/>
          <p:nvPr/>
        </p:nvSpPr>
        <p:spPr>
          <a:xfrm>
            <a:off x="762000" y="5232400"/>
            <a:ext cx="76200" cy="1219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C4D98B7-CE00-274C-8F64-86C1CABF6391}"/>
              </a:ext>
            </a:extLst>
          </p:cNvPr>
          <p:cNvSpPr txBox="1"/>
          <p:nvPr/>
        </p:nvSpPr>
        <p:spPr>
          <a:xfrm>
            <a:off x="1016000" y="53848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HARTER KONTROLLPUNKT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686F3C2-40B0-BC4F-A4BF-9908AD3C51FC}"/>
              </a:ext>
            </a:extLst>
          </p:cNvPr>
          <p:cNvSpPr txBox="1"/>
          <p:nvPr/>
        </p:nvSpPr>
        <p:spPr>
          <a:xfrm>
            <a:off x="1016000" y="558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--require-trusted-rules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30B9F2E-BF6B-C147-9B99-F37B26948074}"/>
              </a:ext>
            </a:extLst>
          </p:cNvPr>
          <p:cNvSpPr txBox="1"/>
          <p:nvPr/>
        </p:nvSpPr>
        <p:spPr>
          <a:xfrm>
            <a:off x="1016000" y="5892800"/>
            <a:ext cx="10160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D4D4D4"/>
                </a:solidFill>
              </a:rPr>
              <a:t>ACI bricht mit Exit-Code 2 ab, sobald eine Regeldatei von außerhalb des Pakets geladen würde. Eine manipulierte Regel kann den Gate so nicht still schwächen.</a:t>
            </a:r>
          </a:p>
        </p:txBody>
      </p:sp>
    </p:spTree>
    <p:extLst>
      <p:ext uri="{BB962C8B-B14F-4D97-AF65-F5344CB8AC3E}">
        <p14:creationId xmlns:p14="http://schemas.microsoft.com/office/powerpoint/2010/main" val="40011927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6376A4F-DC1D-E440-A6A7-5BBF2979BF71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28899ED-1EE0-4A4E-A686-C0826005B62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SARIF — feinere Regelgruppierung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BBCA726-EB2A-0C40-83F9-9F2FAC195CA6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B042DF-1297-AB4B-BC39-8815DFBFDA37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Der SARIF-Regelkatalog wird je konkreter Regelreferenz geführt — nicht nur je check_id.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80BE34-F5A7-0048-BD65-2CE1CCA1E615}"/>
              </a:ext>
            </a:extLst>
          </p:cNvPr>
          <p:cNvSpPr/>
          <p:nvPr/>
        </p:nvSpPr>
        <p:spPr>
          <a:xfrm>
            <a:off x="762000" y="2057400"/>
            <a:ext cx="5207000" cy="2540000"/>
          </a:xfrm>
          <a:prstGeom prst="rect">
            <a:avLst/>
          </a:prstGeom>
          <a:solidFill>
            <a:srgbClr val="FFF5F5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DD4867-2F02-E94E-B6DD-929866836953}"/>
              </a:ext>
            </a:extLst>
          </p:cNvPr>
          <p:cNvSpPr/>
          <p:nvPr/>
        </p:nvSpPr>
        <p:spPr>
          <a:xfrm>
            <a:off x="762000" y="2057400"/>
            <a:ext cx="5207000" cy="508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3946D9-24AF-AF4A-8E69-B4A3CC154972}"/>
              </a:ext>
            </a:extLst>
          </p:cNvPr>
          <p:cNvSpPr txBox="1"/>
          <p:nvPr/>
        </p:nvSpPr>
        <p:spPr>
          <a:xfrm>
            <a:off x="965200" y="22352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C00000"/>
                </a:solidFill>
              </a:rPr>
              <a:t>VORHER · NUR check_id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DAECF53-7746-AE42-B7DB-BDBCF9B420BC}"/>
              </a:ext>
            </a:extLst>
          </p:cNvPr>
          <p:cNvSpPr txBox="1"/>
          <p:nvPr/>
        </p:nvSpPr>
        <p:spPr>
          <a:xfrm>
            <a:off x="965200" y="2463800"/>
            <a:ext cx="4800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Alle unerwünschten Packages laufen in einem Regel-Eintrag zusammen — Dashboards können einzelne Pakete nicht getrennt verfolgen.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7D5AC60-70FF-5844-AA95-44BE2884946E}"/>
              </a:ext>
            </a:extLst>
          </p:cNvPr>
          <p:cNvSpPr/>
          <p:nvPr/>
        </p:nvSpPr>
        <p:spPr>
          <a:xfrm>
            <a:off x="965200" y="3048000"/>
            <a:ext cx="4800600" cy="1270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D1A2ACC-B1A0-0D41-A64D-009E13137896}"/>
              </a:ext>
            </a:extLst>
          </p:cNvPr>
          <p:cNvSpPr txBox="1"/>
          <p:nvPr/>
        </p:nvSpPr>
        <p:spPr>
          <a:xfrm>
            <a:off x="1117600" y="3175000"/>
            <a:ext cx="4495800" cy="1066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"rules": [
  { "id": "ACI-PKG", ... }
]
  ↳ utl_http, dbms_lob,
     dbms_scheduler, ... alle hier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D86344E-4751-F446-B5C4-36EE1B72E7C4}"/>
              </a:ext>
            </a:extLst>
          </p:cNvPr>
          <p:cNvSpPr/>
          <p:nvPr/>
        </p:nvSpPr>
        <p:spPr>
          <a:xfrm>
            <a:off x="6223000" y="2057400"/>
            <a:ext cx="5207000" cy="2540000"/>
          </a:xfrm>
          <a:prstGeom prst="rect">
            <a:avLst/>
          </a:prstGeom>
          <a:solidFill>
            <a:srgbClr val="F4FAF5"/>
          </a:solidFill>
          <a:ln w="1270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96B217C-DDA5-F840-AF9C-26A06E07E115}"/>
              </a:ext>
            </a:extLst>
          </p:cNvPr>
          <p:cNvSpPr/>
          <p:nvPr/>
        </p:nvSpPr>
        <p:spPr>
          <a:xfrm>
            <a:off x="6223000" y="2057400"/>
            <a:ext cx="5207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9400118-CDA1-4E47-B079-69E43B69222A}"/>
              </a:ext>
            </a:extLst>
          </p:cNvPr>
          <p:cNvSpPr txBox="1"/>
          <p:nvPr/>
        </p:nvSpPr>
        <p:spPr>
          <a:xfrm>
            <a:off x="6426200" y="2235200"/>
            <a:ext cx="48006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NACHHER · check_id:rule_ref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F7A6C09-7EF5-D245-B0C6-36AD9B8E440D}"/>
              </a:ext>
            </a:extLst>
          </p:cNvPr>
          <p:cNvSpPr txBox="1"/>
          <p:nvPr/>
        </p:nvSpPr>
        <p:spPr>
          <a:xfrm>
            <a:off x="6426200" y="2463800"/>
            <a:ext cx="48006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Jede Regelreferenz erhält ihren eigenen Katalog-Eintrag — GitHub/GitLab/Azure DevOps können jedes Paket oder jeden MITRE-Indikator getrennt verfolgen.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6210CD7-BB54-AD4E-95CF-CA4AC5EE9DE6}"/>
              </a:ext>
            </a:extLst>
          </p:cNvPr>
          <p:cNvSpPr/>
          <p:nvPr/>
        </p:nvSpPr>
        <p:spPr>
          <a:xfrm>
            <a:off x="6426200" y="3048000"/>
            <a:ext cx="4800600" cy="1270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8A05F08-363E-FD4A-8C66-8240172EFC5C}"/>
              </a:ext>
            </a:extLst>
          </p:cNvPr>
          <p:cNvSpPr txBox="1"/>
          <p:nvPr/>
        </p:nvSpPr>
        <p:spPr>
          <a:xfrm>
            <a:off x="6578600" y="3175000"/>
            <a:ext cx="4495800" cy="1066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D4D4D4"/>
                </a:solidFill>
                <a:latin typeface="Consolas"/>
                <a:cs typeface="Consolas"/>
              </a:rPr>
              <a:t>"rules": [
  { "id": "ACI-PKG:utl_http", ... },
  { "id": "ACI-PKG:dbms_lob", ... },
  { "id": "ACI-OBF:CHR-CHAIN", ... },
  { "id": "ACI-MITRE:T1059", ... }
]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FB552ED-2B92-DE4D-9166-E038E94254CA}"/>
              </a:ext>
            </a:extLst>
          </p:cNvPr>
          <p:cNvSpPr/>
          <p:nvPr/>
        </p:nvSpPr>
        <p:spPr>
          <a:xfrm>
            <a:off x="762000" y="4927600"/>
            <a:ext cx="3429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25C0D2-BAA9-D740-BC83-923EFD28270B}"/>
              </a:ext>
            </a:extLst>
          </p:cNvPr>
          <p:cNvSpPr/>
          <p:nvPr/>
        </p:nvSpPr>
        <p:spPr>
          <a:xfrm>
            <a:off x="762000" y="4927600"/>
            <a:ext cx="3429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28E739-2E0A-8D41-ADE5-DA1CA5F537BF}"/>
              </a:ext>
            </a:extLst>
          </p:cNvPr>
          <p:cNvSpPr txBox="1"/>
          <p:nvPr/>
        </p:nvSpPr>
        <p:spPr>
          <a:xfrm>
            <a:off x="939800" y="5130800"/>
            <a:ext cx="30734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PARTIALFINGERPRINTS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1605CDE-F5FD-AF47-B19B-C059C20B0800}"/>
              </a:ext>
            </a:extLst>
          </p:cNvPr>
          <p:cNvSpPr txBox="1"/>
          <p:nvPr/>
        </p:nvSpPr>
        <p:spPr>
          <a:xfrm>
            <a:off x="939800" y="5410200"/>
            <a:ext cx="3073400" cy="812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Jeder Befund trägt seinen Fingerabdruck — direkt für Waiver verwendbar.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49E8C52-6E72-EA40-B3ED-3179C678E544}"/>
              </a:ext>
            </a:extLst>
          </p:cNvPr>
          <p:cNvSpPr/>
          <p:nvPr/>
        </p:nvSpPr>
        <p:spPr>
          <a:xfrm>
            <a:off x="4381500" y="4927600"/>
            <a:ext cx="3429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82DA511-F673-BB42-A5BE-D8F395D79F72}"/>
              </a:ext>
            </a:extLst>
          </p:cNvPr>
          <p:cNvSpPr/>
          <p:nvPr/>
        </p:nvSpPr>
        <p:spPr>
          <a:xfrm>
            <a:off x="4381500" y="4927600"/>
            <a:ext cx="3429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1AAEE61-C397-6441-B2B2-F34DADB6D835}"/>
              </a:ext>
            </a:extLst>
          </p:cNvPr>
          <p:cNvSpPr txBox="1"/>
          <p:nvPr/>
        </p:nvSpPr>
        <p:spPr>
          <a:xfrm>
            <a:off x="4559300" y="5130800"/>
            <a:ext cx="30734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SUPPRESSIONS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D5A5607-FFBF-9C4C-B0BB-AC6B4E755864}"/>
              </a:ext>
            </a:extLst>
          </p:cNvPr>
          <p:cNvSpPr txBox="1"/>
          <p:nvPr/>
        </p:nvSpPr>
        <p:spPr>
          <a:xfrm>
            <a:off x="4559300" y="5410200"/>
            <a:ext cx="3073400" cy="812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Gewaiverte Findings erscheinen als suppressions (kind: external).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34C9FB5-6DD9-064F-B6B9-CDC67D5EB1D2}"/>
              </a:ext>
            </a:extLst>
          </p:cNvPr>
          <p:cNvSpPr/>
          <p:nvPr/>
        </p:nvSpPr>
        <p:spPr>
          <a:xfrm>
            <a:off x="8001000" y="4927600"/>
            <a:ext cx="3429000" cy="1397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AA1EF03-DB31-CD4C-8579-70B5EE54E9C0}"/>
              </a:ext>
            </a:extLst>
          </p:cNvPr>
          <p:cNvSpPr/>
          <p:nvPr/>
        </p:nvSpPr>
        <p:spPr>
          <a:xfrm>
            <a:off x="8001000" y="4927600"/>
            <a:ext cx="3429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95B6809-C402-C24C-B6C0-740FB4ABD9D6}"/>
              </a:ext>
            </a:extLst>
          </p:cNvPr>
          <p:cNvSpPr txBox="1"/>
          <p:nvPr/>
        </p:nvSpPr>
        <p:spPr>
          <a:xfrm>
            <a:off x="8178800" y="5130800"/>
            <a:ext cx="30734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156082"/>
                </a:solidFill>
                <a:latin typeface="Consolas"/>
                <a:cs typeface="Consolas"/>
              </a:rPr>
              <a:t>PROPERTIES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16DCB11-00B3-AE4A-9139-DCBAB75C4457}"/>
              </a:ext>
            </a:extLst>
          </p:cNvPr>
          <p:cNvSpPr txBox="1"/>
          <p:nvPr/>
        </p:nvSpPr>
        <p:spPr>
          <a:xfrm>
            <a:off x="8178800" y="5410200"/>
            <a:ext cx="3073400" cy="812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check_id und rule_ref stehen zusätzlich in den properties jedes Regeleintrags.</a:t>
            </a:r>
          </a:p>
        </p:txBody>
      </p:sp>
    </p:spTree>
    <p:extLst>
      <p:ext uri="{BB962C8B-B14F-4D97-AF65-F5344CB8AC3E}">
        <p14:creationId xmlns:p14="http://schemas.microsoft.com/office/powerpoint/2010/main" val="490895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5A07595-45E3-034F-9ABF-BFCEFDC2CA93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CI/CD-INTEGRATION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DECD500-0CAB-E84A-AF00-D737AB2778F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Plattform-Integration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8AC4E7-3F9F-664A-B046-253ACED13BEB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4321D9D-E7DB-864F-8378-144E911EE46E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ist plattformneutral — Exit-Codes + SARIF sind universelle CI/CD-Schnittstellen.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6CF4F14-49B9-EE4E-BE8B-FBEA12D699E3}"/>
              </a:ext>
            </a:extLst>
          </p:cNvPr>
          <p:cNvSpPr/>
          <p:nvPr/>
        </p:nvSpPr>
        <p:spPr>
          <a:xfrm>
            <a:off x="762000" y="2006600"/>
            <a:ext cx="34671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F1DC7A-481D-8F46-9578-B7ECC27E5D18}"/>
              </a:ext>
            </a:extLst>
          </p:cNvPr>
          <p:cNvSpPr/>
          <p:nvPr/>
        </p:nvSpPr>
        <p:spPr>
          <a:xfrm>
            <a:off x="762000" y="2006600"/>
            <a:ext cx="3467100" cy="889000"/>
          </a:xfrm>
          <a:prstGeom prst="rect">
            <a:avLst/>
          </a:prstGeom>
          <a:solidFill>
            <a:srgbClr val="2429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BDA64F-24E1-A04A-8EE7-3F9BA1343D65}"/>
              </a:ext>
            </a:extLst>
          </p:cNvPr>
          <p:cNvSpPr/>
          <p:nvPr/>
        </p:nvSpPr>
        <p:spPr>
          <a:xfrm>
            <a:off x="965200" y="2184400"/>
            <a:ext cx="533400" cy="533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24292E"/>
                </a:solidFill>
              </a:rPr>
              <a:t>GH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D8C2141-6D9D-E943-A8E5-07E7F23B249B}"/>
              </a:ext>
            </a:extLst>
          </p:cNvPr>
          <p:cNvSpPr txBox="1"/>
          <p:nvPr/>
        </p:nvSpPr>
        <p:spPr>
          <a:xfrm>
            <a:off x="1651000" y="22098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A2CE26C-192F-7445-B6CB-223DA14BF86A}"/>
              </a:ext>
            </a:extLst>
          </p:cNvPr>
          <p:cNvSpPr txBox="1"/>
          <p:nvPr/>
        </p:nvSpPr>
        <p:spPr>
          <a:xfrm>
            <a:off x="1651000" y="2489200"/>
            <a:ext cx="23749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FFFFFF"/>
                </a:solidFill>
              </a:rPr>
              <a:t>Code Scanning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4AAA4F-D8D0-6048-A7A9-E86301C42BF6}"/>
              </a:ext>
            </a:extLst>
          </p:cNvPr>
          <p:cNvSpPr/>
          <p:nvPr/>
        </p:nvSpPr>
        <p:spPr>
          <a:xfrm>
            <a:off x="965200" y="3200400"/>
            <a:ext cx="279400" cy="279400"/>
          </a:xfrm>
          <a:prstGeom prst="ellipse">
            <a:avLst/>
          </a:prstGeom>
          <a:solidFill>
            <a:srgbClr val="2429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AD149E-4017-A942-9EB6-9E75EAE3C85A}"/>
              </a:ext>
            </a:extLst>
          </p:cNvPr>
          <p:cNvSpPr txBox="1"/>
          <p:nvPr/>
        </p:nvSpPr>
        <p:spPr>
          <a:xfrm>
            <a:off x="1346200" y="3200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Job: ubuntu-latest, python 3.9+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5FE431-0858-E94D-AC99-9357293F768B}"/>
              </a:ext>
            </a:extLst>
          </p:cNvPr>
          <p:cNvSpPr/>
          <p:nvPr/>
        </p:nvSpPr>
        <p:spPr>
          <a:xfrm>
            <a:off x="965200" y="3708400"/>
            <a:ext cx="279400" cy="279400"/>
          </a:xfrm>
          <a:prstGeom prst="ellipse">
            <a:avLst/>
          </a:prstGeom>
          <a:solidFill>
            <a:srgbClr val="2429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F3A0C63-0E12-E945-B8A5-A8D0465A00EE}"/>
              </a:ext>
            </a:extLst>
          </p:cNvPr>
          <p:cNvSpPr txBox="1"/>
          <p:nvPr/>
        </p:nvSpPr>
        <p:spPr>
          <a:xfrm>
            <a:off x="1346200" y="3708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python -m aci sql/ --safe-report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7E0A8D-ABA5-9741-A31F-E81D7AFEB458}"/>
              </a:ext>
            </a:extLst>
          </p:cNvPr>
          <p:cNvSpPr/>
          <p:nvPr/>
        </p:nvSpPr>
        <p:spPr>
          <a:xfrm>
            <a:off x="965200" y="4216400"/>
            <a:ext cx="279400" cy="279400"/>
          </a:xfrm>
          <a:prstGeom prst="ellipse">
            <a:avLst/>
          </a:prstGeom>
          <a:solidFill>
            <a:srgbClr val="2429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63ABEBA-A4AA-9449-8F7B-0FE18D7CF632}"/>
              </a:ext>
            </a:extLst>
          </p:cNvPr>
          <p:cNvSpPr txBox="1"/>
          <p:nvPr/>
        </p:nvSpPr>
        <p:spPr>
          <a:xfrm>
            <a:off x="1346200" y="4216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upload-sarif@v3 → Security tab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57FC88-3F2E-764A-B1F2-5D58C5BB7EB0}"/>
              </a:ext>
            </a:extLst>
          </p:cNvPr>
          <p:cNvSpPr/>
          <p:nvPr/>
        </p:nvSpPr>
        <p:spPr>
          <a:xfrm>
            <a:off x="965200" y="4724400"/>
            <a:ext cx="279400" cy="279400"/>
          </a:xfrm>
          <a:prstGeom prst="ellipse">
            <a:avLst/>
          </a:prstGeom>
          <a:solidFill>
            <a:srgbClr val="2429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1B7A7C7-75C9-F44C-8998-F267E7F497DA}"/>
              </a:ext>
            </a:extLst>
          </p:cNvPr>
          <p:cNvSpPr txBox="1"/>
          <p:nvPr/>
        </p:nvSpPr>
        <p:spPr>
          <a:xfrm>
            <a:off x="1346200" y="4724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Branch protection auf Exit-Code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ABC6441-03F2-C143-998C-2C51F18EB95A}"/>
              </a:ext>
            </a:extLst>
          </p:cNvPr>
          <p:cNvSpPr/>
          <p:nvPr/>
        </p:nvSpPr>
        <p:spPr>
          <a:xfrm>
            <a:off x="4381500" y="2006600"/>
            <a:ext cx="34671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39E5C01-E547-8D46-A24B-C2B663192421}"/>
              </a:ext>
            </a:extLst>
          </p:cNvPr>
          <p:cNvSpPr/>
          <p:nvPr/>
        </p:nvSpPr>
        <p:spPr>
          <a:xfrm>
            <a:off x="4381500" y="2006600"/>
            <a:ext cx="3467100" cy="889000"/>
          </a:xfrm>
          <a:prstGeom prst="rect">
            <a:avLst/>
          </a:prstGeom>
          <a:solidFill>
            <a:srgbClr val="FC6D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92FC51-712E-834A-A4A2-748119DECEFE}"/>
              </a:ext>
            </a:extLst>
          </p:cNvPr>
          <p:cNvSpPr/>
          <p:nvPr/>
        </p:nvSpPr>
        <p:spPr>
          <a:xfrm>
            <a:off x="4584700" y="2184400"/>
            <a:ext cx="533400" cy="533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C6D26"/>
                </a:solidFill>
              </a:rPr>
              <a:t>GL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C43296C-86B4-F247-A45B-A9A69DBE619B}"/>
              </a:ext>
            </a:extLst>
          </p:cNvPr>
          <p:cNvSpPr txBox="1"/>
          <p:nvPr/>
        </p:nvSpPr>
        <p:spPr>
          <a:xfrm>
            <a:off x="5270500" y="22098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GitLab CI/CD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7105D2A-EBC9-B24C-8C11-3021897FBEA1}"/>
              </a:ext>
            </a:extLst>
          </p:cNvPr>
          <p:cNvSpPr txBox="1"/>
          <p:nvPr/>
        </p:nvSpPr>
        <p:spPr>
          <a:xfrm>
            <a:off x="5270500" y="2489200"/>
            <a:ext cx="23749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FFFFFF"/>
                </a:solidFill>
              </a:rPr>
              <a:t>SAST-Integration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D627DA-3742-9B4F-AC3C-6128811008ED}"/>
              </a:ext>
            </a:extLst>
          </p:cNvPr>
          <p:cNvSpPr/>
          <p:nvPr/>
        </p:nvSpPr>
        <p:spPr>
          <a:xfrm>
            <a:off x="4584700" y="3200400"/>
            <a:ext cx="279400" cy="279400"/>
          </a:xfrm>
          <a:prstGeom prst="ellipse">
            <a:avLst/>
          </a:prstGeom>
          <a:solidFill>
            <a:srgbClr val="FC6D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6E1F7DE-7E53-B444-8FD4-C38E673E677E}"/>
              </a:ext>
            </a:extLst>
          </p:cNvPr>
          <p:cNvSpPr txBox="1"/>
          <p:nvPr/>
        </p:nvSpPr>
        <p:spPr>
          <a:xfrm>
            <a:off x="4965700" y="3200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Stage: test oder security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186C0E-1416-CB45-85AA-CC673F0D73CE}"/>
              </a:ext>
            </a:extLst>
          </p:cNvPr>
          <p:cNvSpPr/>
          <p:nvPr/>
        </p:nvSpPr>
        <p:spPr>
          <a:xfrm>
            <a:off x="4584700" y="3708400"/>
            <a:ext cx="279400" cy="279400"/>
          </a:xfrm>
          <a:prstGeom prst="ellipse">
            <a:avLst/>
          </a:prstGeom>
          <a:solidFill>
            <a:srgbClr val="FC6D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3EC51DA-470D-2046-BEED-7DE8ABE2006E}"/>
              </a:ext>
            </a:extLst>
          </p:cNvPr>
          <p:cNvSpPr txBox="1"/>
          <p:nvPr/>
        </p:nvSpPr>
        <p:spPr>
          <a:xfrm>
            <a:off x="4965700" y="3708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image: python:3.9-slim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563F58-8A0B-1143-B959-A89E9E8DBC5F}"/>
              </a:ext>
            </a:extLst>
          </p:cNvPr>
          <p:cNvSpPr/>
          <p:nvPr/>
        </p:nvSpPr>
        <p:spPr>
          <a:xfrm>
            <a:off x="4584700" y="4216400"/>
            <a:ext cx="279400" cy="279400"/>
          </a:xfrm>
          <a:prstGeom prst="ellipse">
            <a:avLst/>
          </a:prstGeom>
          <a:solidFill>
            <a:srgbClr val="FC6D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E22A430-1878-EF41-9DE6-14052B741E5F}"/>
              </a:ext>
            </a:extLst>
          </p:cNvPr>
          <p:cNvSpPr txBox="1"/>
          <p:nvPr/>
        </p:nvSpPr>
        <p:spPr>
          <a:xfrm>
            <a:off x="4965700" y="4216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artifacts: paths: [reports/]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CE46CE8-2995-924E-9867-4BE5657BE8BF}"/>
              </a:ext>
            </a:extLst>
          </p:cNvPr>
          <p:cNvSpPr/>
          <p:nvPr/>
        </p:nvSpPr>
        <p:spPr>
          <a:xfrm>
            <a:off x="4584700" y="4724400"/>
            <a:ext cx="279400" cy="279400"/>
          </a:xfrm>
          <a:prstGeom prst="ellipse">
            <a:avLst/>
          </a:prstGeom>
          <a:solidFill>
            <a:srgbClr val="FC6D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EDF3BAC-4496-F548-ADDF-FE6788AABE8F}"/>
              </a:ext>
            </a:extLst>
          </p:cNvPr>
          <p:cNvSpPr txBox="1"/>
          <p:nvPr/>
        </p:nvSpPr>
        <p:spPr>
          <a:xfrm>
            <a:off x="4965700" y="4724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report:sast → Security Dashboard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57A52CD-1248-9B4D-BFEF-5DF8C5B28AE9}"/>
              </a:ext>
            </a:extLst>
          </p:cNvPr>
          <p:cNvSpPr/>
          <p:nvPr/>
        </p:nvSpPr>
        <p:spPr>
          <a:xfrm>
            <a:off x="8001000" y="2006600"/>
            <a:ext cx="34671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98D714E-924C-CA4B-A362-4001E0F95DF3}"/>
              </a:ext>
            </a:extLst>
          </p:cNvPr>
          <p:cNvSpPr/>
          <p:nvPr/>
        </p:nvSpPr>
        <p:spPr>
          <a:xfrm>
            <a:off x="8001000" y="2006600"/>
            <a:ext cx="3467100" cy="8890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8E7514-4FAF-934F-8966-62D5559ABB63}"/>
              </a:ext>
            </a:extLst>
          </p:cNvPr>
          <p:cNvSpPr/>
          <p:nvPr/>
        </p:nvSpPr>
        <p:spPr>
          <a:xfrm>
            <a:off x="8204200" y="2184400"/>
            <a:ext cx="533400" cy="533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0078D4"/>
                </a:solidFill>
              </a:rPr>
              <a:t>AZ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422CED0-448D-8F44-B389-B5AC620B5FC2}"/>
              </a:ext>
            </a:extLst>
          </p:cNvPr>
          <p:cNvSpPr txBox="1"/>
          <p:nvPr/>
        </p:nvSpPr>
        <p:spPr>
          <a:xfrm>
            <a:off x="8890000" y="2209800"/>
            <a:ext cx="23749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Azure DevOps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1EDF4A8-DA0D-E049-BB0E-52E95D303201}"/>
              </a:ext>
            </a:extLst>
          </p:cNvPr>
          <p:cNvSpPr txBox="1"/>
          <p:nvPr/>
        </p:nvSpPr>
        <p:spPr>
          <a:xfrm>
            <a:off x="8890000" y="2489200"/>
            <a:ext cx="23749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FFFFFF"/>
                </a:solidFill>
              </a:rPr>
              <a:t>Pipelines + Scanning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D316D7E-A05E-4A40-949E-F395A685EAE7}"/>
              </a:ext>
            </a:extLst>
          </p:cNvPr>
          <p:cNvSpPr/>
          <p:nvPr/>
        </p:nvSpPr>
        <p:spPr>
          <a:xfrm>
            <a:off x="8204200" y="3200400"/>
            <a:ext cx="279400" cy="279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CCF983F-B168-4F44-A28D-17C315FF568F}"/>
              </a:ext>
            </a:extLst>
          </p:cNvPr>
          <p:cNvSpPr txBox="1"/>
          <p:nvPr/>
        </p:nvSpPr>
        <p:spPr>
          <a:xfrm>
            <a:off x="8585200" y="3200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Task: UsePythonVersion@0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E76D181-3A0C-4842-825C-D4C652D5EC93}"/>
              </a:ext>
            </a:extLst>
          </p:cNvPr>
          <p:cNvSpPr/>
          <p:nvPr/>
        </p:nvSpPr>
        <p:spPr>
          <a:xfrm>
            <a:off x="8204200" y="3708400"/>
            <a:ext cx="279400" cy="279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F118850-B9B4-B349-9919-72F14C401304}"/>
              </a:ext>
            </a:extLst>
          </p:cNvPr>
          <p:cNvSpPr txBox="1"/>
          <p:nvPr/>
        </p:nvSpPr>
        <p:spPr>
          <a:xfrm>
            <a:off x="8585200" y="3708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script: python -m aci sql/ ...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A469A6B-454F-D84A-B58F-FCAB90E61D8A}"/>
              </a:ext>
            </a:extLst>
          </p:cNvPr>
          <p:cNvSpPr/>
          <p:nvPr/>
        </p:nvSpPr>
        <p:spPr>
          <a:xfrm>
            <a:off x="8204200" y="4216400"/>
            <a:ext cx="279400" cy="279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A8D4B24-EFC9-164C-865E-277622F605BF}"/>
              </a:ext>
            </a:extLst>
          </p:cNvPr>
          <p:cNvSpPr txBox="1"/>
          <p:nvPr/>
        </p:nvSpPr>
        <p:spPr>
          <a:xfrm>
            <a:off x="8585200" y="4216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PublishCodeAnalysisLogs@1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48AB30-4701-F14A-A3E5-655EF279F67D}"/>
              </a:ext>
            </a:extLst>
          </p:cNvPr>
          <p:cNvSpPr/>
          <p:nvPr/>
        </p:nvSpPr>
        <p:spPr>
          <a:xfrm>
            <a:off x="8204200" y="4724400"/>
            <a:ext cx="279400" cy="279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FDF8782-A158-6341-9820-FAE8DC1FC2F3}"/>
              </a:ext>
            </a:extLst>
          </p:cNvPr>
          <p:cNvSpPr txBox="1"/>
          <p:nvPr/>
        </p:nvSpPr>
        <p:spPr>
          <a:xfrm>
            <a:off x="8585200" y="4724400"/>
            <a:ext cx="27051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1A1A1A"/>
                </a:solidFill>
                <a:latin typeface="Consolas"/>
                <a:cs typeface="Consolas"/>
              </a:rPr>
              <a:t>Branch Policy auf Build-Status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A88973F-48BA-1542-B61E-3167115EFB64}"/>
              </a:ext>
            </a:extLst>
          </p:cNvPr>
          <p:cNvSpPr/>
          <p:nvPr/>
        </p:nvSpPr>
        <p:spPr>
          <a:xfrm>
            <a:off x="762000" y="5842000"/>
            <a:ext cx="10668000" cy="457200"/>
          </a:xfrm>
          <a:prstGeom prst="rect">
            <a:avLst/>
          </a:prstGeom>
          <a:solidFill>
            <a:srgbClr val="F2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58B931E-46B4-E045-9D69-0A4F0931A5CF}"/>
              </a:ext>
            </a:extLst>
          </p:cNvPr>
          <p:cNvSpPr txBox="1"/>
          <p:nvPr/>
        </p:nvSpPr>
        <p:spPr>
          <a:xfrm>
            <a:off x="762000" y="5943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Gemeinsam: Exit-Codes treiben den Gate, SARIF speist die Security-Dashboards, Reports werden als Build-Artefakte archiviert.</a:t>
            </a:r>
          </a:p>
        </p:txBody>
      </p:sp>
    </p:spTree>
    <p:extLst>
      <p:ext uri="{BB962C8B-B14F-4D97-AF65-F5344CB8AC3E}">
        <p14:creationId xmlns:p14="http://schemas.microsoft.com/office/powerpoint/2010/main" val="2069960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2C1EE42-95C8-5649-A0E7-EB98097A1F0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GRENZEN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A1C0BE-3C1F-F146-BC7B-3F158CBB83F8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Was ACI nicht kann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FD06EE3-C68A-C94B-B24D-4D161FD980A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1B25EC-DA9E-9F48-A019-F6159C7C9C52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ist ein heuristischer Review-Assistent — kein vollständiges Code-Review und kein formaler Sicherheitsbeweis.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B16323-F6B7-2848-9237-EB95455DB1FC}"/>
              </a:ext>
            </a:extLst>
          </p:cNvPr>
          <p:cNvSpPr txBox="1"/>
          <p:nvPr/>
        </p:nvSpPr>
        <p:spPr>
          <a:xfrm>
            <a:off x="762000" y="2057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Bekannte Grenzen der Parser-/IR-Schicht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640F7B-D1BC-0043-99F4-D43963C5BE2D}"/>
              </a:ext>
            </a:extLst>
          </p:cNvPr>
          <p:cNvSpPr/>
          <p:nvPr/>
        </p:nvSpPr>
        <p:spPr>
          <a:xfrm>
            <a:off x="762000" y="24384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EF1FC2-1A72-504E-BA4F-2B4BC260A3F7}"/>
              </a:ext>
            </a:extLst>
          </p:cNvPr>
          <p:cNvSpPr/>
          <p:nvPr/>
        </p:nvSpPr>
        <p:spPr>
          <a:xfrm>
            <a:off x="889000" y="25400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50F6D1-B60B-CA4D-B60C-FE5732C8E23C}"/>
              </a:ext>
            </a:extLst>
          </p:cNvPr>
          <p:cNvSpPr txBox="1"/>
          <p:nvPr/>
        </p:nvSpPr>
        <p:spPr>
          <a:xfrm>
            <a:off x="1270000" y="2552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Kein vollständiger Oracle-PL/SQL- oder PostgreSQL-PL/pgSQL-Compiler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C70F988-FC98-C74B-9FF6-D5C04AE57C40}"/>
              </a:ext>
            </a:extLst>
          </p:cNvPr>
          <p:cNvSpPr/>
          <p:nvPr/>
        </p:nvSpPr>
        <p:spPr>
          <a:xfrm>
            <a:off x="6223000" y="24384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D6A1BF-0FA4-CB4D-B576-81AD6865841A}"/>
              </a:ext>
            </a:extLst>
          </p:cNvPr>
          <p:cNvSpPr/>
          <p:nvPr/>
        </p:nvSpPr>
        <p:spPr>
          <a:xfrm>
            <a:off x="6350000" y="25400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699EBF3-6D83-914F-885A-EDBE0CB5AD8D}"/>
              </a:ext>
            </a:extLst>
          </p:cNvPr>
          <p:cNvSpPr txBox="1"/>
          <p:nvPr/>
        </p:nvSpPr>
        <p:spPr>
          <a:xfrm>
            <a:off x="6731000" y="2552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Keine vollständige Kontrollfluss­analyse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38F38EA-D345-3349-9980-BF5382370DBC}"/>
              </a:ext>
            </a:extLst>
          </p:cNvPr>
          <p:cNvSpPr/>
          <p:nvPr/>
        </p:nvSpPr>
        <p:spPr>
          <a:xfrm>
            <a:off x="762000" y="29972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74676E-BF43-464E-9AB1-A854C607CF2A}"/>
              </a:ext>
            </a:extLst>
          </p:cNvPr>
          <p:cNvSpPr/>
          <p:nvPr/>
        </p:nvSpPr>
        <p:spPr>
          <a:xfrm>
            <a:off x="889000" y="30988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08D473E-A8E6-7543-BD91-4C343C20D9A9}"/>
              </a:ext>
            </a:extLst>
          </p:cNvPr>
          <p:cNvSpPr txBox="1"/>
          <p:nvPr/>
        </p:nvSpPr>
        <p:spPr>
          <a:xfrm>
            <a:off x="1270000" y="3111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Keine vollständige Daten­fluss­analyse über Funktions­aufrufe hinweg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D1D9FE1-D40F-F84E-91FC-1E4217D151F1}"/>
              </a:ext>
            </a:extLst>
          </p:cNvPr>
          <p:cNvSpPr/>
          <p:nvPr/>
        </p:nvSpPr>
        <p:spPr>
          <a:xfrm>
            <a:off x="6223000" y="29972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077A63-BB00-A048-9191-27999CF00445}"/>
              </a:ext>
            </a:extLst>
          </p:cNvPr>
          <p:cNvSpPr/>
          <p:nvPr/>
        </p:nvSpPr>
        <p:spPr>
          <a:xfrm>
            <a:off x="6350000" y="30988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03B7E1A-281A-4047-9A6E-7057E75EF8FE}"/>
              </a:ext>
            </a:extLst>
          </p:cNvPr>
          <p:cNvSpPr txBox="1"/>
          <p:nvPr/>
        </p:nvSpPr>
        <p:spPr>
          <a:xfrm>
            <a:off x="6731000" y="3111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Keine semantische Validierung gegen eine laufende Datenbank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8969C7A-F8FA-A84A-887E-723F01CF93EF}"/>
              </a:ext>
            </a:extLst>
          </p:cNvPr>
          <p:cNvSpPr/>
          <p:nvPr/>
        </p:nvSpPr>
        <p:spPr>
          <a:xfrm>
            <a:off x="762000" y="35560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CB8434-4DD5-EC45-B50F-B09A4BBE1717}"/>
              </a:ext>
            </a:extLst>
          </p:cNvPr>
          <p:cNvSpPr/>
          <p:nvPr/>
        </p:nvSpPr>
        <p:spPr>
          <a:xfrm>
            <a:off x="889000" y="36576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CD6803B-5F1A-1B40-9B19-20E1F7260F42}"/>
              </a:ext>
            </a:extLst>
          </p:cNvPr>
          <p:cNvSpPr txBox="1"/>
          <p:nvPr/>
        </p:nvSpPr>
        <p:spPr>
          <a:xfrm>
            <a:off x="1270000" y="3670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Begrenztes Verständnis komplex generierter SQL-Fragmente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4B78352-4A58-904A-8A88-F9A06C40EFA6}"/>
              </a:ext>
            </a:extLst>
          </p:cNvPr>
          <p:cNvSpPr/>
          <p:nvPr/>
        </p:nvSpPr>
        <p:spPr>
          <a:xfrm>
            <a:off x="6223000" y="3556000"/>
            <a:ext cx="5207000" cy="4572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FFE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7C93E1-53CC-A14E-95DC-6CE3FBE1CC86}"/>
              </a:ext>
            </a:extLst>
          </p:cNvPr>
          <p:cNvSpPr/>
          <p:nvPr/>
        </p:nvSpPr>
        <p:spPr>
          <a:xfrm>
            <a:off x="6350000" y="3657600"/>
            <a:ext cx="254000" cy="254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E37B233-8F32-CD4B-BEBD-04B93A32E8F2}"/>
              </a:ext>
            </a:extLst>
          </p:cNvPr>
          <p:cNvSpPr txBox="1"/>
          <p:nvPr/>
        </p:nvSpPr>
        <p:spPr>
          <a:xfrm>
            <a:off x="6731000" y="3670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False Positives und False Negatives bleiben möglich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FD31DCF-DCEE-EA48-A8B7-AE528156735C}"/>
              </a:ext>
            </a:extLst>
          </p:cNvPr>
          <p:cNvSpPr/>
          <p:nvPr/>
        </p:nvSpPr>
        <p:spPr>
          <a:xfrm>
            <a:off x="762000" y="4419600"/>
            <a:ext cx="10668000" cy="889000"/>
          </a:xfrm>
          <a:prstGeom prst="rect">
            <a:avLst/>
          </a:prstGeom>
          <a:solidFill>
            <a:srgbClr val="F4FA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E05C8C5-ADE3-B448-9111-C50A97BACFA4}"/>
              </a:ext>
            </a:extLst>
          </p:cNvPr>
          <p:cNvSpPr/>
          <p:nvPr/>
        </p:nvSpPr>
        <p:spPr>
          <a:xfrm>
            <a:off x="762000" y="4419600"/>
            <a:ext cx="63500" cy="889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25D236C-4174-D748-B000-0DFBB28CCC34}"/>
              </a:ext>
            </a:extLst>
          </p:cNvPr>
          <p:cNvSpPr txBox="1"/>
          <p:nvPr/>
        </p:nvSpPr>
        <p:spPr>
          <a:xfrm>
            <a:off x="990600" y="4546600"/>
            <a:ext cx="1016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EMPFEHLUNG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B2F7696-398F-4E42-AA90-B6F4171EAC3F}"/>
              </a:ext>
            </a:extLst>
          </p:cNvPr>
          <p:cNvSpPr txBox="1"/>
          <p:nvPr/>
        </p:nvSpPr>
        <p:spPr>
          <a:xfrm>
            <a:off x="990600" y="47752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ACI als ersten, automatisierten Filter in den Entwicklungs- und Freigabeprozess einbinden — die Findings als Ausgangspunkt für gezieltes manuelles Review verwenden.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EF7AC83-F8DC-034C-A072-4992F261F274}"/>
              </a:ext>
            </a:extLst>
          </p:cNvPr>
          <p:cNvSpPr txBox="1"/>
          <p:nvPr/>
        </p:nvSpPr>
        <p:spPr>
          <a:xfrm>
            <a:off x="762000" y="54864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Drei-Säulen-Ansatz für sichere Datenbank-Auslieferung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2572E18-FB48-4944-8248-BD38696C60E0}"/>
              </a:ext>
            </a:extLst>
          </p:cNvPr>
          <p:cNvSpPr/>
          <p:nvPr/>
        </p:nvSpPr>
        <p:spPr>
          <a:xfrm>
            <a:off x="889000" y="5791200"/>
            <a:ext cx="31750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0085287-98C3-2148-899A-1B0C5C0BCEB6}"/>
              </a:ext>
            </a:extLst>
          </p:cNvPr>
          <p:cNvSpPr txBox="1"/>
          <p:nvPr/>
        </p:nvSpPr>
        <p:spPr>
          <a:xfrm>
            <a:off x="1041400" y="58674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ACI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9F58B5D-A906-E84D-9B1B-CAA2E9829216}"/>
              </a:ext>
            </a:extLst>
          </p:cNvPr>
          <p:cNvSpPr txBox="1"/>
          <p:nvPr/>
        </p:nvSpPr>
        <p:spPr>
          <a:xfrm>
            <a:off x="1041400" y="6121400"/>
            <a:ext cx="2870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Automatischer Filter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8396203-91CC-CC46-8747-391A8BEA95F7}"/>
              </a:ext>
            </a:extLst>
          </p:cNvPr>
          <p:cNvSpPr txBox="1"/>
          <p:nvPr/>
        </p:nvSpPr>
        <p:spPr>
          <a:xfrm>
            <a:off x="4114800" y="5969000"/>
            <a:ext cx="3429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0E2841"/>
                </a:solidFill>
              </a:rPr>
              <a:t>+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E9C4622-8393-794D-995A-0FA6E221481F}"/>
              </a:ext>
            </a:extLst>
          </p:cNvPr>
          <p:cNvSpPr/>
          <p:nvPr/>
        </p:nvSpPr>
        <p:spPr>
          <a:xfrm>
            <a:off x="4508500" y="5791200"/>
            <a:ext cx="3175000" cy="635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42E93C1-21BD-F24F-A435-929C010E81C3}"/>
              </a:ext>
            </a:extLst>
          </p:cNvPr>
          <p:cNvSpPr txBox="1"/>
          <p:nvPr/>
        </p:nvSpPr>
        <p:spPr>
          <a:xfrm>
            <a:off x="4660900" y="58674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Manuelles Review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8419F37-23CD-DD4A-B47D-B73EB5326ED6}"/>
              </a:ext>
            </a:extLst>
          </p:cNvPr>
          <p:cNvSpPr txBox="1"/>
          <p:nvPr/>
        </p:nvSpPr>
        <p:spPr>
          <a:xfrm>
            <a:off x="4660900" y="6121400"/>
            <a:ext cx="2870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Tiefe Prüfung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9EB2EEA-ACCB-CA48-BB5E-BF653055A2E3}"/>
              </a:ext>
            </a:extLst>
          </p:cNvPr>
          <p:cNvSpPr txBox="1"/>
          <p:nvPr/>
        </p:nvSpPr>
        <p:spPr>
          <a:xfrm>
            <a:off x="7734300" y="5969000"/>
            <a:ext cx="3429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0E2841"/>
                </a:solidFill>
              </a:rPr>
              <a:t>+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B856B10-FF89-9947-B180-3E27B9F6E532}"/>
              </a:ext>
            </a:extLst>
          </p:cNvPr>
          <p:cNvSpPr/>
          <p:nvPr/>
        </p:nvSpPr>
        <p:spPr>
          <a:xfrm>
            <a:off x="8128000" y="5791200"/>
            <a:ext cx="3175000" cy="635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5DEC0E4-178D-5C42-8987-E7876D905050}"/>
              </a:ext>
            </a:extLst>
          </p:cNvPr>
          <p:cNvSpPr txBox="1"/>
          <p:nvPr/>
        </p:nvSpPr>
        <p:spPr>
          <a:xfrm>
            <a:off x="8280400" y="58674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DB-Härtung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06FF9DB-CD20-FF4B-ADEA-01D437FB9B1B}"/>
              </a:ext>
            </a:extLst>
          </p:cNvPr>
          <p:cNvSpPr txBox="1"/>
          <p:nvPr/>
        </p:nvSpPr>
        <p:spPr>
          <a:xfrm>
            <a:off x="8280400" y="6121400"/>
            <a:ext cx="28702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Laufzeit-Schutz</a:t>
            </a:r>
          </a:p>
        </p:txBody>
      </p:sp>
    </p:spTree>
    <p:extLst>
      <p:ext uri="{BB962C8B-B14F-4D97-AF65-F5344CB8AC3E}">
        <p14:creationId xmlns:p14="http://schemas.microsoft.com/office/powerpoint/2010/main" val="3958314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6558BBC-7586-874B-9271-62513F64097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GRENZEN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EE5FA7C-B0E1-6E44-B17F-A572E33571B8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False Negatives bei dynamischem &amp; generiertem SQL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04FC9D-9ABC-6A4E-8143-09664DB1A8E8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39A678-5BFB-3F46-88BC-7C597048ECDF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sieht nicht, was erst zur Build- oder Laufzeit entsteht. Vier typische Quellen unentdeckter Befunde.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9607317-360C-8248-AFEB-A4CF7CF02E8A}"/>
              </a:ext>
            </a:extLst>
          </p:cNvPr>
          <p:cNvSpPr/>
          <p:nvPr/>
        </p:nvSpPr>
        <p:spPr>
          <a:xfrm>
            <a:off x="762000" y="2006600"/>
            <a:ext cx="5207000" cy="193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228A398-F541-6449-8C20-FA12896AC3D0}"/>
              </a:ext>
            </a:extLst>
          </p:cNvPr>
          <p:cNvSpPr/>
          <p:nvPr/>
        </p:nvSpPr>
        <p:spPr>
          <a:xfrm>
            <a:off x="762000" y="2006600"/>
            <a:ext cx="5207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5AFBEC2-8791-5B4F-AFA7-CF6F62DF51D1}"/>
              </a:ext>
            </a:extLst>
          </p:cNvPr>
          <p:cNvSpPr txBox="1"/>
          <p:nvPr/>
        </p:nvSpPr>
        <p:spPr>
          <a:xfrm>
            <a:off x="965200" y="22098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/>
              <a:t>📄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F5B33D4-F74B-7548-87E7-A98A4DBB2048}"/>
              </a:ext>
            </a:extLst>
          </p:cNvPr>
          <p:cNvSpPr txBox="1"/>
          <p:nvPr/>
        </p:nvSpPr>
        <p:spPr>
          <a:xfrm>
            <a:off x="1524000" y="22352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Cross-File dynamisches SQL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381E41-FA10-C847-96CE-AAC8BA86E64E}"/>
              </a:ext>
            </a:extLst>
          </p:cNvPr>
          <p:cNvSpPr txBox="1"/>
          <p:nvPr/>
        </p:nvSpPr>
        <p:spPr>
          <a:xfrm>
            <a:off x="965200" y="2768600"/>
            <a:ext cx="4800600" cy="1016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Ein SQL-String wird in einer Datei oder Routine zusammengesetzt und in einer anderen ausgeführt. ACIs Datenflussanalyse ist routine-lokal und folgt Aufrufen nicht.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47BE7BD-E990-D346-B89C-ED77598FDBE7}"/>
              </a:ext>
            </a:extLst>
          </p:cNvPr>
          <p:cNvSpPr/>
          <p:nvPr/>
        </p:nvSpPr>
        <p:spPr>
          <a:xfrm>
            <a:off x="6172200" y="2006600"/>
            <a:ext cx="5207000" cy="193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C74537A-239B-3741-AD39-54349B395FFB}"/>
              </a:ext>
            </a:extLst>
          </p:cNvPr>
          <p:cNvSpPr/>
          <p:nvPr/>
        </p:nvSpPr>
        <p:spPr>
          <a:xfrm>
            <a:off x="6172200" y="2006600"/>
            <a:ext cx="5207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99A6715-50C0-404C-A2BA-281E79205443}"/>
              </a:ext>
            </a:extLst>
          </p:cNvPr>
          <p:cNvSpPr txBox="1"/>
          <p:nvPr/>
        </p:nvSpPr>
        <p:spPr>
          <a:xfrm>
            <a:off x="6375400" y="22098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/>
              <a:t>🏗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6FE9E4D-EE62-0744-9665-620A4DD4208E}"/>
              </a:ext>
            </a:extLst>
          </p:cNvPr>
          <p:cNvSpPr txBox="1"/>
          <p:nvPr/>
        </p:nvSpPr>
        <p:spPr>
          <a:xfrm>
            <a:off x="6934200" y="22352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Build-Templates &amp; Code-Generatoren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C0E87B5-EED0-2B4E-A7E9-3D2795797B46}"/>
              </a:ext>
            </a:extLst>
          </p:cNvPr>
          <p:cNvSpPr txBox="1"/>
          <p:nvPr/>
        </p:nvSpPr>
        <p:spPr>
          <a:xfrm>
            <a:off x="6375400" y="2768600"/>
            <a:ext cx="4800600" cy="1016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Wird der SQL-Code erst durch ein Template-/Makro-System, einen Präprozessor oder einen Generator erzeugt, prüft ACI nur die Vorlage, nicht das Ergebnis.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399098A-5BE4-4041-9232-C6AD2F4C94AB}"/>
              </a:ext>
            </a:extLst>
          </p:cNvPr>
          <p:cNvSpPr/>
          <p:nvPr/>
        </p:nvSpPr>
        <p:spPr>
          <a:xfrm>
            <a:off x="762000" y="4140200"/>
            <a:ext cx="5207000" cy="193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B5247B1-4C1C-DA4B-AAC0-BE5B8507CB0E}"/>
              </a:ext>
            </a:extLst>
          </p:cNvPr>
          <p:cNvSpPr/>
          <p:nvPr/>
        </p:nvSpPr>
        <p:spPr>
          <a:xfrm>
            <a:off x="762000" y="4140200"/>
            <a:ext cx="5207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6B83729-D4E8-0A40-B9F8-869558FCF29A}"/>
              </a:ext>
            </a:extLst>
          </p:cNvPr>
          <p:cNvSpPr txBox="1"/>
          <p:nvPr/>
        </p:nvSpPr>
        <p:spPr>
          <a:xfrm>
            <a:off x="965200" y="4343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/>
              <a:t>🔄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FFAB163-2E95-2F44-95DA-FD4913117B4B}"/>
              </a:ext>
            </a:extLst>
          </p:cNvPr>
          <p:cNvSpPr txBox="1"/>
          <p:nvPr/>
        </p:nvSpPr>
        <p:spPr>
          <a:xfrm>
            <a:off x="1524000" y="43688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Migrations-Generatoren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F173136-EC9A-6E42-A6AC-AC51AB5628CE}"/>
              </a:ext>
            </a:extLst>
          </p:cNvPr>
          <p:cNvSpPr txBox="1"/>
          <p:nvPr/>
        </p:nvSpPr>
        <p:spPr>
          <a:xfrm>
            <a:off x="965200" y="4902200"/>
            <a:ext cx="4800600" cy="1016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Werkzeuge, die SQL erst zur Laufzeit aus einem Modell ableiten (ORM-Migrationen, Schema-Diff-Tools), liefern ACI keinen statisch prüfbaren Quelltext.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3F5142E-6715-E444-AB5C-BF936FC5A4BC}"/>
              </a:ext>
            </a:extLst>
          </p:cNvPr>
          <p:cNvSpPr/>
          <p:nvPr/>
        </p:nvSpPr>
        <p:spPr>
          <a:xfrm>
            <a:off x="6172200" y="4140200"/>
            <a:ext cx="5207000" cy="1930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F309A43-C8B1-CF40-837D-F82EBF1D0022}"/>
              </a:ext>
            </a:extLst>
          </p:cNvPr>
          <p:cNvSpPr/>
          <p:nvPr/>
        </p:nvSpPr>
        <p:spPr>
          <a:xfrm>
            <a:off x="6172200" y="4140200"/>
            <a:ext cx="5207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2E48502-9EF5-474A-9734-12B54C3861EC}"/>
              </a:ext>
            </a:extLst>
          </p:cNvPr>
          <p:cNvSpPr txBox="1"/>
          <p:nvPr/>
        </p:nvSpPr>
        <p:spPr>
          <a:xfrm>
            <a:off x="6375400" y="4343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400"/>
              <a:t>📦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4A42835-6C81-1A47-BA98-CAD7EEDC5866}"/>
              </a:ext>
            </a:extLst>
          </p:cNvPr>
          <p:cNvSpPr txBox="1"/>
          <p:nvPr/>
        </p:nvSpPr>
        <p:spPr>
          <a:xfrm>
            <a:off x="6934200" y="4368800"/>
            <a:ext cx="42418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500" b="1">
                <a:solidFill>
                  <a:srgbClr val="0E2841"/>
                </a:solidFill>
              </a:rPr>
              <a:t>Konfigurations- &amp; datengetriebenes SQL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981D290-9905-E84B-A14D-FB54B3FE2278}"/>
              </a:ext>
            </a:extLst>
          </p:cNvPr>
          <p:cNvSpPr txBox="1"/>
          <p:nvPr/>
        </p:nvSpPr>
        <p:spPr>
          <a:xfrm>
            <a:off x="6375400" y="4902200"/>
            <a:ext cx="4800600" cy="1016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SQL-Fragmente aus Konfigurationsdateien, Datenbankinhalten oder externen Eingaben, die erst zur Laufzeit zusammengesetzt werden, liegen außerhalb des analysierten Textes.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F78F3AC-6C11-F944-9764-AE25C72165C1}"/>
              </a:ext>
            </a:extLst>
          </p:cNvPr>
          <p:cNvSpPr/>
          <p:nvPr/>
        </p:nvSpPr>
        <p:spPr>
          <a:xfrm>
            <a:off x="762000" y="6121400"/>
            <a:ext cx="10668000" cy="457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9CE1E00-87EA-2147-9B17-B8A15527E039}"/>
              </a:ext>
            </a:extLst>
          </p:cNvPr>
          <p:cNvSpPr/>
          <p:nvPr/>
        </p:nvSpPr>
        <p:spPr>
          <a:xfrm>
            <a:off x="762000" y="6121400"/>
            <a:ext cx="63500" cy="457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5B93373-6351-454B-BB2E-7FA60EB17DFB}"/>
              </a:ext>
            </a:extLst>
          </p:cNvPr>
          <p:cNvSpPr txBox="1"/>
          <p:nvPr/>
        </p:nvSpPr>
        <p:spPr>
          <a:xfrm>
            <a:off x="1016000" y="6223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FFFFFF"/>
                </a:solidFill>
              </a:rPr>
              <a:t>Mitigation:  Generator-Output selbst durch ACI laufen lassen  ·  Cross-Routine-Befunde durch manuelles Review bestätigen.</a:t>
            </a:r>
          </a:p>
        </p:txBody>
      </p:sp>
    </p:spTree>
    <p:extLst>
      <p:ext uri="{BB962C8B-B14F-4D97-AF65-F5344CB8AC3E}">
        <p14:creationId xmlns:p14="http://schemas.microsoft.com/office/powerpoint/2010/main" val="22776437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45FFD19-09A7-1E4E-B900-0AB7BBF186D4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DESIGNENTSCHEIDUNG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5747A49-EADA-034D-9E52-549A8B274F5E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Warum ACI keinen vollständigen Compiler hat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0CFF76A-0CCB-104C-86FA-758968D22F2D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FA20E72-75B4-9840-AEFF-8CFD262F6C1F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Bewusste Architekturentscheidung — der Aufwand stünde in keinem Verhältnis zum Nutzen.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F6AA8E6-3446-A14A-B872-31CB02CB4B2C}"/>
              </a:ext>
            </a:extLst>
          </p:cNvPr>
          <p:cNvSpPr/>
          <p:nvPr/>
        </p:nvSpPr>
        <p:spPr>
          <a:xfrm>
            <a:off x="762000" y="2057400"/>
            <a:ext cx="10668000" cy="914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B501B6-9343-AB49-8682-0B775C98DDBF}"/>
              </a:ext>
            </a:extLst>
          </p:cNvPr>
          <p:cNvSpPr/>
          <p:nvPr/>
        </p:nvSpPr>
        <p:spPr>
          <a:xfrm>
            <a:off x="762000" y="2057400"/>
            <a:ext cx="76200" cy="914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6F1D169-87E3-664F-BAE4-2E1D7A7A7514}"/>
              </a:ext>
            </a:extLst>
          </p:cNvPr>
          <p:cNvSpPr txBox="1"/>
          <p:nvPr/>
        </p:nvSpPr>
        <p:spPr>
          <a:xfrm>
            <a:off x="1066800" y="22352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KERNAUSSAGE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6D9DCB-71C9-DE4E-B27B-8FE1C6819C56}"/>
              </a:ext>
            </a:extLst>
          </p:cNvPr>
          <p:cNvSpPr txBox="1"/>
          <p:nvPr/>
        </p:nvSpPr>
        <p:spPr>
          <a:xfrm>
            <a:off x="1066800" y="24892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Für reale Datenbankbestände — 99 % DDL (Tabellen, Views, Sequences, Grants), 1 % prozeduraler Code — würde ein vollständiger Compiler die Qualität kaum verbessern.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00FFCBB-04F2-4C49-8539-65C347215C5E}"/>
              </a:ext>
            </a:extLst>
          </p:cNvPr>
          <p:cNvSpPr/>
          <p:nvPr/>
        </p:nvSpPr>
        <p:spPr>
          <a:xfrm>
            <a:off x="762000" y="3200400"/>
            <a:ext cx="5207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56C96D2-DA96-684F-A4FC-D960E5B83470}"/>
              </a:ext>
            </a:extLst>
          </p:cNvPr>
          <p:cNvSpPr/>
          <p:nvPr/>
        </p:nvSpPr>
        <p:spPr>
          <a:xfrm>
            <a:off x="762000" y="3200400"/>
            <a:ext cx="5207000" cy="508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BBCA66B-8566-5D42-9736-01C84E518639}"/>
              </a:ext>
            </a:extLst>
          </p:cNvPr>
          <p:cNvSpPr txBox="1"/>
          <p:nvPr/>
        </p:nvSpPr>
        <p:spPr>
          <a:xfrm>
            <a:off x="965200" y="34036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A02B93"/>
                </a:solidFill>
              </a:rPr>
              <a:t>PROZEDURALER CODE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D8F002-1225-8145-9CEC-4CFCB20B9841}"/>
              </a:ext>
            </a:extLst>
          </p:cNvPr>
          <p:cNvSpPr txBox="1"/>
          <p:nvPr/>
        </p:nvSpPr>
        <p:spPr>
          <a:xfrm>
            <a:off x="4826000" y="3352800"/>
            <a:ext cx="1016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A02B93"/>
                </a:solidFill>
              </a:rPr>
              <a:t>~1 %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05B6774-C73D-2046-A20C-77B61976FF29}"/>
              </a:ext>
            </a:extLst>
          </p:cNvPr>
          <p:cNvSpPr txBox="1"/>
          <p:nvPr/>
        </p:nvSpPr>
        <p:spPr>
          <a:xfrm>
            <a:off x="965200" y="3708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Hier braucht es echte Tiefe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3F2DB9-AA63-8348-8635-A8520A336DCF}"/>
              </a:ext>
            </a:extLst>
          </p:cNvPr>
          <p:cNvSpPr/>
          <p:nvPr/>
        </p:nvSpPr>
        <p:spPr>
          <a:xfrm>
            <a:off x="965200" y="4140200"/>
            <a:ext cx="76200" cy="76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5EC6E01-6FCF-704F-B2F6-6F75375FCD40}"/>
              </a:ext>
            </a:extLst>
          </p:cNvPr>
          <p:cNvSpPr txBox="1"/>
          <p:nvPr/>
        </p:nvSpPr>
        <p:spPr>
          <a:xfrm>
            <a:off x="11430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Datenfluss &amp; Kontrollfluss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2EAAE7-6354-2F49-B28A-236DB5131C1F}"/>
              </a:ext>
            </a:extLst>
          </p:cNvPr>
          <p:cNvSpPr/>
          <p:nvPr/>
        </p:nvSpPr>
        <p:spPr>
          <a:xfrm>
            <a:off x="965200" y="4546600"/>
            <a:ext cx="76200" cy="76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382CA58-BBB5-8742-9D33-BD2B432750B5}"/>
              </a:ext>
            </a:extLst>
          </p:cNvPr>
          <p:cNvSpPr txBox="1"/>
          <p:nvPr/>
        </p:nvSpPr>
        <p:spPr>
          <a:xfrm>
            <a:off x="1143000" y="4457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Sichtbarkeitsbereiche, Typauflösung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6F43F8-AAF3-7E45-9B82-CE3DB82C8CC6}"/>
              </a:ext>
            </a:extLst>
          </p:cNvPr>
          <p:cNvSpPr/>
          <p:nvPr/>
        </p:nvSpPr>
        <p:spPr>
          <a:xfrm>
            <a:off x="965200" y="4953000"/>
            <a:ext cx="76200" cy="76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AAAD5A7-A968-CF47-A92D-390074B02617}"/>
              </a:ext>
            </a:extLst>
          </p:cNvPr>
          <p:cNvSpPr txBox="1"/>
          <p:nvPr/>
        </p:nvSpPr>
        <p:spPr>
          <a:xfrm>
            <a:off x="1143000" y="4864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Ausdrucksauswertung über Routinegrenzen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7693A1-397F-1E4B-8041-47205B17ECCB}"/>
              </a:ext>
            </a:extLst>
          </p:cNvPr>
          <p:cNvSpPr/>
          <p:nvPr/>
        </p:nvSpPr>
        <p:spPr>
          <a:xfrm>
            <a:off x="965200" y="5359400"/>
            <a:ext cx="76200" cy="76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5E06E81-0E81-3543-B9CC-527DE06941CE}"/>
              </a:ext>
            </a:extLst>
          </p:cNvPr>
          <p:cNvSpPr txBox="1"/>
          <p:nvPr/>
        </p:nvSpPr>
        <p:spPr>
          <a:xfrm>
            <a:off x="1143000" y="5270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Dynamisches SQL, Taint-Quellen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F05A167-91A2-744A-8670-F4BE71E5F72A}"/>
              </a:ext>
            </a:extLst>
          </p:cNvPr>
          <p:cNvSpPr txBox="1"/>
          <p:nvPr/>
        </p:nvSpPr>
        <p:spPr>
          <a:xfrm>
            <a:off x="965200" y="5715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→ ACIs IR-, Taint- und SQLI-Maschinerie bedient genau diese Fälle.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077EB2F-8F9E-0A48-BD31-CC0354F991CC}"/>
              </a:ext>
            </a:extLst>
          </p:cNvPr>
          <p:cNvSpPr/>
          <p:nvPr/>
        </p:nvSpPr>
        <p:spPr>
          <a:xfrm>
            <a:off x="6223000" y="3200400"/>
            <a:ext cx="5207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5011C01-9EF0-9146-8837-4926C3A92C08}"/>
              </a:ext>
            </a:extLst>
          </p:cNvPr>
          <p:cNvSpPr/>
          <p:nvPr/>
        </p:nvSpPr>
        <p:spPr>
          <a:xfrm>
            <a:off x="6223000" y="3200400"/>
            <a:ext cx="52070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9E3DF32-2FB4-F749-8E56-9B05486006C0}"/>
              </a:ext>
            </a:extLst>
          </p:cNvPr>
          <p:cNvSpPr txBox="1"/>
          <p:nvPr/>
        </p:nvSpPr>
        <p:spPr>
          <a:xfrm>
            <a:off x="6426200" y="3403600"/>
            <a:ext cx="3556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DDL (TABELLEN, VIEWS, GRANTS)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993BDD1-13F0-B34F-88FB-47C6C2DDD4C5}"/>
              </a:ext>
            </a:extLst>
          </p:cNvPr>
          <p:cNvSpPr txBox="1"/>
          <p:nvPr/>
        </p:nvSpPr>
        <p:spPr>
          <a:xfrm>
            <a:off x="10287000" y="3352800"/>
            <a:ext cx="1016000" cy="38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2200" b="1">
                <a:solidFill>
                  <a:srgbClr val="196B24"/>
                </a:solidFill>
              </a:rPr>
              <a:t>~99 %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0DFA3BB-25D3-D04E-B05C-093C3B7779B0}"/>
              </a:ext>
            </a:extLst>
          </p:cNvPr>
          <p:cNvSpPr txBox="1"/>
          <p:nvPr/>
        </p:nvSpPr>
        <p:spPr>
          <a:xfrm>
            <a:off x="6426200" y="3708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2841"/>
                </a:solidFill>
              </a:rPr>
              <a:t>Hier reichen Lexer + Regeln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D03A6D0-AD20-E647-AA73-31EFE06BA920}"/>
              </a:ext>
            </a:extLst>
          </p:cNvPr>
          <p:cNvSpPr/>
          <p:nvPr/>
        </p:nvSpPr>
        <p:spPr>
          <a:xfrm>
            <a:off x="6426200" y="41402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E30488A-1132-B54C-A32F-A12ABD493747}"/>
              </a:ext>
            </a:extLst>
          </p:cNvPr>
          <p:cNvSpPr txBox="1"/>
          <p:nvPr/>
        </p:nvSpPr>
        <p:spPr>
          <a:xfrm>
            <a:off x="66040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Deklarative Einzelanweisungen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5910FC-E765-C445-822F-A4FAEA6D58A4}"/>
              </a:ext>
            </a:extLst>
          </p:cNvPr>
          <p:cNvSpPr/>
          <p:nvPr/>
        </p:nvSpPr>
        <p:spPr>
          <a:xfrm>
            <a:off x="6426200" y="45466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6E05208-E42D-7344-9D31-6CDF2265ED56}"/>
              </a:ext>
            </a:extLst>
          </p:cNvPr>
          <p:cNvSpPr txBox="1"/>
          <p:nvPr/>
        </p:nvSpPr>
        <p:spPr>
          <a:xfrm>
            <a:off x="6604000" y="4457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Kein Datenfluss, kein Kontrollfluss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DF88A4-8619-3C40-BCC6-A7F255C1C9CC}"/>
              </a:ext>
            </a:extLst>
          </p:cNvPr>
          <p:cNvSpPr/>
          <p:nvPr/>
        </p:nvSpPr>
        <p:spPr>
          <a:xfrm>
            <a:off x="6426200" y="49530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859A536-9A00-FC44-AD72-CB39F4A92964}"/>
              </a:ext>
            </a:extLst>
          </p:cNvPr>
          <p:cNvSpPr txBox="1"/>
          <p:nvPr/>
        </p:nvSpPr>
        <p:spPr>
          <a:xfrm>
            <a:off x="6604000" y="4864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Statement-Abgrenzung + Mustererkennung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A1BB8C-C9F5-9D4E-BD85-A09A9CD84957}"/>
              </a:ext>
            </a:extLst>
          </p:cNvPr>
          <p:cNvSpPr/>
          <p:nvPr/>
        </p:nvSpPr>
        <p:spPr>
          <a:xfrm>
            <a:off x="6426200" y="53594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DE617EF-0699-244A-80CB-90D180FA4BA7}"/>
              </a:ext>
            </a:extLst>
          </p:cNvPr>
          <p:cNvSpPr txBox="1"/>
          <p:nvPr/>
        </p:nvSpPr>
        <p:spPr>
          <a:xfrm>
            <a:off x="6604000" y="5270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Qualität skaliert mit Regelbreite, nicht Parser-Tiefe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67DC43E2-8EC9-124F-87B3-B103D86551FC}"/>
              </a:ext>
            </a:extLst>
          </p:cNvPr>
          <p:cNvSpPr txBox="1"/>
          <p:nvPr/>
        </p:nvSpPr>
        <p:spPr>
          <a:xfrm>
            <a:off x="6426200" y="5715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→ ACI hat heute beides: korrekte Statement-Grenzen und gute Regeln.</a:t>
            </a:r>
          </a:p>
        </p:txBody>
      </p:sp>
    </p:spTree>
    <p:extLst>
      <p:ext uri="{BB962C8B-B14F-4D97-AF65-F5344CB8AC3E}">
        <p14:creationId xmlns:p14="http://schemas.microsoft.com/office/powerpoint/2010/main" val="6323725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410D966-81F6-1146-B230-3108D0148D3F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ANALYSE-TIEFE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B739B6F-62DA-7149-BA8F-5B51627BBB0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Drei Stufen, nicht zwei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1552C6E-D921-F146-BAC2-7726B70B418F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363896E-1125-D94B-A721-709B264BA314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Sauber getrennt: Es gibt nicht nur Parser ja/nein, sondern drei deutlich unterschiedliche Investitionsstufen.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4520707-C042-B74F-81CC-53D9DFA42C81}"/>
              </a:ext>
            </a:extLst>
          </p:cNvPr>
          <p:cNvSpPr/>
          <p:nvPr/>
        </p:nvSpPr>
        <p:spPr>
          <a:xfrm>
            <a:off x="762000" y="2057400"/>
            <a:ext cx="3556000" cy="4216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67EF865-DDF7-8746-9435-D219CF1C3E8B}"/>
              </a:ext>
            </a:extLst>
          </p:cNvPr>
          <p:cNvSpPr/>
          <p:nvPr/>
        </p:nvSpPr>
        <p:spPr>
          <a:xfrm>
            <a:off x="762000" y="2057400"/>
            <a:ext cx="63500" cy="4216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5412B3-3FD6-6E40-866B-E9EAA05BB170}"/>
              </a:ext>
            </a:extLst>
          </p:cNvPr>
          <p:cNvSpPr/>
          <p:nvPr/>
        </p:nvSpPr>
        <p:spPr>
          <a:xfrm>
            <a:off x="3606800" y="2260600"/>
            <a:ext cx="508000" cy="5080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234B5DE-D89D-ED4E-8AEF-AFEB95704E72}"/>
              </a:ext>
            </a:extLst>
          </p:cNvPr>
          <p:cNvSpPr/>
          <p:nvPr/>
        </p:nvSpPr>
        <p:spPr>
          <a:xfrm>
            <a:off x="990600" y="2336800"/>
            <a:ext cx="1651000" cy="2286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HEUTE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F572A9-2263-4B48-9138-45F9DD629241}"/>
              </a:ext>
            </a:extLst>
          </p:cNvPr>
          <p:cNvSpPr txBox="1"/>
          <p:nvPr/>
        </p:nvSpPr>
        <p:spPr>
          <a:xfrm>
            <a:off x="990600" y="276860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Lexer + Regeln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FDF8D62-B124-EA4D-AA7A-96ACA911E82E}"/>
              </a:ext>
            </a:extLst>
          </p:cNvPr>
          <p:cNvSpPr txBox="1"/>
          <p:nvPr/>
        </p:nvSpPr>
        <p:spPr>
          <a:xfrm>
            <a:off x="990600" y="30734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Aktueller ACI-Stand für DDL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A65C16B-E642-434E-9D75-590A6508933B}"/>
              </a:ext>
            </a:extLst>
          </p:cNvPr>
          <p:cNvSpPr/>
          <p:nvPr/>
        </p:nvSpPr>
        <p:spPr>
          <a:xfrm>
            <a:off x="990600" y="3429000"/>
            <a:ext cx="457200" cy="25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934CE0-950F-2D43-A697-CEEA1197E100}"/>
              </a:ext>
            </a:extLst>
          </p:cNvPr>
          <p:cNvSpPr/>
          <p:nvPr/>
        </p:nvSpPr>
        <p:spPr>
          <a:xfrm>
            <a:off x="990600" y="37084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D9F7B56-D090-8046-A97A-C45C09DE0460}"/>
              </a:ext>
            </a:extLst>
          </p:cNvPr>
          <p:cNvSpPr txBox="1"/>
          <p:nvPr/>
        </p:nvSpPr>
        <p:spPr>
          <a:xfrm>
            <a:off x="1168400" y="3632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Erkennt Schlüsselworte und Statement-Grenzen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436B36-67D6-8E40-94EC-9A61BA42F432}"/>
              </a:ext>
            </a:extLst>
          </p:cNvPr>
          <p:cNvSpPr/>
          <p:nvPr/>
        </p:nvSpPr>
        <p:spPr>
          <a:xfrm>
            <a:off x="990600" y="44196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1694AAD-1C1B-204F-AC85-B495795E6991}"/>
              </a:ext>
            </a:extLst>
          </p:cNvPr>
          <p:cNvSpPr txBox="1"/>
          <p:nvPr/>
        </p:nvSpPr>
        <p:spPr>
          <a:xfrm>
            <a:off x="1168400" y="4343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Mustererkennung über JSON-Regeln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0311B1-AF6E-BC42-8119-06C396A9F52C}"/>
              </a:ext>
            </a:extLst>
          </p:cNvPr>
          <p:cNvSpPr/>
          <p:nvPr/>
        </p:nvSpPr>
        <p:spPr>
          <a:xfrm>
            <a:off x="990600" y="5130800"/>
            <a:ext cx="76200" cy="76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1CE974D-3503-0045-B58A-4FCC05A8F60F}"/>
              </a:ext>
            </a:extLst>
          </p:cNvPr>
          <p:cNvSpPr txBox="1"/>
          <p:nvPr/>
        </p:nvSpPr>
        <p:spPr>
          <a:xfrm>
            <a:off x="1168400" y="50546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Reicht für CREATE TABLE/VIEW/SEQUENCE und GRANT in den allermeisten Fällen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2E5F0FD-6F89-A84B-AC6C-447D71D7D1EC}"/>
              </a:ext>
            </a:extLst>
          </p:cNvPr>
          <p:cNvSpPr/>
          <p:nvPr/>
        </p:nvSpPr>
        <p:spPr>
          <a:xfrm>
            <a:off x="762000" y="5867400"/>
            <a:ext cx="3556000" cy="406400"/>
          </a:xfrm>
          <a:prstGeom prst="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33A3DC2-BACF-1545-ADB0-943F0B3820E8}"/>
              </a:ext>
            </a:extLst>
          </p:cNvPr>
          <p:cNvSpPr txBox="1"/>
          <p:nvPr/>
        </p:nvSpPr>
        <p:spPr>
          <a:xfrm>
            <a:off x="990600" y="5956300"/>
            <a:ext cx="30988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444444"/>
                </a:solidFill>
              </a:rPr>
              <a:t>Aufwand: gering · Inkrementell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238D262-132F-6847-B448-397336024191}"/>
              </a:ext>
            </a:extLst>
          </p:cNvPr>
          <p:cNvSpPr/>
          <p:nvPr/>
        </p:nvSpPr>
        <p:spPr>
          <a:xfrm>
            <a:off x="4445000" y="2057400"/>
            <a:ext cx="3556000" cy="4216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6829B5D-07CC-894A-8CFA-40A43DA17F93}"/>
              </a:ext>
            </a:extLst>
          </p:cNvPr>
          <p:cNvSpPr/>
          <p:nvPr/>
        </p:nvSpPr>
        <p:spPr>
          <a:xfrm>
            <a:off x="4445000" y="2057400"/>
            <a:ext cx="63500" cy="4216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16C20A-354C-E147-A9E8-539DEE9C097D}"/>
              </a:ext>
            </a:extLst>
          </p:cNvPr>
          <p:cNvSpPr/>
          <p:nvPr/>
        </p:nvSpPr>
        <p:spPr>
          <a:xfrm>
            <a:off x="7289800" y="2260600"/>
            <a:ext cx="508000" cy="508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99F4A83-5B8D-E24B-9486-38AD035E803C}"/>
              </a:ext>
            </a:extLst>
          </p:cNvPr>
          <p:cNvSpPr/>
          <p:nvPr/>
        </p:nvSpPr>
        <p:spPr>
          <a:xfrm>
            <a:off x="4673600" y="2336800"/>
            <a:ext cx="1651000" cy="228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F11B2C2-FCE3-024B-90D0-935D2471A611}"/>
              </a:ext>
            </a:extLst>
          </p:cNvPr>
          <p:cNvSpPr txBox="1"/>
          <p:nvPr/>
        </p:nvSpPr>
        <p:spPr>
          <a:xfrm>
            <a:off x="4673600" y="276860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Echte Grammatik / AST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DB63C54-69F0-BB4D-8912-D8BF763F7008}"/>
              </a:ext>
            </a:extLst>
          </p:cNvPr>
          <p:cNvSpPr txBox="1"/>
          <p:nvPr/>
        </p:nvSpPr>
        <p:spPr>
          <a:xfrm>
            <a:off x="4673600" y="30734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Strukturierte Sicht — kein Compiler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28BDC88-94FB-A549-844A-4760F12CE9E2}"/>
              </a:ext>
            </a:extLst>
          </p:cNvPr>
          <p:cNvSpPr/>
          <p:nvPr/>
        </p:nvSpPr>
        <p:spPr>
          <a:xfrm>
            <a:off x="4673600" y="3429000"/>
            <a:ext cx="457200" cy="25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6676C61-9747-914A-83E9-879796805A50}"/>
              </a:ext>
            </a:extLst>
          </p:cNvPr>
          <p:cNvSpPr/>
          <p:nvPr/>
        </p:nvSpPr>
        <p:spPr>
          <a:xfrm>
            <a:off x="4673600" y="3708400"/>
            <a:ext cx="76200" cy="762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7D62447-F4D9-A74A-92CF-1FF0572C69E0}"/>
              </a:ext>
            </a:extLst>
          </p:cNvPr>
          <p:cNvSpPr txBox="1"/>
          <p:nvPr/>
        </p:nvSpPr>
        <p:spPr>
          <a:xfrm>
            <a:off x="4851400" y="3632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Beseitigt die letzten Statement-Abgrenzungs-Kanten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14B835-94C8-3847-A962-AC824DA20BAD}"/>
              </a:ext>
            </a:extLst>
          </p:cNvPr>
          <p:cNvSpPr/>
          <p:nvPr/>
        </p:nvSpPr>
        <p:spPr>
          <a:xfrm>
            <a:off x="4673600" y="4419600"/>
            <a:ext cx="76200" cy="762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7781932-4813-B94C-92C5-69212759347B}"/>
              </a:ext>
            </a:extLst>
          </p:cNvPr>
          <p:cNvSpPr txBox="1"/>
          <p:nvPr/>
        </p:nvSpPr>
        <p:spPr>
          <a:xfrm>
            <a:off x="4851400" y="4343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Für komplexe DDL: verschachtelte Constraints, Partitionierung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AD4570B-2DCD-B249-AEF5-7175107B88E5}"/>
              </a:ext>
            </a:extLst>
          </p:cNvPr>
          <p:cNvSpPr/>
          <p:nvPr/>
        </p:nvSpPr>
        <p:spPr>
          <a:xfrm>
            <a:off x="4673600" y="5130800"/>
            <a:ext cx="76200" cy="762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33D814F-AD8D-D145-AAB7-9BAC68C28CBA}"/>
              </a:ext>
            </a:extLst>
          </p:cNvPr>
          <p:cNvSpPr txBox="1"/>
          <p:nvPr/>
        </p:nvSpPr>
        <p:spPr>
          <a:xfrm>
            <a:off x="4851400" y="50546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Für PL/SQL: würde FP/FN bei SQLi und dynamischem SQL reduzieren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B8AE53B-9B2E-8F4E-8ECC-7CB4B10FF606}"/>
              </a:ext>
            </a:extLst>
          </p:cNvPr>
          <p:cNvSpPr/>
          <p:nvPr/>
        </p:nvSpPr>
        <p:spPr>
          <a:xfrm>
            <a:off x="4445000" y="5867400"/>
            <a:ext cx="3556000" cy="406400"/>
          </a:xfrm>
          <a:prstGeom prst="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D85D6EF-6A7C-4C41-86EC-FEBF569EDBA3}"/>
              </a:ext>
            </a:extLst>
          </p:cNvPr>
          <p:cNvSpPr txBox="1"/>
          <p:nvPr/>
        </p:nvSpPr>
        <p:spPr>
          <a:xfrm>
            <a:off x="4673600" y="5956300"/>
            <a:ext cx="30988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444444"/>
                </a:solidFill>
              </a:rPr>
              <a:t>Aufwand: hoch · Bricht Null-Abhängigkeit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9BF85B5-F666-A64B-ABE2-21E124C953CF}"/>
              </a:ext>
            </a:extLst>
          </p:cNvPr>
          <p:cNvSpPr/>
          <p:nvPr/>
        </p:nvSpPr>
        <p:spPr>
          <a:xfrm>
            <a:off x="8128000" y="2057400"/>
            <a:ext cx="3556000" cy="4216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B8D2A3C-7CC9-9145-B553-202573B689D0}"/>
              </a:ext>
            </a:extLst>
          </p:cNvPr>
          <p:cNvSpPr/>
          <p:nvPr/>
        </p:nvSpPr>
        <p:spPr>
          <a:xfrm>
            <a:off x="8128000" y="2057400"/>
            <a:ext cx="63500" cy="4216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522199D-77DF-0542-9D00-E4C2389CC82C}"/>
              </a:ext>
            </a:extLst>
          </p:cNvPr>
          <p:cNvSpPr/>
          <p:nvPr/>
        </p:nvSpPr>
        <p:spPr>
          <a:xfrm>
            <a:off x="10972800" y="2260600"/>
            <a:ext cx="508000" cy="5080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B14ECD4-4B8E-3944-BB38-5C8A36407766}"/>
              </a:ext>
            </a:extLst>
          </p:cNvPr>
          <p:cNvSpPr/>
          <p:nvPr/>
        </p:nvSpPr>
        <p:spPr>
          <a:xfrm>
            <a:off x="8356600" y="2336800"/>
            <a:ext cx="1651000" cy="2286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900" b="1">
                <a:solidFill>
                  <a:srgbClr val="FFFFFF"/>
                </a:solidFill>
              </a:rPr>
              <a:t>NICHT ZIELFÜHREND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4F9E9DA-7ACF-2E4C-904D-2CA33B83162F}"/>
              </a:ext>
            </a:extLst>
          </p:cNvPr>
          <p:cNvSpPr txBox="1"/>
          <p:nvPr/>
        </p:nvSpPr>
        <p:spPr>
          <a:xfrm>
            <a:off x="8356600" y="276860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700" b="1">
                <a:solidFill>
                  <a:srgbClr val="0E2841"/>
                </a:solidFill>
              </a:rPr>
              <a:t>Vollständiger Compiler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7B93CB0-78BD-4D45-9AEF-F84052400C82}"/>
              </a:ext>
            </a:extLst>
          </p:cNvPr>
          <p:cNvSpPr txBox="1"/>
          <p:nvPr/>
        </p:nvSpPr>
        <p:spPr>
          <a:xfrm>
            <a:off x="8356600" y="30734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666666"/>
                </a:solidFill>
              </a:rPr>
              <a:t>Semantik &amp; Symbolauflösung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4C64180-6004-CD4F-A721-35F01CA7A729}"/>
              </a:ext>
            </a:extLst>
          </p:cNvPr>
          <p:cNvSpPr/>
          <p:nvPr/>
        </p:nvSpPr>
        <p:spPr>
          <a:xfrm>
            <a:off x="8356600" y="3429000"/>
            <a:ext cx="457200" cy="25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03F68FF-4966-4348-B9BE-D650F92B8E5C}"/>
              </a:ext>
            </a:extLst>
          </p:cNvPr>
          <p:cNvSpPr/>
          <p:nvPr/>
        </p:nvSpPr>
        <p:spPr>
          <a:xfrm>
            <a:off x="8356600" y="3708400"/>
            <a:ext cx="76200" cy="762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5C6E561-5807-0B44-9673-08C0248D47C4}"/>
              </a:ext>
            </a:extLst>
          </p:cNvPr>
          <p:cNvSpPr txBox="1"/>
          <p:nvPr/>
        </p:nvSpPr>
        <p:spPr>
          <a:xfrm>
            <a:off x="8534400" y="3632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Beantwortet: existiert diese Spalte, stimmt der Typ?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B3DE3B-518C-A246-89F2-FCD8357A1402}"/>
              </a:ext>
            </a:extLst>
          </p:cNvPr>
          <p:cNvSpPr/>
          <p:nvPr/>
        </p:nvSpPr>
        <p:spPr>
          <a:xfrm>
            <a:off x="8356600" y="4419600"/>
            <a:ext cx="76200" cy="762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D9E4F39-4639-F44A-AED2-14A0AE327415}"/>
              </a:ext>
            </a:extLst>
          </p:cNvPr>
          <p:cNvSpPr txBox="1"/>
          <p:nvPr/>
        </p:nvSpPr>
        <p:spPr>
          <a:xfrm>
            <a:off x="8534400" y="4343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Funktioniert offline nicht — braucht den DB-Katalog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8C48399-4301-C74F-9AE2-C90CDEB260C1}"/>
              </a:ext>
            </a:extLst>
          </p:cNvPr>
          <p:cNvSpPr/>
          <p:nvPr/>
        </p:nvSpPr>
        <p:spPr>
          <a:xfrm>
            <a:off x="8356600" y="5130800"/>
            <a:ext cx="76200" cy="76200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E48BF7A-6784-C541-B8F6-342F39E4EF82}"/>
              </a:ext>
            </a:extLst>
          </p:cNvPr>
          <p:cNvSpPr txBox="1"/>
          <p:nvPr/>
        </p:nvSpPr>
        <p:spPr>
          <a:xfrm>
            <a:off x="8534400" y="50546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ACI ist bewusst statisch und DB-los: Semantik ohne Schema bringt der Compiler nicht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DEA2D08-001C-3246-A350-C5415E169289}"/>
              </a:ext>
            </a:extLst>
          </p:cNvPr>
          <p:cNvSpPr/>
          <p:nvPr/>
        </p:nvSpPr>
        <p:spPr>
          <a:xfrm>
            <a:off x="8128000" y="5867400"/>
            <a:ext cx="3556000" cy="406400"/>
          </a:xfrm>
          <a:prstGeom prst="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920ADE8-7353-5246-8C59-922B3FC90088}"/>
              </a:ext>
            </a:extLst>
          </p:cNvPr>
          <p:cNvSpPr txBox="1"/>
          <p:nvPr/>
        </p:nvSpPr>
        <p:spPr>
          <a:xfrm>
            <a:off x="8356600" y="5956300"/>
            <a:ext cx="30988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444444"/>
                </a:solidFill>
              </a:rPr>
              <a:t>Aufwand: prohibitiv · Architekturbruch</a:t>
            </a:r>
          </a:p>
        </p:txBody>
      </p:sp>
    </p:spTree>
    <p:extLst>
      <p:ext uri="{BB962C8B-B14F-4D97-AF65-F5344CB8AC3E}">
        <p14:creationId xmlns:p14="http://schemas.microsoft.com/office/powerpoint/2010/main" val="12007728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A49B557-ADA6-3543-A16B-9193ADE7B65C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EMPFEHLUNG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B324C23-B680-A24F-9063-7B704151BA8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Der Hebel liegt im DDL-Regelsatz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F287D41-7C03-8143-98F7-7DB41B04AB93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73D42D7-7ACA-974E-AF12-C7A1E1958052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Qualität bei DDL-lastigen Beständen kommt aus Regelbreite — nicht aus Parser-Tiefe.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68AE71D-507A-264D-91F2-D0B29DE88D02}"/>
              </a:ext>
            </a:extLst>
          </p:cNvPr>
          <p:cNvSpPr/>
          <p:nvPr/>
        </p:nvSpPr>
        <p:spPr>
          <a:xfrm>
            <a:off x="762000" y="2057400"/>
            <a:ext cx="7112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CD734B-675B-B947-A7CB-04B7EB2B8360}"/>
              </a:ext>
            </a:extLst>
          </p:cNvPr>
          <p:cNvSpPr/>
          <p:nvPr/>
        </p:nvSpPr>
        <p:spPr>
          <a:xfrm>
            <a:off x="762000" y="2057400"/>
            <a:ext cx="7112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D40716-7E41-2D47-B6D4-30665CF6D1E1}"/>
              </a:ext>
            </a:extLst>
          </p:cNvPr>
          <p:cNvSpPr txBox="1"/>
          <p:nvPr/>
        </p:nvSpPr>
        <p:spPr>
          <a:xfrm>
            <a:off x="965200" y="22606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56082"/>
                </a:solidFill>
              </a:rPr>
              <a:t>WAS DIE 99 % QUALITÄT WIRKLICH BRINGT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08402DC-FD53-6B41-9CA7-E009C6894964}"/>
              </a:ext>
            </a:extLst>
          </p:cNvPr>
          <p:cNvSpPr txBox="1"/>
          <p:nvPr/>
        </p:nvSpPr>
        <p:spPr>
          <a:xfrm>
            <a:off x="965200" y="2514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0E2841"/>
                </a:solidFill>
              </a:rPr>
              <a:t>Tiefe des DDL-Regelsatzes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738A5F-906C-AE44-BAB5-4EFE00A9C136}"/>
              </a:ext>
            </a:extLst>
          </p:cNvPr>
          <p:cNvSpPr/>
          <p:nvPr/>
        </p:nvSpPr>
        <p:spPr>
          <a:xfrm>
            <a:off x="965200" y="3073400"/>
            <a:ext cx="76200" cy="76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7D07FED-FC2A-3545-9F46-6C7E1D5FEBB7}"/>
              </a:ext>
            </a:extLst>
          </p:cNvPr>
          <p:cNvSpPr txBox="1"/>
          <p:nvPr/>
        </p:nvSpPr>
        <p:spPr>
          <a:xfrm>
            <a:off x="1143000" y="29718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Riskante Grants und PUBLIC-Synonyme/-Privilegien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7C654F-2B9E-2C4C-83BC-E1397DC87DDF}"/>
              </a:ext>
            </a:extLst>
          </p:cNvPr>
          <p:cNvSpPr/>
          <p:nvPr/>
        </p:nvSpPr>
        <p:spPr>
          <a:xfrm>
            <a:off x="965200" y="3403600"/>
            <a:ext cx="76200" cy="76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551AFB8-A1E0-B640-9D35-4113068E92EC}"/>
              </a:ext>
            </a:extLst>
          </p:cNvPr>
          <p:cNvSpPr txBox="1"/>
          <p:nvPr/>
        </p:nvSpPr>
        <p:spPr>
          <a:xfrm>
            <a:off x="1143000" y="33020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Fehlende Constraints, gefährliche Defaults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F5B8FA6-B8F3-934A-846A-93370D3FD8C6}"/>
              </a:ext>
            </a:extLst>
          </p:cNvPr>
          <p:cNvSpPr/>
          <p:nvPr/>
        </p:nvSpPr>
        <p:spPr>
          <a:xfrm>
            <a:off x="965200" y="3733800"/>
            <a:ext cx="76200" cy="76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28A44E5-44C0-0646-A82C-331E5835B189}"/>
              </a:ext>
            </a:extLst>
          </p:cNvPr>
          <p:cNvSpPr txBox="1"/>
          <p:nvPr/>
        </p:nvSpPr>
        <p:spPr>
          <a:xfrm>
            <a:off x="1143000" y="36322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Tablespace-/Verschlüsselungs-Policy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459AC8-1B03-414D-AD2E-3153AAAA903B}"/>
              </a:ext>
            </a:extLst>
          </p:cNvPr>
          <p:cNvSpPr/>
          <p:nvPr/>
        </p:nvSpPr>
        <p:spPr>
          <a:xfrm>
            <a:off x="965200" y="4064000"/>
            <a:ext cx="76200" cy="76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3026A5-701F-7449-9CC4-0896657A4D66}"/>
              </a:ext>
            </a:extLst>
          </p:cNvPr>
          <p:cNvSpPr txBox="1"/>
          <p:nvPr/>
        </p:nvSpPr>
        <p:spPr>
          <a:xfrm>
            <a:off x="1143000" y="39624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WITH CHECK OPTION bei Views, Sequence-Rechte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B3FB6F-E842-154E-8604-DA8E18F816F9}"/>
              </a:ext>
            </a:extLst>
          </p:cNvPr>
          <p:cNvSpPr/>
          <p:nvPr/>
        </p:nvSpPr>
        <p:spPr>
          <a:xfrm>
            <a:off x="965200" y="4394200"/>
            <a:ext cx="76200" cy="76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44BCF7-3C59-264A-9A01-CDCF7A53FBAA}"/>
              </a:ext>
            </a:extLst>
          </p:cNvPr>
          <p:cNvSpPr txBox="1"/>
          <p:nvPr/>
        </p:nvSpPr>
        <p:spPr>
          <a:xfrm>
            <a:off x="1143000" y="42926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>
                <a:solidFill>
                  <a:srgbClr val="1A1A1A"/>
                </a:solidFill>
              </a:rPr>
              <a:t>ALTER-Operationen und Privilegienänderungen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3E30CD5-8BC2-474F-9D3A-B064FF25242C}"/>
              </a:ext>
            </a:extLst>
          </p:cNvPr>
          <p:cNvSpPr/>
          <p:nvPr/>
        </p:nvSpPr>
        <p:spPr>
          <a:xfrm>
            <a:off x="8128000" y="2057400"/>
            <a:ext cx="3302000" cy="2921000"/>
          </a:xfrm>
          <a:prstGeom prst="rect">
            <a:avLst/>
          </a:prstGeom>
          <a:solidFill>
            <a:srgbClr val="FFFAF6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E317DCA-4932-F840-89A9-7A45151E6B43}"/>
              </a:ext>
            </a:extLst>
          </p:cNvPr>
          <p:cNvSpPr/>
          <p:nvPr/>
        </p:nvSpPr>
        <p:spPr>
          <a:xfrm>
            <a:off x="8128000" y="2057400"/>
            <a:ext cx="63500" cy="292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5F2F485-2F63-F941-BB2C-0470B20FF41A}"/>
              </a:ext>
            </a:extLst>
          </p:cNvPr>
          <p:cNvSpPr txBox="1"/>
          <p:nvPr/>
        </p:nvSpPr>
        <p:spPr>
          <a:xfrm>
            <a:off x="8331200" y="22606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EHRLICHE BEOBACHTUNG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7FF7EE6-4411-A447-A3B0-E856521FD949}"/>
              </a:ext>
            </a:extLst>
          </p:cNvPr>
          <p:cNvSpPr txBox="1"/>
          <p:nvPr/>
        </p:nvSpPr>
        <p:spPr>
          <a:xfrm>
            <a:off x="8331200" y="2540000"/>
            <a:ext cx="2921000" cy="2336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ACIs aufwendigste Maschinerie — IR, Routine-Grenzen, Taint, SQLi — bedient faktisch die 1 %.
Für DDL-lastige Bestände hat weiterer Aufwand auf der prozeduralen Seite geringen Hebel.
Der Hebel liegt bei DDL-Regeltiefe.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265E555-5F73-164D-BA21-96B0209DD367}"/>
              </a:ext>
            </a:extLst>
          </p:cNvPr>
          <p:cNvSpPr/>
          <p:nvPr/>
        </p:nvSpPr>
        <p:spPr>
          <a:xfrm>
            <a:off x="762000" y="5181600"/>
            <a:ext cx="10668000" cy="1219200"/>
          </a:xfrm>
          <a:prstGeom prst="rect">
            <a:avLst/>
          </a:prstGeom>
          <a:solidFill>
            <a:srgbClr val="F4FAF5"/>
          </a:solidFill>
          <a:ln w="1270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3016C4A-1FA7-8B4E-8EEC-E86FEAB2261A}"/>
              </a:ext>
            </a:extLst>
          </p:cNvPr>
          <p:cNvSpPr/>
          <p:nvPr/>
        </p:nvSpPr>
        <p:spPr>
          <a:xfrm>
            <a:off x="762000" y="5181600"/>
            <a:ext cx="63500" cy="1219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422DFC2-C8D2-454B-81E4-DBBB3804EAD6}"/>
              </a:ext>
            </a:extLst>
          </p:cNvPr>
          <p:cNvSpPr txBox="1"/>
          <p:nvPr/>
        </p:nvSpPr>
        <p:spPr>
          <a:xfrm>
            <a:off x="990600" y="5334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196B24"/>
                </a:solidFill>
              </a:rPr>
              <a:t>EMPFOHLENE REIHENFOLGE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6E3440-19F9-7E4B-9347-8700D0B3E510}"/>
              </a:ext>
            </a:extLst>
          </p:cNvPr>
          <p:cNvSpPr/>
          <p:nvPr/>
        </p:nvSpPr>
        <p:spPr>
          <a:xfrm>
            <a:off x="990600" y="5740400"/>
            <a:ext cx="330200" cy="330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FDAFCCF-07E8-0343-AEA5-F8D81B111DD9}"/>
              </a:ext>
            </a:extLst>
          </p:cNvPr>
          <p:cNvSpPr txBox="1"/>
          <p:nvPr/>
        </p:nvSpPr>
        <p:spPr>
          <a:xfrm>
            <a:off x="1422400" y="56896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DDL-Regeln verbreitern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ED6AED5-846D-D84B-AB14-AF23E638C926}"/>
              </a:ext>
            </a:extLst>
          </p:cNvPr>
          <p:cNvSpPr txBox="1"/>
          <p:nvPr/>
        </p:nvSpPr>
        <p:spPr>
          <a:xfrm>
            <a:off x="1422400" y="594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billig, inkrementell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93E386-F3E5-F24E-931B-D469626AC26F}"/>
              </a:ext>
            </a:extLst>
          </p:cNvPr>
          <p:cNvSpPr/>
          <p:nvPr/>
        </p:nvSpPr>
        <p:spPr>
          <a:xfrm>
            <a:off x="4419600" y="5740400"/>
            <a:ext cx="330200" cy="330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F1BDFF4-4896-E648-971E-008FC63CA9DA}"/>
              </a:ext>
            </a:extLst>
          </p:cNvPr>
          <p:cNvSpPr txBox="1"/>
          <p:nvPr/>
        </p:nvSpPr>
        <p:spPr>
          <a:xfrm>
            <a:off x="4851400" y="56896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Kunden-DDL-Korpus prüfen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A78F95E-946E-3743-B8D6-42960957CEA1}"/>
              </a:ext>
            </a:extLst>
          </p:cNvPr>
          <p:cNvSpPr txBox="1"/>
          <p:nvPr/>
        </p:nvSpPr>
        <p:spPr>
          <a:xfrm>
            <a:off x="4851400" y="594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reale Lücken finden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2ED07A-ADDC-0F43-8A66-93F7E0154E8B}"/>
              </a:ext>
            </a:extLst>
          </p:cNvPr>
          <p:cNvSpPr/>
          <p:nvPr/>
        </p:nvSpPr>
        <p:spPr>
          <a:xfrm>
            <a:off x="7848600" y="5740400"/>
            <a:ext cx="330200" cy="330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6586B7D-9A5C-184E-8CFE-003CBF9CCAC6}"/>
              </a:ext>
            </a:extLst>
          </p:cNvPr>
          <p:cNvSpPr txBox="1"/>
          <p:nvPr/>
        </p:nvSpPr>
        <p:spPr>
          <a:xfrm>
            <a:off x="8280400" y="56896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0E2841"/>
                </a:solidFill>
              </a:rPr>
              <a:t>Optional: kleine DDL-Grammatik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5916B04-4E67-324C-9EDA-0D817BD2ACDD}"/>
              </a:ext>
            </a:extLst>
          </p:cNvPr>
          <p:cNvSpPr txBox="1"/>
          <p:nvPr/>
        </p:nvSpPr>
        <p:spPr>
          <a:xfrm>
            <a:off x="8280400" y="59436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555555"/>
                </a:solidFill>
              </a:rPr>
              <a:t>nur CREATE TABLE/VIEW/SEQ/GRANT</a:t>
            </a:r>
          </a:p>
        </p:txBody>
      </p:sp>
    </p:spTree>
    <p:extLst>
      <p:ext uri="{BB962C8B-B14F-4D97-AF65-F5344CB8AC3E}">
        <p14:creationId xmlns:p14="http://schemas.microsoft.com/office/powerpoint/2010/main" val="3533117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EB4838-C8A7-3346-AC0F-85D18E9FABDE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DEBUGGING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17821C7-AB88-554E-84F8-CA64504A3CD4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Werkzeuge zur Fehleranalyse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DA38BD-2534-AA4B-BE48-521E85B05A2A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52A1C9-94CE-C240-A098-F4E774FE70C2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Drei Schalter helfen, einen ACI-Lauf im Fehlerfall einzugrenzen — vom Tool-Crash bis zum fragwürdigen Finding.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ED0BC14-C161-8C46-B5A9-4EE8AFDBBD41}"/>
              </a:ext>
            </a:extLst>
          </p:cNvPr>
          <p:cNvSpPr/>
          <p:nvPr/>
        </p:nvSpPr>
        <p:spPr>
          <a:xfrm>
            <a:off x="762000" y="2032000"/>
            <a:ext cx="3467100" cy="330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BD60B23-6732-5440-966A-4DA5B16766BB}"/>
              </a:ext>
            </a:extLst>
          </p:cNvPr>
          <p:cNvSpPr/>
          <p:nvPr/>
        </p:nvSpPr>
        <p:spPr>
          <a:xfrm>
            <a:off x="762000" y="2032000"/>
            <a:ext cx="3467100" cy="812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323995-FDE0-A747-9B7B-7648A0C953A0}"/>
              </a:ext>
            </a:extLst>
          </p:cNvPr>
          <p:cNvSpPr txBox="1"/>
          <p:nvPr/>
        </p:nvSpPr>
        <p:spPr>
          <a:xfrm>
            <a:off x="965200" y="2209800"/>
            <a:ext cx="30607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E97132"/>
                </a:solidFill>
                <a:latin typeface="Consolas"/>
                <a:cs typeface="Consolas"/>
              </a:rPr>
              <a:t>--debug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E33E5D-1C50-194A-8D48-30620E58FC6A}"/>
              </a:ext>
            </a:extLst>
          </p:cNvPr>
          <p:cNvSpPr txBox="1"/>
          <p:nvPr/>
        </p:nvSpPr>
        <p:spPr>
          <a:xfrm>
            <a:off x="965200" y="2514600"/>
            <a:ext cx="30607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999999"/>
                </a:solidFill>
              </a:rPr>
              <a:t>Voller Python-Traceback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2879439-77A0-814B-A656-B7A82DCE1C31}"/>
              </a:ext>
            </a:extLst>
          </p:cNvPr>
          <p:cNvSpPr txBox="1"/>
          <p:nvPr/>
        </p:nvSpPr>
        <p:spPr>
          <a:xfrm>
            <a:off x="965200" y="3022600"/>
            <a:ext cx="3060700" cy="152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Zeigt bei einem unerwarteten Fehler den vollständigen Python-Traceback statt nur einer Kurzmeldung. Erste Wahl bei Tool-Crashes oder unklaren Fehlermeldungen.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E2F226F-A8E5-B34E-A9A6-FF2294A59847}"/>
              </a:ext>
            </a:extLst>
          </p:cNvPr>
          <p:cNvSpPr/>
          <p:nvPr/>
        </p:nvSpPr>
        <p:spPr>
          <a:xfrm>
            <a:off x="762000" y="4572000"/>
            <a:ext cx="3467100" cy="762000"/>
          </a:xfrm>
          <a:prstGeom prst="rect">
            <a:avLst/>
          </a:prstGeom>
          <a:solidFill>
            <a:srgbClr val="FFFA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FC4DA59-C6B3-B94F-A63B-A0F4DDF64A77}"/>
              </a:ext>
            </a:extLst>
          </p:cNvPr>
          <p:cNvSpPr/>
          <p:nvPr/>
        </p:nvSpPr>
        <p:spPr>
          <a:xfrm>
            <a:off x="762000" y="4572000"/>
            <a:ext cx="3467100" cy="25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882FFC9-2E26-8344-B6F5-D5F5D246DEF6}"/>
              </a:ext>
            </a:extLst>
          </p:cNvPr>
          <p:cNvSpPr txBox="1"/>
          <p:nvPr/>
        </p:nvSpPr>
        <p:spPr>
          <a:xfrm>
            <a:off x="965200" y="4699000"/>
            <a:ext cx="30607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E97132"/>
                </a:solidFill>
              </a:rPr>
              <a:t>WANN VERWENDEN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F7521F5-8162-0B42-8A85-F5D4A6D1AA23}"/>
              </a:ext>
            </a:extLst>
          </p:cNvPr>
          <p:cNvSpPr txBox="1"/>
          <p:nvPr/>
        </p:nvSpPr>
        <p:spPr>
          <a:xfrm>
            <a:off x="965200" y="4876800"/>
            <a:ext cx="30607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 i="1">
                <a:solidFill>
                  <a:srgbClr val="0E2841"/>
                </a:solidFill>
              </a:rPr>
              <a:t>ACI bricht mit unklarer Meldung ab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2451F1C-022D-DB4F-BDA4-DB737A7D62D6}"/>
              </a:ext>
            </a:extLst>
          </p:cNvPr>
          <p:cNvSpPr/>
          <p:nvPr/>
        </p:nvSpPr>
        <p:spPr>
          <a:xfrm>
            <a:off x="4381500" y="2032000"/>
            <a:ext cx="3467100" cy="330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9BD153E-E2BB-9142-AF3E-B432151A319A}"/>
              </a:ext>
            </a:extLst>
          </p:cNvPr>
          <p:cNvSpPr/>
          <p:nvPr/>
        </p:nvSpPr>
        <p:spPr>
          <a:xfrm>
            <a:off x="4381500" y="2032000"/>
            <a:ext cx="3467100" cy="812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F65EBD9-91D9-564E-8A7E-AA3C387330B3}"/>
              </a:ext>
            </a:extLst>
          </p:cNvPr>
          <p:cNvSpPr txBox="1"/>
          <p:nvPr/>
        </p:nvSpPr>
        <p:spPr>
          <a:xfrm>
            <a:off x="4584700" y="2209800"/>
            <a:ext cx="30607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E97132"/>
                </a:solidFill>
                <a:latin typeface="Consolas"/>
                <a:cs typeface="Consolas"/>
              </a:rPr>
              <a:t>--dump-ir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0B66FC8-5B54-9347-87FF-3B7A383568B3}"/>
              </a:ext>
            </a:extLst>
          </p:cNvPr>
          <p:cNvSpPr txBox="1"/>
          <p:nvPr/>
        </p:nvSpPr>
        <p:spPr>
          <a:xfrm>
            <a:off x="4584700" y="2514600"/>
            <a:ext cx="30607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999999"/>
                </a:solidFill>
              </a:rPr>
              <a:t>IR-Sicht einer Datei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8EFB2B4-B459-BC4E-89DF-7C0D97F2B845}"/>
              </a:ext>
            </a:extLst>
          </p:cNvPr>
          <p:cNvSpPr txBox="1"/>
          <p:nvPr/>
        </p:nvSpPr>
        <p:spPr>
          <a:xfrm>
            <a:off x="4584700" y="3022600"/>
            <a:ext cx="3060700" cy="152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Gibt die Parser-/IR-Sicht einer einzelnen Datei als JSON aus und beendet sich. Hier sieht man, wie ACI Routinen, Statements und dynamisches SQL erkannt hat.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B16A2A-C717-6844-9674-40873A81EAB5}"/>
              </a:ext>
            </a:extLst>
          </p:cNvPr>
          <p:cNvSpPr/>
          <p:nvPr/>
        </p:nvSpPr>
        <p:spPr>
          <a:xfrm>
            <a:off x="4381500" y="4572000"/>
            <a:ext cx="3467100" cy="762000"/>
          </a:xfrm>
          <a:prstGeom prst="rect">
            <a:avLst/>
          </a:prstGeom>
          <a:solidFill>
            <a:srgbClr val="FFFA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DF8C477-ECE2-C749-B344-9D9303CF471B}"/>
              </a:ext>
            </a:extLst>
          </p:cNvPr>
          <p:cNvSpPr/>
          <p:nvPr/>
        </p:nvSpPr>
        <p:spPr>
          <a:xfrm>
            <a:off x="4381500" y="4572000"/>
            <a:ext cx="3467100" cy="25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FAE6F2C-F54C-E040-9334-A94EE8D36ED4}"/>
              </a:ext>
            </a:extLst>
          </p:cNvPr>
          <p:cNvSpPr txBox="1"/>
          <p:nvPr/>
        </p:nvSpPr>
        <p:spPr>
          <a:xfrm>
            <a:off x="4584700" y="4699000"/>
            <a:ext cx="30607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E97132"/>
                </a:solidFill>
              </a:rPr>
              <a:t>WANN VERWENDEN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04E7CF9-2267-634B-9188-893D5A681A0A}"/>
              </a:ext>
            </a:extLst>
          </p:cNvPr>
          <p:cNvSpPr txBox="1"/>
          <p:nvPr/>
        </p:nvSpPr>
        <p:spPr>
          <a:xfrm>
            <a:off x="4584700" y="4876800"/>
            <a:ext cx="30607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 i="1">
                <a:solidFill>
                  <a:srgbClr val="0E2841"/>
                </a:solidFill>
              </a:rPr>
              <a:t>Fragwürdiges Finding — Statement falsch abgegrenzt?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90C6614-7F0D-5B4E-A053-D5F9D3BF2CF9}"/>
              </a:ext>
            </a:extLst>
          </p:cNvPr>
          <p:cNvSpPr/>
          <p:nvPr/>
        </p:nvSpPr>
        <p:spPr>
          <a:xfrm>
            <a:off x="8001000" y="2032000"/>
            <a:ext cx="3467100" cy="330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AFCC0CB-E9D9-D74D-83A5-F00865744752}"/>
              </a:ext>
            </a:extLst>
          </p:cNvPr>
          <p:cNvSpPr/>
          <p:nvPr/>
        </p:nvSpPr>
        <p:spPr>
          <a:xfrm>
            <a:off x="8001000" y="2032000"/>
            <a:ext cx="3467100" cy="812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5CE5BC0-7032-4645-A12D-3C679F842B3F}"/>
              </a:ext>
            </a:extLst>
          </p:cNvPr>
          <p:cNvSpPr txBox="1"/>
          <p:nvPr/>
        </p:nvSpPr>
        <p:spPr>
          <a:xfrm>
            <a:off x="8204200" y="2209800"/>
            <a:ext cx="30607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b="1">
                <a:solidFill>
                  <a:srgbClr val="E97132"/>
                </a:solidFill>
                <a:latin typeface="Consolas"/>
                <a:cs typeface="Consolas"/>
              </a:rPr>
              <a:t>--list-checks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B0FF2C0-A690-5143-8DFF-EF095EEA5971}"/>
              </a:ext>
            </a:extLst>
          </p:cNvPr>
          <p:cNvSpPr txBox="1"/>
          <p:nvPr/>
        </p:nvSpPr>
        <p:spPr>
          <a:xfrm>
            <a:off x="8204200" y="2514600"/>
            <a:ext cx="30607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i="1">
                <a:solidFill>
                  <a:srgbClr val="999999"/>
                </a:solidFill>
              </a:rPr>
              <a:t>Aktive Regel-Abdeckung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EEC54D5-0F4E-B04B-9311-1C6453C6E435}"/>
              </a:ext>
            </a:extLst>
          </p:cNvPr>
          <p:cNvSpPr txBox="1"/>
          <p:nvPr/>
        </p:nvSpPr>
        <p:spPr>
          <a:xfrm>
            <a:off x="8204200" y="3022600"/>
            <a:ext cx="3060700" cy="152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Zeigt, welche Checks und Regeln für Dialekt und Gruppe aktiv sind. Fehlt ein erwartetes Finding, ist oft die zugehörige Regel inaktiv oder der Dialekt falsch gesetzt.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801DAFF-04B4-664D-A82C-2E194AA68181}"/>
              </a:ext>
            </a:extLst>
          </p:cNvPr>
          <p:cNvSpPr/>
          <p:nvPr/>
        </p:nvSpPr>
        <p:spPr>
          <a:xfrm>
            <a:off x="8001000" y="4572000"/>
            <a:ext cx="3467100" cy="762000"/>
          </a:xfrm>
          <a:prstGeom prst="rect">
            <a:avLst/>
          </a:prstGeom>
          <a:solidFill>
            <a:srgbClr val="FFFA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E639A90-EE61-EE4E-BBE6-FF92CCA365C3}"/>
              </a:ext>
            </a:extLst>
          </p:cNvPr>
          <p:cNvSpPr/>
          <p:nvPr/>
        </p:nvSpPr>
        <p:spPr>
          <a:xfrm>
            <a:off x="8001000" y="4572000"/>
            <a:ext cx="3467100" cy="25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DB70E3D-1BF3-DE44-A86C-0788C123AC28}"/>
              </a:ext>
            </a:extLst>
          </p:cNvPr>
          <p:cNvSpPr txBox="1"/>
          <p:nvPr/>
        </p:nvSpPr>
        <p:spPr>
          <a:xfrm>
            <a:off x="8204200" y="4699000"/>
            <a:ext cx="3060700" cy="152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900" b="1">
                <a:solidFill>
                  <a:srgbClr val="E97132"/>
                </a:solidFill>
              </a:rPr>
              <a:t>WANN VERWENDEN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A27DAA2-ABFD-F741-86D4-7BA31C4F1315}"/>
              </a:ext>
            </a:extLst>
          </p:cNvPr>
          <p:cNvSpPr txBox="1"/>
          <p:nvPr/>
        </p:nvSpPr>
        <p:spPr>
          <a:xfrm>
            <a:off x="8204200" y="4876800"/>
            <a:ext cx="3060700" cy="406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 i="1">
                <a:solidFill>
                  <a:srgbClr val="0E2841"/>
                </a:solidFill>
              </a:rPr>
              <a:t>Erwartetes Finding wird nicht gemeldet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714F33E-92E2-084E-B20E-D6B3A6D5C5A6}"/>
              </a:ext>
            </a:extLst>
          </p:cNvPr>
          <p:cNvSpPr/>
          <p:nvPr/>
        </p:nvSpPr>
        <p:spPr>
          <a:xfrm>
            <a:off x="762000" y="5562600"/>
            <a:ext cx="10668000" cy="1016000"/>
          </a:xfrm>
          <a:prstGeom prst="rect">
            <a:avLst/>
          </a:prstGeom>
          <a:solidFill>
            <a:srgbClr val="FFF5F5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2C08A0F-8000-5149-8C5F-ADD4E448EA52}"/>
              </a:ext>
            </a:extLst>
          </p:cNvPr>
          <p:cNvSpPr/>
          <p:nvPr/>
        </p:nvSpPr>
        <p:spPr>
          <a:xfrm>
            <a:off x="762000" y="5562600"/>
            <a:ext cx="63500" cy="1016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215B48E-1043-8A4E-AFB4-0D14F9B49980}"/>
              </a:ext>
            </a:extLst>
          </p:cNvPr>
          <p:cNvSpPr txBox="1"/>
          <p:nvPr/>
        </p:nvSpPr>
        <p:spPr>
          <a:xfrm>
            <a:off x="990600" y="56896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C00000"/>
                </a:solidFill>
              </a:rPr>
              <a:t>INTERNE FEHLER · ACI-INTERNAL · HIGH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7A4FB1C-3EA3-6C4D-B318-FB46F50FAC48}"/>
              </a:ext>
            </a:extLst>
          </p:cNvPr>
          <p:cNvSpPr txBox="1"/>
          <p:nvPr/>
        </p:nvSpPr>
        <p:spPr>
          <a:xfrm>
            <a:off x="990600" y="59182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1A1A1A"/>
                </a:solidFill>
              </a:rPr>
              <a:t>Schlägt ein Check intern fehl, stoppt das den Scan nicht. Der Fehler erscheint als Finding der Gruppe »Interner Fehler« — ein Werkzeugfehler, kein Code-Mangel. Mit --debug reproduzieren, mit --dump-ir der betroffenen Datei eingrenzen.</a:t>
            </a:r>
          </a:p>
        </p:txBody>
      </p:sp>
    </p:spTree>
    <p:extLst>
      <p:ext uri="{BB962C8B-B14F-4D97-AF65-F5344CB8AC3E}">
        <p14:creationId xmlns:p14="http://schemas.microsoft.com/office/powerpoint/2010/main" val="22403728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9D5FBC4-288F-0345-8836-2D6E2A5CF81D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DEBUGGING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A0450-00E4-DC4A-B56C-08F6C4566E37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Workflow im Fehlerfall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41393D-34EB-7E45-BEC1-06C8977061CE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8D0520-0261-C541-9160-90F8B612985D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Vier Schritte, ein Lauf eingegrenzt — von der Werkzeugmeldung bis zur reproduzierbaren Ursache.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9EE2318-6E8D-0640-8607-66AE5EE22D6F}"/>
              </a:ext>
            </a:extLst>
          </p:cNvPr>
          <p:cNvSpPr/>
          <p:nvPr/>
        </p:nvSpPr>
        <p:spPr>
          <a:xfrm>
            <a:off x="7620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682D96-8B34-2B45-8D74-FFE6DAA01C6E}"/>
              </a:ext>
            </a:extLst>
          </p:cNvPr>
          <p:cNvSpPr/>
          <p:nvPr/>
        </p:nvSpPr>
        <p:spPr>
          <a:xfrm>
            <a:off x="965200" y="22352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B72391-CA24-9942-BE41-48F5F6D4AA3B}"/>
              </a:ext>
            </a:extLst>
          </p:cNvPr>
          <p:cNvSpPr txBox="1"/>
          <p:nvPr/>
        </p:nvSpPr>
        <p:spPr>
          <a:xfrm>
            <a:off x="9652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Exit-Code deuten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54EBA2F-B56D-7147-97B5-490F9B51BEB5}"/>
              </a:ext>
            </a:extLst>
          </p:cNvPr>
          <p:cNvSpPr/>
          <p:nvPr/>
        </p:nvSpPr>
        <p:spPr>
          <a:xfrm>
            <a:off x="9652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3834DA-BA7D-A04C-9C30-B35B1187EA0C}"/>
              </a:ext>
            </a:extLst>
          </p:cNvPr>
          <p:cNvSpPr txBox="1"/>
          <p:nvPr/>
        </p:nvSpPr>
        <p:spPr>
          <a:xfrm>
            <a:off x="10414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echo $?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E635D74-8FC1-5749-A96E-7EEB5A81A0D1}"/>
              </a:ext>
            </a:extLst>
          </p:cNvPr>
          <p:cNvSpPr txBox="1"/>
          <p:nvPr/>
        </p:nvSpPr>
        <p:spPr>
          <a:xfrm>
            <a:off x="9652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0 = Gate bestanden  ·  1 = --fail-on erreicht  ·  2 = Werkzeug-/Eingabefehler oder --strict-* erzwungener Abbruch.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9D746D0B-A76F-2642-8EB2-B5416807C213}"/>
              </a:ext>
            </a:extLst>
          </p:cNvPr>
          <p:cNvSpPr/>
          <p:nvPr/>
        </p:nvSpPr>
        <p:spPr>
          <a:xfrm>
            <a:off x="33147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314C96-0CC2-BC4A-9E23-EBF72B68DE32}"/>
              </a:ext>
            </a:extLst>
          </p:cNvPr>
          <p:cNvSpPr/>
          <p:nvPr/>
        </p:nvSpPr>
        <p:spPr>
          <a:xfrm>
            <a:off x="35179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C417CC-ADC4-6945-8D99-77383B12AC83}"/>
              </a:ext>
            </a:extLst>
          </p:cNvPr>
          <p:cNvSpPr/>
          <p:nvPr/>
        </p:nvSpPr>
        <p:spPr>
          <a:xfrm>
            <a:off x="3721100" y="2235200"/>
            <a:ext cx="508000" cy="5080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5F3EA67-5699-314F-8870-A09CF0BE27C7}"/>
              </a:ext>
            </a:extLst>
          </p:cNvPr>
          <p:cNvSpPr txBox="1"/>
          <p:nvPr/>
        </p:nvSpPr>
        <p:spPr>
          <a:xfrm>
            <a:off x="37211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Stderr-Meldung lesen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D4D9F9C-4EA3-B043-AD71-3D4A0099013D}"/>
              </a:ext>
            </a:extLst>
          </p:cNvPr>
          <p:cNvSpPr/>
          <p:nvPr/>
        </p:nvSpPr>
        <p:spPr>
          <a:xfrm>
            <a:off x="37211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1D816DF-3CC3-A246-91D8-988F01F5FE50}"/>
              </a:ext>
            </a:extLst>
          </p:cNvPr>
          <p:cNvSpPr txBox="1"/>
          <p:nvPr/>
        </p:nvSpPr>
        <p:spPr>
          <a:xfrm>
            <a:off x="37973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FEHLER: ...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E0D6A3B-D5B0-EF47-B5DE-0E1948A74863}"/>
              </a:ext>
            </a:extLst>
          </p:cNvPr>
          <p:cNvSpPr txBox="1"/>
          <p:nvPr/>
        </p:nvSpPr>
        <p:spPr>
          <a:xfrm>
            <a:off x="37211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Bei Exit-Code 2 verrät die Meldung auf der Standard-Fehlerausgabe die Ursache: ungültige Regeldatei, Pfad nicht gefunden, ungültige Option.</a:t>
            </a:r>
          </a:p>
        </p:txBody>
      </p:sp>
      <p:sp>
        <p:nvSpPr>
          <p:cNvPr id="19" name="Pfeil nach rechts 18">
            <a:extLst>
              <a:ext uri="{FF2B5EF4-FFF2-40B4-BE49-F238E27FC236}">
                <a16:creationId xmlns:a16="http://schemas.microsoft.com/office/drawing/2014/main" id="{9B68B55D-FD7F-154E-BE29-EFAE90E4857E}"/>
              </a:ext>
            </a:extLst>
          </p:cNvPr>
          <p:cNvSpPr/>
          <p:nvPr/>
        </p:nvSpPr>
        <p:spPr>
          <a:xfrm>
            <a:off x="60706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72DAED2-790A-C345-AC6C-CD1D80EF87B6}"/>
              </a:ext>
            </a:extLst>
          </p:cNvPr>
          <p:cNvSpPr/>
          <p:nvPr/>
        </p:nvSpPr>
        <p:spPr>
          <a:xfrm>
            <a:off x="62738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7AD992-0B37-234C-BA11-E4ACB3548C14}"/>
              </a:ext>
            </a:extLst>
          </p:cNvPr>
          <p:cNvSpPr/>
          <p:nvPr/>
        </p:nvSpPr>
        <p:spPr>
          <a:xfrm>
            <a:off x="6477000" y="2235200"/>
            <a:ext cx="508000" cy="508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F11518F-AB45-DA4F-A617-3B8B9B13E789}"/>
              </a:ext>
            </a:extLst>
          </p:cNvPr>
          <p:cNvSpPr txBox="1"/>
          <p:nvPr/>
        </p:nvSpPr>
        <p:spPr>
          <a:xfrm>
            <a:off x="64770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Auf Mini-Repro reduzieren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382E8E3-2D6B-5B44-B0B7-43B4E33B9F99}"/>
              </a:ext>
            </a:extLst>
          </p:cNvPr>
          <p:cNvSpPr/>
          <p:nvPr/>
        </p:nvSpPr>
        <p:spPr>
          <a:xfrm>
            <a:off x="64770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D3CD689-CED7-D946-ADEC-157D97EB1602}"/>
              </a:ext>
            </a:extLst>
          </p:cNvPr>
          <p:cNvSpPr txBox="1"/>
          <p:nvPr/>
        </p:nvSpPr>
        <p:spPr>
          <a:xfrm>
            <a:off x="65532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aci.py case.sql --dump-ir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B105AEA-CD4A-B44F-9F00-FFFCCECD5AF5}"/>
              </a:ext>
            </a:extLst>
          </p:cNvPr>
          <p:cNvSpPr txBox="1"/>
          <p:nvPr/>
        </p:nvSpPr>
        <p:spPr>
          <a:xfrm>
            <a:off x="64770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Bei vermutetem False Positive die Anweisung in eine kleine .sql-Datei kopieren und mit --dump-ir prüfen, ob bereits die IR die Anweisung falsch abgrenzt.</a:t>
            </a:r>
          </a:p>
        </p:txBody>
      </p:sp>
      <p:sp>
        <p:nvSpPr>
          <p:cNvPr id="26" name="Pfeil nach rechts 25">
            <a:extLst>
              <a:ext uri="{FF2B5EF4-FFF2-40B4-BE49-F238E27FC236}">
                <a16:creationId xmlns:a16="http://schemas.microsoft.com/office/drawing/2014/main" id="{CFE1B3AB-47E6-7E47-BB3D-C0492C2C405F}"/>
              </a:ext>
            </a:extLst>
          </p:cNvPr>
          <p:cNvSpPr/>
          <p:nvPr/>
        </p:nvSpPr>
        <p:spPr>
          <a:xfrm>
            <a:off x="88265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EB6306E-AAD2-D44F-A3F3-D733D81DC742}"/>
              </a:ext>
            </a:extLst>
          </p:cNvPr>
          <p:cNvSpPr/>
          <p:nvPr/>
        </p:nvSpPr>
        <p:spPr>
          <a:xfrm>
            <a:off x="90297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B6387F-C7E5-F441-A1D3-F951F6AEA321}"/>
              </a:ext>
            </a:extLst>
          </p:cNvPr>
          <p:cNvSpPr/>
          <p:nvPr/>
        </p:nvSpPr>
        <p:spPr>
          <a:xfrm>
            <a:off x="9232900" y="2235200"/>
            <a:ext cx="508000" cy="5080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35934DF-06A9-594F-B6AA-699747D8C81B}"/>
              </a:ext>
            </a:extLst>
          </p:cNvPr>
          <p:cNvSpPr txBox="1"/>
          <p:nvPr/>
        </p:nvSpPr>
        <p:spPr>
          <a:xfrm>
            <a:off x="92329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Reproduzierbarkeit prüfen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AD2FE47-0DA5-2F43-BD8C-E85874860C8C}"/>
              </a:ext>
            </a:extLst>
          </p:cNvPr>
          <p:cNvSpPr/>
          <p:nvPr/>
        </p:nvSpPr>
        <p:spPr>
          <a:xfrm>
            <a:off x="92329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F5BDF8F-C720-C249-970D-1AABB75A93CC}"/>
              </a:ext>
            </a:extLst>
          </p:cNvPr>
          <p:cNvSpPr txBox="1"/>
          <p:nvPr/>
        </p:nvSpPr>
        <p:spPr>
          <a:xfrm>
            <a:off x="93091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diff ruleset_hash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9493552-D00F-794A-BCB4-B98083FF55E5}"/>
              </a:ext>
            </a:extLst>
          </p:cNvPr>
          <p:cNvSpPr txBox="1"/>
          <p:nvPr/>
        </p:nvSpPr>
        <p:spPr>
          <a:xfrm>
            <a:off x="92329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Weicht ein Lauf vom Erwarteten ab: Ruleset-Hash und Vertrauensstatus vergleichen — ein abweichender Hash bedeutet einen veränderten Regelstand.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2F146D7-3061-724C-BE60-6AA258BF9EA7}"/>
              </a:ext>
            </a:extLst>
          </p:cNvPr>
          <p:cNvSpPr/>
          <p:nvPr/>
        </p:nvSpPr>
        <p:spPr>
          <a:xfrm>
            <a:off x="762000" y="5257800"/>
            <a:ext cx="10668000" cy="1016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969EFD9-4B51-834D-8548-1B1F575EC7E2}"/>
              </a:ext>
            </a:extLst>
          </p:cNvPr>
          <p:cNvSpPr/>
          <p:nvPr/>
        </p:nvSpPr>
        <p:spPr>
          <a:xfrm>
            <a:off x="762000" y="5257800"/>
            <a:ext cx="63500" cy="1016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E0EA800-C404-2444-A3FC-FE2207646448}"/>
              </a:ext>
            </a:extLst>
          </p:cNvPr>
          <p:cNvSpPr txBox="1"/>
          <p:nvPr/>
        </p:nvSpPr>
        <p:spPr>
          <a:xfrm>
            <a:off x="990600" y="54102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F9ED5"/>
                </a:solidFill>
              </a:rPr>
              <a:t>PRAGMATISCHER WEG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D019001-418E-D143-861B-EE800B03388E}"/>
              </a:ext>
            </a:extLst>
          </p:cNvPr>
          <p:cNvSpPr txBox="1"/>
          <p:nvPr/>
        </p:nvSpPr>
        <p:spPr>
          <a:xfrm>
            <a:off x="990600" y="56388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D4D4D4"/>
                </a:solidFill>
              </a:rPr>
              <a:t>Lokale Änderungen mit »python3 -m compileall -q aci« auf Syntaxfehler prüfen. Akzeptierter Einzelfall: Waiver dokumentieren statt Gate abschwächen. Im Zweifel ein gezieltes manuelles Review.</a:t>
            </a:r>
          </a:p>
        </p:txBody>
      </p:sp>
    </p:spTree>
    <p:extLst>
      <p:ext uri="{BB962C8B-B14F-4D97-AF65-F5344CB8AC3E}">
        <p14:creationId xmlns:p14="http://schemas.microsoft.com/office/powerpoint/2010/main" val="708352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9D5FBC4-288F-0345-8836-2D6E2A5CF81D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DEBUGGING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A0450-00E4-DC4A-B56C-08F6C4566E37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Workflow im Fehlerfall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41393D-34EB-7E45-BEC1-06C8977061CE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8D0520-0261-C541-9160-90F8B612985D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Vier Schritte, ein Lauf eingegrenzt — von der Werkzeugmeldung bis zur reproduzierbaren Ursache.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9EE2318-6E8D-0640-8607-66AE5EE22D6F}"/>
              </a:ext>
            </a:extLst>
          </p:cNvPr>
          <p:cNvSpPr/>
          <p:nvPr/>
        </p:nvSpPr>
        <p:spPr>
          <a:xfrm>
            <a:off x="7620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682D96-8B34-2B45-8D74-FFE6DAA01C6E}"/>
              </a:ext>
            </a:extLst>
          </p:cNvPr>
          <p:cNvSpPr/>
          <p:nvPr/>
        </p:nvSpPr>
        <p:spPr>
          <a:xfrm>
            <a:off x="965200" y="22352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B72391-CA24-9942-BE41-48F5F6D4AA3B}"/>
              </a:ext>
            </a:extLst>
          </p:cNvPr>
          <p:cNvSpPr txBox="1"/>
          <p:nvPr/>
        </p:nvSpPr>
        <p:spPr>
          <a:xfrm>
            <a:off x="9652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Exit-Code deuten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54EBA2F-B56D-7147-97B5-490F9B51BEB5}"/>
              </a:ext>
            </a:extLst>
          </p:cNvPr>
          <p:cNvSpPr/>
          <p:nvPr/>
        </p:nvSpPr>
        <p:spPr>
          <a:xfrm>
            <a:off x="9652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3834DA-BA7D-A04C-9C30-B35B1187EA0C}"/>
              </a:ext>
            </a:extLst>
          </p:cNvPr>
          <p:cNvSpPr txBox="1"/>
          <p:nvPr/>
        </p:nvSpPr>
        <p:spPr>
          <a:xfrm>
            <a:off x="10414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echo $?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E635D74-8FC1-5749-A96E-7EEB5A81A0D1}"/>
              </a:ext>
            </a:extLst>
          </p:cNvPr>
          <p:cNvSpPr txBox="1"/>
          <p:nvPr/>
        </p:nvSpPr>
        <p:spPr>
          <a:xfrm>
            <a:off x="9652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0 = Gate bestanden  ·  1 = --fail-on erreicht  ·  2 = Werkzeug-/Eingabefehler oder --strict-* erzwungener Abbruch.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9D746D0B-A76F-2642-8EB2-B5416807C213}"/>
              </a:ext>
            </a:extLst>
          </p:cNvPr>
          <p:cNvSpPr/>
          <p:nvPr/>
        </p:nvSpPr>
        <p:spPr>
          <a:xfrm>
            <a:off x="33147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314C96-0CC2-BC4A-9E23-EBF72B68DE32}"/>
              </a:ext>
            </a:extLst>
          </p:cNvPr>
          <p:cNvSpPr/>
          <p:nvPr/>
        </p:nvSpPr>
        <p:spPr>
          <a:xfrm>
            <a:off x="35179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C417CC-ADC4-6945-8D99-77383B12AC83}"/>
              </a:ext>
            </a:extLst>
          </p:cNvPr>
          <p:cNvSpPr/>
          <p:nvPr/>
        </p:nvSpPr>
        <p:spPr>
          <a:xfrm>
            <a:off x="3721100" y="2235200"/>
            <a:ext cx="508000" cy="5080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5F3EA67-5699-314F-8870-A09CF0BE27C7}"/>
              </a:ext>
            </a:extLst>
          </p:cNvPr>
          <p:cNvSpPr txBox="1"/>
          <p:nvPr/>
        </p:nvSpPr>
        <p:spPr>
          <a:xfrm>
            <a:off x="37211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Stderr-Meldung lesen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D4D9F9C-4EA3-B043-AD71-3D4A0099013D}"/>
              </a:ext>
            </a:extLst>
          </p:cNvPr>
          <p:cNvSpPr/>
          <p:nvPr/>
        </p:nvSpPr>
        <p:spPr>
          <a:xfrm>
            <a:off x="37211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1D816DF-3CC3-A246-91D8-988F01F5FE50}"/>
              </a:ext>
            </a:extLst>
          </p:cNvPr>
          <p:cNvSpPr txBox="1"/>
          <p:nvPr/>
        </p:nvSpPr>
        <p:spPr>
          <a:xfrm>
            <a:off x="37973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FEHLER: ...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E0D6A3B-D5B0-EF47-B5DE-0E1948A74863}"/>
              </a:ext>
            </a:extLst>
          </p:cNvPr>
          <p:cNvSpPr txBox="1"/>
          <p:nvPr/>
        </p:nvSpPr>
        <p:spPr>
          <a:xfrm>
            <a:off x="37211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Bei Exit-Code 2 verrät die Meldung auf der Standard-Fehlerausgabe die Ursache: ungültige Regeldatei, Pfad nicht gefunden, ungültige Option.</a:t>
            </a:r>
          </a:p>
        </p:txBody>
      </p:sp>
      <p:sp>
        <p:nvSpPr>
          <p:cNvPr id="19" name="Pfeil nach rechts 18">
            <a:extLst>
              <a:ext uri="{FF2B5EF4-FFF2-40B4-BE49-F238E27FC236}">
                <a16:creationId xmlns:a16="http://schemas.microsoft.com/office/drawing/2014/main" id="{9B68B55D-FD7F-154E-BE29-EFAE90E4857E}"/>
              </a:ext>
            </a:extLst>
          </p:cNvPr>
          <p:cNvSpPr/>
          <p:nvPr/>
        </p:nvSpPr>
        <p:spPr>
          <a:xfrm>
            <a:off x="60706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72DAED2-790A-C345-AC6C-CD1D80EF87B6}"/>
              </a:ext>
            </a:extLst>
          </p:cNvPr>
          <p:cNvSpPr/>
          <p:nvPr/>
        </p:nvSpPr>
        <p:spPr>
          <a:xfrm>
            <a:off x="62738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7AD992-0B37-234C-BA11-E4ACB3548C14}"/>
              </a:ext>
            </a:extLst>
          </p:cNvPr>
          <p:cNvSpPr/>
          <p:nvPr/>
        </p:nvSpPr>
        <p:spPr>
          <a:xfrm>
            <a:off x="6477000" y="2235200"/>
            <a:ext cx="508000" cy="508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F11518F-AB45-DA4F-A617-3B8B9B13E789}"/>
              </a:ext>
            </a:extLst>
          </p:cNvPr>
          <p:cNvSpPr txBox="1"/>
          <p:nvPr/>
        </p:nvSpPr>
        <p:spPr>
          <a:xfrm>
            <a:off x="64770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Auf Mini-Repro reduzieren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382E8E3-2D6B-5B44-B0B7-43B4E33B9F99}"/>
              </a:ext>
            </a:extLst>
          </p:cNvPr>
          <p:cNvSpPr/>
          <p:nvPr/>
        </p:nvSpPr>
        <p:spPr>
          <a:xfrm>
            <a:off x="64770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D3CD689-CED7-D946-ADEC-157D97EB1602}"/>
              </a:ext>
            </a:extLst>
          </p:cNvPr>
          <p:cNvSpPr txBox="1"/>
          <p:nvPr/>
        </p:nvSpPr>
        <p:spPr>
          <a:xfrm>
            <a:off x="65532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aci.py case.sql --dump-ir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B105AEA-CD4A-B44F-9F00-FFFCCECD5AF5}"/>
              </a:ext>
            </a:extLst>
          </p:cNvPr>
          <p:cNvSpPr txBox="1"/>
          <p:nvPr/>
        </p:nvSpPr>
        <p:spPr>
          <a:xfrm>
            <a:off x="64770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Bei vermutetem False Positive die Anweisung in eine kleine .sql-Datei kopieren und mit --dump-ir prüfen, ob bereits die IR die Anweisung falsch abgrenzt.</a:t>
            </a:r>
          </a:p>
        </p:txBody>
      </p:sp>
      <p:sp>
        <p:nvSpPr>
          <p:cNvPr id="26" name="Pfeil nach rechts 25">
            <a:extLst>
              <a:ext uri="{FF2B5EF4-FFF2-40B4-BE49-F238E27FC236}">
                <a16:creationId xmlns:a16="http://schemas.microsoft.com/office/drawing/2014/main" id="{CFE1B3AB-47E6-7E47-BB3D-C0492C2C405F}"/>
              </a:ext>
            </a:extLst>
          </p:cNvPr>
          <p:cNvSpPr/>
          <p:nvPr/>
        </p:nvSpPr>
        <p:spPr>
          <a:xfrm>
            <a:off x="8826500" y="3454400"/>
            <a:ext cx="177800" cy="203200"/>
          </a:xfrm>
          <a:prstGeom prst="right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EB6306E-AAD2-D44F-A3F3-D733D81DC742}"/>
              </a:ext>
            </a:extLst>
          </p:cNvPr>
          <p:cNvSpPr/>
          <p:nvPr/>
        </p:nvSpPr>
        <p:spPr>
          <a:xfrm>
            <a:off x="9029700" y="2032000"/>
            <a:ext cx="2540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B6387F-C7E5-F441-A1D3-F951F6AEA321}"/>
              </a:ext>
            </a:extLst>
          </p:cNvPr>
          <p:cNvSpPr/>
          <p:nvPr/>
        </p:nvSpPr>
        <p:spPr>
          <a:xfrm>
            <a:off x="9232900" y="2235200"/>
            <a:ext cx="508000" cy="5080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35934DF-06A9-594F-B6AA-699747D8C81B}"/>
              </a:ext>
            </a:extLst>
          </p:cNvPr>
          <p:cNvSpPr txBox="1"/>
          <p:nvPr/>
        </p:nvSpPr>
        <p:spPr>
          <a:xfrm>
            <a:off x="9232900" y="2844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Reproduzierbarkeit prüfen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AD2FE47-0DA5-2F43-BD8C-E85874860C8C}"/>
              </a:ext>
            </a:extLst>
          </p:cNvPr>
          <p:cNvSpPr/>
          <p:nvPr/>
        </p:nvSpPr>
        <p:spPr>
          <a:xfrm>
            <a:off x="9232900" y="3251200"/>
            <a:ext cx="2133600" cy="3302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F5BDF8F-C720-C249-970D-1AABB75A93CC}"/>
              </a:ext>
            </a:extLst>
          </p:cNvPr>
          <p:cNvSpPr txBox="1"/>
          <p:nvPr/>
        </p:nvSpPr>
        <p:spPr>
          <a:xfrm>
            <a:off x="9309100" y="3302000"/>
            <a:ext cx="19812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E97132"/>
                </a:solidFill>
                <a:latin typeface="Consolas"/>
                <a:cs typeface="Consolas"/>
              </a:rPr>
              <a:t>diff ruleset_hash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9493552-D00F-794A-BCB4-B98083FF55E5}"/>
              </a:ext>
            </a:extLst>
          </p:cNvPr>
          <p:cNvSpPr txBox="1"/>
          <p:nvPr/>
        </p:nvSpPr>
        <p:spPr>
          <a:xfrm>
            <a:off x="9232900" y="3657600"/>
            <a:ext cx="2133600" cy="1270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Weicht ein Lauf vom Erwarteten ab: Ruleset-Hash und Vertrauensstatus vergleichen — ein abweichender Hash bedeutet einen veränderten Regelstand.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2F146D7-3061-724C-BE60-6AA258BF9EA7}"/>
              </a:ext>
            </a:extLst>
          </p:cNvPr>
          <p:cNvSpPr/>
          <p:nvPr/>
        </p:nvSpPr>
        <p:spPr>
          <a:xfrm>
            <a:off x="762000" y="5257800"/>
            <a:ext cx="10668000" cy="1016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969EFD9-4B51-834D-8548-1B1F575EC7E2}"/>
              </a:ext>
            </a:extLst>
          </p:cNvPr>
          <p:cNvSpPr/>
          <p:nvPr/>
        </p:nvSpPr>
        <p:spPr>
          <a:xfrm>
            <a:off x="762000" y="5257800"/>
            <a:ext cx="63500" cy="1016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E0EA800-C404-2444-A3FC-FE2207646448}"/>
              </a:ext>
            </a:extLst>
          </p:cNvPr>
          <p:cNvSpPr txBox="1"/>
          <p:nvPr/>
        </p:nvSpPr>
        <p:spPr>
          <a:xfrm>
            <a:off x="990600" y="54102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0F9ED5"/>
                </a:solidFill>
              </a:rPr>
              <a:t>PRAGMATISCHER WEG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D019001-418E-D143-861B-EE800B03388E}"/>
              </a:ext>
            </a:extLst>
          </p:cNvPr>
          <p:cNvSpPr txBox="1"/>
          <p:nvPr/>
        </p:nvSpPr>
        <p:spPr>
          <a:xfrm>
            <a:off x="990600" y="5638800"/>
            <a:ext cx="10414000" cy="558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D4D4D4"/>
                </a:solidFill>
              </a:rPr>
              <a:t>Lokale Änderungen mit »python3 -m compileall -q aci« auf Syntaxfehler prüfen. Akzeptierter Einzelfall: Waiver dokumentieren statt Gate abschwächen. Im Zweifel ein gezieltes manuelles Review.</a:t>
            </a:r>
          </a:p>
        </p:txBody>
      </p:sp>
    </p:spTree>
    <p:extLst>
      <p:ext uri="{BB962C8B-B14F-4D97-AF65-F5344CB8AC3E}">
        <p14:creationId xmlns:p14="http://schemas.microsoft.com/office/powerpoint/2010/main" val="30191906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13F001B-D919-DD47-B3BB-AC2FA62324E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ROADMAP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5CA803-FBDF-5D47-A7B7-E4B8AB4ECBC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Versionshistorie  2.7 → 2.20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60CFE0-5658-314C-93C5-8A683DF7FA3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72CB64-6359-8242-98B6-CB2234039030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Wie sich ACI von einem reinen Pattern-Scanner zum strukturierten Review-Werkzeug mit CI/CD-Härtung entwickelt hat.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825BBB-E3D3-724A-B874-CEC5745E65CF}"/>
              </a:ext>
            </a:extLst>
          </p:cNvPr>
          <p:cNvSpPr/>
          <p:nvPr/>
        </p:nvSpPr>
        <p:spPr>
          <a:xfrm>
            <a:off x="1270000" y="2540000"/>
            <a:ext cx="10160000" cy="25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65D85-25D2-DC40-8662-B229C70F4C6A}"/>
              </a:ext>
            </a:extLst>
          </p:cNvPr>
          <p:cNvSpPr/>
          <p:nvPr/>
        </p:nvSpPr>
        <p:spPr>
          <a:xfrm>
            <a:off x="1092200" y="2374900"/>
            <a:ext cx="355600" cy="355600"/>
          </a:xfrm>
          <a:prstGeom prst="ellipse">
            <a:avLst/>
          </a:prstGeom>
          <a:solidFill>
            <a:srgbClr val="E97132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6432566-77D6-984F-951F-0759757D8A61}"/>
              </a:ext>
            </a:extLst>
          </p:cNvPr>
          <p:cNvSpPr txBox="1"/>
          <p:nvPr/>
        </p:nvSpPr>
        <p:spPr>
          <a:xfrm>
            <a:off x="8890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E97132"/>
                </a:solidFill>
              </a:rPr>
              <a:t>2.7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41CA47-E6B0-DF48-B963-C988BCE14BFB}"/>
              </a:ext>
            </a:extLst>
          </p:cNvPr>
          <p:cNvSpPr/>
          <p:nvPr/>
        </p:nvSpPr>
        <p:spPr>
          <a:xfrm>
            <a:off x="4445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179F9A-0948-3046-9108-3A4857B60AEA}"/>
              </a:ext>
            </a:extLst>
          </p:cNvPr>
          <p:cNvSpPr/>
          <p:nvPr/>
        </p:nvSpPr>
        <p:spPr>
          <a:xfrm>
            <a:off x="444500" y="3175000"/>
            <a:ext cx="1651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64AC055-F75C-204A-A677-D12BD197FFED}"/>
              </a:ext>
            </a:extLst>
          </p:cNvPr>
          <p:cNvSpPr txBox="1"/>
          <p:nvPr/>
        </p:nvSpPr>
        <p:spPr>
          <a:xfrm>
            <a:off x="5461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Taint-Source Modelling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8F0F93C-B476-9A41-9C3F-15D531661AF4}"/>
              </a:ext>
            </a:extLst>
          </p:cNvPr>
          <p:cNvSpPr txBox="1"/>
          <p:nvPr/>
        </p:nvSpPr>
        <p:spPr>
          <a:xfrm>
            <a:off x="5461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1st-/2nd-order SQL-Injection, paket-interne Routinen, SELECT/FETCH … INTO.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6DEFCF-5D64-3442-8713-DDE296CF76F4}"/>
              </a:ext>
            </a:extLst>
          </p:cNvPr>
          <p:cNvSpPr/>
          <p:nvPr/>
        </p:nvSpPr>
        <p:spPr>
          <a:xfrm>
            <a:off x="2984500" y="2374900"/>
            <a:ext cx="355600" cy="355600"/>
          </a:xfrm>
          <a:prstGeom prst="ellipse">
            <a:avLst/>
          </a:prstGeom>
          <a:solidFill>
            <a:srgbClr val="B33A6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2F9AED-3C3A-7A42-8B29-6763A7565514}"/>
              </a:ext>
            </a:extLst>
          </p:cNvPr>
          <p:cNvSpPr txBox="1"/>
          <p:nvPr/>
        </p:nvSpPr>
        <p:spPr>
          <a:xfrm>
            <a:off x="27813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B33A6A"/>
                </a:solidFill>
              </a:rPr>
              <a:t>2.8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1220DA4-1ACF-8E43-BA22-BB6980E05889}"/>
              </a:ext>
            </a:extLst>
          </p:cNvPr>
          <p:cNvSpPr/>
          <p:nvPr/>
        </p:nvSpPr>
        <p:spPr>
          <a:xfrm>
            <a:off x="23368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E8295A1-AD98-1944-971F-D937AEE0C2AE}"/>
              </a:ext>
            </a:extLst>
          </p:cNvPr>
          <p:cNvSpPr/>
          <p:nvPr/>
        </p:nvSpPr>
        <p:spPr>
          <a:xfrm>
            <a:off x="2336800" y="3175000"/>
            <a:ext cx="1651000" cy="50800"/>
          </a:xfrm>
          <a:prstGeom prst="rect">
            <a:avLst/>
          </a:prstGeom>
          <a:solidFill>
            <a:srgbClr val="B33A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ECA34BD-8705-AF49-AA18-A0A79A973C9D}"/>
              </a:ext>
            </a:extLst>
          </p:cNvPr>
          <p:cNvSpPr txBox="1"/>
          <p:nvPr/>
        </p:nvSpPr>
        <p:spPr>
          <a:xfrm>
            <a:off x="24384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Routine Boundaries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6AC38F0-0289-C44B-A862-9198039F32EE}"/>
              </a:ext>
            </a:extLst>
          </p:cNvPr>
          <p:cNvSpPr txBox="1"/>
          <p:nvPr/>
        </p:nvSpPr>
        <p:spPr>
          <a:xfrm>
            <a:off x="24384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END-basierte Routine-Grenzen, Expression-IR, COPY-Client, Taint-Quellen sichtbar.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6A1986-2197-E444-B034-1584F969ADC1}"/>
              </a:ext>
            </a:extLst>
          </p:cNvPr>
          <p:cNvSpPr/>
          <p:nvPr/>
        </p:nvSpPr>
        <p:spPr>
          <a:xfrm>
            <a:off x="4876800" y="2374900"/>
            <a:ext cx="355600" cy="355600"/>
          </a:xfrm>
          <a:prstGeom prst="ellipse">
            <a:avLst/>
          </a:prstGeom>
          <a:solidFill>
            <a:srgbClr val="0E7C61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8AF8FA8-4ECE-D540-90ED-EC917844CB54}"/>
              </a:ext>
            </a:extLst>
          </p:cNvPr>
          <p:cNvSpPr txBox="1"/>
          <p:nvPr/>
        </p:nvSpPr>
        <p:spPr>
          <a:xfrm>
            <a:off x="46736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0E7C61"/>
                </a:solidFill>
              </a:rPr>
              <a:t>2.9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3A9DD1E-90FD-BD4F-A505-67286D7594D4}"/>
              </a:ext>
            </a:extLst>
          </p:cNvPr>
          <p:cNvSpPr/>
          <p:nvPr/>
        </p:nvSpPr>
        <p:spPr>
          <a:xfrm>
            <a:off x="42291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9CA295D-B72A-AE48-B294-EBDFFB43E473}"/>
              </a:ext>
            </a:extLst>
          </p:cNvPr>
          <p:cNvSpPr/>
          <p:nvPr/>
        </p:nvSpPr>
        <p:spPr>
          <a:xfrm>
            <a:off x="4229100" y="3175000"/>
            <a:ext cx="1651000" cy="50800"/>
          </a:xfrm>
          <a:prstGeom prst="rect">
            <a:avLst/>
          </a:prstGeom>
          <a:solidFill>
            <a:srgbClr val="0E7C6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3DB08AF-183C-B049-A469-393ED1E9741A}"/>
              </a:ext>
            </a:extLst>
          </p:cNvPr>
          <p:cNvSpPr txBox="1"/>
          <p:nvPr/>
        </p:nvSpPr>
        <p:spPr>
          <a:xfrm>
            <a:off x="43307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Erweiterte Coverage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97B011A-1966-4F4E-A077-41FA480D3B84}"/>
              </a:ext>
            </a:extLst>
          </p:cNvPr>
          <p:cNvSpPr txBox="1"/>
          <p:nvPr/>
        </p:nvSpPr>
        <p:spPr>
          <a:xfrm>
            <a:off x="43307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~2 Dutzend neue Regeln: Cloud/Data Movement, RLS, predefined Roles, EPAS-Pakete.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C9013F-E812-DB4A-9A74-39B5E7AC7B2D}"/>
              </a:ext>
            </a:extLst>
          </p:cNvPr>
          <p:cNvSpPr/>
          <p:nvPr/>
        </p:nvSpPr>
        <p:spPr>
          <a:xfrm>
            <a:off x="6769100" y="2374900"/>
            <a:ext cx="355600" cy="355600"/>
          </a:xfrm>
          <a:prstGeom prst="ellipse">
            <a:avLst/>
          </a:prstGeom>
          <a:solidFill>
            <a:srgbClr val="C0392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B15209-AC34-A74A-A3D8-7D4B60D14C10}"/>
              </a:ext>
            </a:extLst>
          </p:cNvPr>
          <p:cNvSpPr txBox="1"/>
          <p:nvPr/>
        </p:nvSpPr>
        <p:spPr>
          <a:xfrm>
            <a:off x="65659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C0392B"/>
                </a:solidFill>
              </a:rPr>
              <a:t>2.10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26D4DFB-1BBA-E949-B502-B16CE0F54F9C}"/>
              </a:ext>
            </a:extLst>
          </p:cNvPr>
          <p:cNvSpPr/>
          <p:nvPr/>
        </p:nvSpPr>
        <p:spPr>
          <a:xfrm>
            <a:off x="61214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CA71928-6822-A449-8C3B-F6420BA23C13}"/>
              </a:ext>
            </a:extLst>
          </p:cNvPr>
          <p:cNvSpPr/>
          <p:nvPr/>
        </p:nvSpPr>
        <p:spPr>
          <a:xfrm>
            <a:off x="6121400" y="3175000"/>
            <a:ext cx="1651000" cy="508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B93C0AA-1EFE-BC4A-B44A-0B0793AFB307}"/>
              </a:ext>
            </a:extLst>
          </p:cNvPr>
          <p:cNvSpPr txBox="1"/>
          <p:nvPr/>
        </p:nvSpPr>
        <p:spPr>
          <a:xfrm>
            <a:off x="62230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Waiver + Hash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2BDD7BD-3494-E54A-979E-423647031AB9}"/>
              </a:ext>
            </a:extLst>
          </p:cNvPr>
          <p:cNvSpPr txBox="1"/>
          <p:nvPr/>
        </p:nvSpPr>
        <p:spPr>
          <a:xfrm>
            <a:off x="62230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Audit-tauglich: Ausnahmeprozess mit Ablauf, Ruleset-Hash, --require-trusted-rules.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5FADC04-2E1C-D84D-BE3B-22FFC72D4F3A}"/>
              </a:ext>
            </a:extLst>
          </p:cNvPr>
          <p:cNvSpPr/>
          <p:nvPr/>
        </p:nvSpPr>
        <p:spPr>
          <a:xfrm>
            <a:off x="8661400" y="2374900"/>
            <a:ext cx="355600" cy="355600"/>
          </a:xfrm>
          <a:prstGeom prst="ellipse">
            <a:avLst/>
          </a:prstGeom>
          <a:solidFill>
            <a:srgbClr val="7A5CFF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EC3B55F-21D5-554A-95F7-68E4D2FCA2EB}"/>
              </a:ext>
            </a:extLst>
          </p:cNvPr>
          <p:cNvSpPr txBox="1"/>
          <p:nvPr/>
        </p:nvSpPr>
        <p:spPr>
          <a:xfrm>
            <a:off x="84582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7A5CFF"/>
                </a:solidFill>
              </a:rPr>
              <a:t>2.11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B84B860-55FE-A142-A79C-0F3189FEECA7}"/>
              </a:ext>
            </a:extLst>
          </p:cNvPr>
          <p:cNvSpPr/>
          <p:nvPr/>
        </p:nvSpPr>
        <p:spPr>
          <a:xfrm>
            <a:off x="80137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D746927-7329-4243-BE18-EFC529649FEB}"/>
              </a:ext>
            </a:extLst>
          </p:cNvPr>
          <p:cNvSpPr/>
          <p:nvPr/>
        </p:nvSpPr>
        <p:spPr>
          <a:xfrm>
            <a:off x="8013700" y="3175000"/>
            <a:ext cx="1651000" cy="50800"/>
          </a:xfrm>
          <a:prstGeom prst="rect">
            <a:avLst/>
          </a:prstGeom>
          <a:solidFill>
            <a:srgbClr val="7A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26526F8-62E1-834F-9ABA-FD538C1232E9}"/>
              </a:ext>
            </a:extLst>
          </p:cNvPr>
          <p:cNvSpPr txBox="1"/>
          <p:nvPr/>
        </p:nvSpPr>
        <p:spPr>
          <a:xfrm>
            <a:off x="81153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Modulare Struktur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22B91E7-1C04-CF46-8D81-D30F0CB4BDA0}"/>
              </a:ext>
            </a:extLst>
          </p:cNvPr>
          <p:cNvSpPr txBox="1"/>
          <p:nvPr/>
        </p:nvSpPr>
        <p:spPr>
          <a:xfrm>
            <a:off x="81153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checks/ und reporting/ als Unterpakete; parser.py / ir.py getrennt; integrity.py eigenständig.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69A59D-4995-AC4C-BF8F-F6C1C3ADB8F7}"/>
              </a:ext>
            </a:extLst>
          </p:cNvPr>
          <p:cNvSpPr/>
          <p:nvPr/>
        </p:nvSpPr>
        <p:spPr>
          <a:xfrm>
            <a:off x="10553700" y="2374900"/>
            <a:ext cx="355600" cy="355600"/>
          </a:xfrm>
          <a:prstGeom prst="ellipse">
            <a:avLst/>
          </a:prstGeom>
          <a:solidFill>
            <a:srgbClr val="156082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E55B486-B04A-AE48-BF3E-6E0B6583251D}"/>
              </a:ext>
            </a:extLst>
          </p:cNvPr>
          <p:cNvSpPr txBox="1"/>
          <p:nvPr/>
        </p:nvSpPr>
        <p:spPr>
          <a:xfrm>
            <a:off x="10350500" y="2794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156082"/>
                </a:solidFill>
              </a:rPr>
              <a:t>2.12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7AF5373-23A7-7A43-892A-730B8A852C7D}"/>
              </a:ext>
            </a:extLst>
          </p:cNvPr>
          <p:cNvSpPr/>
          <p:nvPr/>
        </p:nvSpPr>
        <p:spPr>
          <a:xfrm>
            <a:off x="9906000" y="3175000"/>
            <a:ext cx="1651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427EBBB-135C-1941-9E22-08DAF44F6927}"/>
              </a:ext>
            </a:extLst>
          </p:cNvPr>
          <p:cNvSpPr/>
          <p:nvPr/>
        </p:nvSpPr>
        <p:spPr>
          <a:xfrm>
            <a:off x="9906000" y="3175000"/>
            <a:ext cx="1651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A39D4E6-CE12-2645-A7EC-9FA46370305B}"/>
              </a:ext>
            </a:extLst>
          </p:cNvPr>
          <p:cNvSpPr txBox="1"/>
          <p:nvPr/>
        </p:nvSpPr>
        <p:spPr>
          <a:xfrm>
            <a:off x="10007600" y="3327400"/>
            <a:ext cx="1447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CI-Profile + SARIF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BBE4BBB-7B44-2B4D-BA31-7A2CAC4CB76A}"/>
              </a:ext>
            </a:extLst>
          </p:cNvPr>
          <p:cNvSpPr txBox="1"/>
          <p:nvPr/>
        </p:nvSpPr>
        <p:spPr>
          <a:xfrm>
            <a:off x="10007600" y="3886200"/>
            <a:ext cx="1447800" cy="144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Vordefinierte --profile-Bündel (ci/audit), SARIF-Regelkatalog je Regelreferenz, --strict-internal-errors.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BCBD50B-E19D-8D47-B356-B4F5349DA6C2}"/>
              </a:ext>
            </a:extLst>
          </p:cNvPr>
          <p:cNvSpPr/>
          <p:nvPr/>
        </p:nvSpPr>
        <p:spPr>
          <a:xfrm>
            <a:off x="762000" y="5638800"/>
            <a:ext cx="10668000" cy="812800"/>
          </a:xfrm>
          <a:prstGeom prst="rect">
            <a:avLst/>
          </a:prstGeom>
          <a:solidFill>
            <a:srgbClr val="FFFA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74DD93B-C705-F740-AAC8-FBD04BAEEDCC}"/>
              </a:ext>
            </a:extLst>
          </p:cNvPr>
          <p:cNvSpPr/>
          <p:nvPr/>
        </p:nvSpPr>
        <p:spPr>
          <a:xfrm>
            <a:off x="762000" y="5638800"/>
            <a:ext cx="635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525BB9E-DBB3-2C4A-8B13-58D8DFCE7821}"/>
              </a:ext>
            </a:extLst>
          </p:cNvPr>
          <p:cNvSpPr txBox="1"/>
          <p:nvPr/>
        </p:nvSpPr>
        <p:spPr>
          <a:xfrm>
            <a:off x="990600" y="5740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AKTUELL · 2.20.1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4D91D88-5FF9-BC4B-B0D1-515531E2BE5A}"/>
              </a:ext>
            </a:extLst>
          </p:cNvPr>
          <p:cNvSpPr txBox="1"/>
          <p:nvPr/>
        </p:nvSpPr>
        <p:spPr>
          <a:xfrm>
            <a:off x="990600" y="5969000"/>
            <a:ext cx="10414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ACI 2.20.1 erweitert Sicherheit &amp; Hardening deutlich: vordefinierte CI-Profile, kontrollierter Waiver-Ausnahmeprozess, überprüfbarer Regelstand (Ruleset-Hash) und feingranulare SARIF-Integration für Code-Scanning-Dashboards.</a:t>
            </a:r>
          </a:p>
        </p:txBody>
      </p:sp>
    </p:spTree>
    <p:extLst>
      <p:ext uri="{BB962C8B-B14F-4D97-AF65-F5344CB8AC3E}">
        <p14:creationId xmlns:p14="http://schemas.microsoft.com/office/powerpoint/2010/main" val="2904513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13F001B-D919-DD47-B3BB-AC2FA62324E5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LIZENZ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5CA803-FBDF-5D47-A7B7-E4B8AB4ECBC6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Open Source · gemischt lizenziert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60CFE0-5658-314C-93C5-8A683DF7FA32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72CB64-6359-8242-98B6-CB2234039030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ACI ist Open Source. Der eigene Code steht unter MIT; abgeleitete Regelinhalte tragen ihre Originallizenz.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825BBB-E3D3-724A-B874-CEC5745E65CF}"/>
              </a:ext>
            </a:extLst>
          </p:cNvPr>
          <p:cNvSpPr/>
          <p:nvPr/>
        </p:nvSpPr>
        <p:spPr>
          <a:xfrm>
            <a:off x="1270000" y="2540000"/>
            <a:ext cx="10160000" cy="25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65D85-25D2-DC40-8662-B229C70F4C6A}"/>
              </a:ext>
            </a:extLst>
          </p:cNvPr>
          <p:cNvSpPr/>
          <p:nvPr/>
        </p:nvSpPr>
        <p:spPr>
          <a:xfrm>
            <a:off x="2235200" y="2374900"/>
            <a:ext cx="355600" cy="355600"/>
          </a:xfrm>
          <a:prstGeom prst="ellipse">
            <a:avLst/>
          </a:prstGeom>
          <a:solidFill>
            <a:srgbClr val="E97132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6432566-77D6-984F-951F-0759757D8A61}"/>
              </a:ext>
            </a:extLst>
          </p:cNvPr>
          <p:cNvSpPr txBox="1"/>
          <p:nvPr/>
        </p:nvSpPr>
        <p:spPr>
          <a:xfrm>
            <a:off x="1524000" y="27940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E97132"/>
                </a:solidFill>
              </a:rPr>
              <a:t>MIT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41CA47-E6B0-DF48-B963-C988BCE14BFB}"/>
              </a:ext>
            </a:extLst>
          </p:cNvPr>
          <p:cNvSpPr/>
          <p:nvPr/>
        </p:nvSpPr>
        <p:spPr>
          <a:xfrm>
            <a:off x="762000" y="3175000"/>
            <a:ext cx="3302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179F9A-0948-3046-9108-3A4857B60AEA}"/>
              </a:ext>
            </a:extLst>
          </p:cNvPr>
          <p:cNvSpPr/>
          <p:nvPr/>
        </p:nvSpPr>
        <p:spPr>
          <a:xfrm>
            <a:off x="762000" y="3175000"/>
            <a:ext cx="3302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64AC055-F75C-204A-A677-D12BD197FFED}"/>
              </a:ext>
            </a:extLst>
          </p:cNvPr>
          <p:cNvSpPr txBox="1"/>
          <p:nvPr/>
        </p:nvSpPr>
        <p:spPr>
          <a:xfrm>
            <a:off x="863600" y="3327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ACI · eigener Code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8F0F93C-B476-9A41-9C3F-15D531661AF4}"/>
              </a:ext>
            </a:extLst>
          </p:cNvPr>
          <p:cNvSpPr txBox="1"/>
          <p:nvPr/>
        </p:nvSpPr>
        <p:spPr>
          <a:xfrm>
            <a:off x="863600" y="3886200"/>
            <a:ext cx="3098800" cy="165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Copyright © 2026 Alexander Kornbrust. Umfasst den ACI-Code und die PL/pgSQL-Guidelines. Datei LICENSE im Repository.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6DEFCF-5D64-3442-8713-DDE296CF76F4}"/>
              </a:ext>
            </a:extLst>
          </p:cNvPr>
          <p:cNvSpPr/>
          <p:nvPr/>
        </p:nvSpPr>
        <p:spPr>
          <a:xfrm>
            <a:off x="5918200" y="2374900"/>
            <a:ext cx="355600" cy="355600"/>
          </a:xfrm>
          <a:prstGeom prst="ellipse">
            <a:avLst/>
          </a:prstGeom>
          <a:solidFill>
            <a:srgbClr val="B33A6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2F9AED-3C3A-7A42-8B29-6763A7565514}"/>
              </a:ext>
            </a:extLst>
          </p:cNvPr>
          <p:cNvSpPr txBox="1"/>
          <p:nvPr/>
        </p:nvSpPr>
        <p:spPr>
          <a:xfrm>
            <a:off x="5207000" y="27940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E97132"/>
                </a:solidFill>
              </a:rPr>
              <a:t>Apache-2.0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1220DA4-1ACF-8E43-BA22-BB6980E05889}"/>
              </a:ext>
            </a:extLst>
          </p:cNvPr>
          <p:cNvSpPr/>
          <p:nvPr/>
        </p:nvSpPr>
        <p:spPr>
          <a:xfrm>
            <a:off x="4445000" y="3175000"/>
            <a:ext cx="3302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E8295A1-AD98-1944-971F-D937AEE0C2AE}"/>
              </a:ext>
            </a:extLst>
          </p:cNvPr>
          <p:cNvSpPr/>
          <p:nvPr/>
        </p:nvSpPr>
        <p:spPr>
          <a:xfrm>
            <a:off x="4445000" y="3175000"/>
            <a:ext cx="3302000" cy="50800"/>
          </a:xfrm>
          <a:prstGeom prst="rect">
            <a:avLst/>
          </a:prstGeom>
          <a:solidFill>
            <a:srgbClr val="B33A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ECA34BD-8705-AF49-AA18-A0A79A973C9D}"/>
              </a:ext>
            </a:extLst>
          </p:cNvPr>
          <p:cNvSpPr txBox="1"/>
          <p:nvPr/>
        </p:nvSpPr>
        <p:spPr>
          <a:xfrm>
            <a:off x="4546600" y="3327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Oracle-Coding-Guidelines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6AC38F0-0289-C44B-A862-9198039F32EE}"/>
              </a:ext>
            </a:extLst>
          </p:cNvPr>
          <p:cNvSpPr txBox="1"/>
          <p:nvPr/>
        </p:nvSpPr>
        <p:spPr>
          <a:xfrm>
            <a:off x="4546600" y="3886200"/>
            <a:ext cx="3098800" cy="165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Abgeleitet aus den Trivadis PL/SQL &amp; SQL Coding Guidelines v4.4. Lizenztext: licenses/Apache-2.0.txt. Attribution in NOTICE.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6A1986-2197-E444-B034-1584F969ADC1}"/>
              </a:ext>
            </a:extLst>
          </p:cNvPr>
          <p:cNvSpPr/>
          <p:nvPr/>
        </p:nvSpPr>
        <p:spPr>
          <a:xfrm>
            <a:off x="9601200" y="2374900"/>
            <a:ext cx="355600" cy="355600"/>
          </a:xfrm>
          <a:prstGeom prst="ellipse">
            <a:avLst/>
          </a:prstGeom>
          <a:solidFill>
            <a:srgbClr val="0E7C61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8AF8FA8-4ECE-D540-90ED-EC917844CB54}"/>
              </a:ext>
            </a:extLst>
          </p:cNvPr>
          <p:cNvSpPr txBox="1"/>
          <p:nvPr/>
        </p:nvSpPr>
        <p:spPr>
          <a:xfrm>
            <a:off x="8890000" y="27940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600" b="1">
                <a:solidFill>
                  <a:srgbClr val="E97132"/>
                </a:solidFill>
              </a:rPr>
              <a:t>Referenz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3A9DD1E-90FD-BD4F-A505-67286D7594D4}"/>
              </a:ext>
            </a:extLst>
          </p:cNvPr>
          <p:cNvSpPr/>
          <p:nvPr/>
        </p:nvSpPr>
        <p:spPr>
          <a:xfrm>
            <a:off x="8128000" y="3175000"/>
            <a:ext cx="3302000" cy="226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9CA295D-B72A-AE48-B294-EBDFFB43E473}"/>
              </a:ext>
            </a:extLst>
          </p:cNvPr>
          <p:cNvSpPr/>
          <p:nvPr/>
        </p:nvSpPr>
        <p:spPr>
          <a:xfrm>
            <a:off x="8128000" y="3175000"/>
            <a:ext cx="3302000" cy="50800"/>
          </a:xfrm>
          <a:prstGeom prst="rect">
            <a:avLst/>
          </a:prstGeom>
          <a:solidFill>
            <a:srgbClr val="0E7C6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3DB08AF-183C-B049-A469-393ED1E9741A}"/>
              </a:ext>
            </a:extLst>
          </p:cNvPr>
          <p:cNvSpPr txBox="1"/>
          <p:nvPr/>
        </p:nvSpPr>
        <p:spPr>
          <a:xfrm>
            <a:off x="8229600" y="3327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 b="1">
                <a:solidFill>
                  <a:srgbClr val="0E2841"/>
                </a:solidFill>
              </a:rPr>
              <a:t>MITRE ATT&amp;CK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97B011A-1966-4F4E-A077-41FA480D3B84}"/>
              </a:ext>
            </a:extLst>
          </p:cNvPr>
          <p:cNvSpPr txBox="1"/>
          <p:nvPr/>
        </p:nvSpPr>
        <p:spPr>
          <a:xfrm>
            <a:off x="8229600" y="3886200"/>
            <a:ext cx="3098800" cy="1651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50">
                <a:solidFill>
                  <a:srgbClr val="444444"/>
                </a:solidFill>
              </a:rPr>
              <a:t>Die Technikzuordnungen verweisen auf das MITRE-ATT&amp;CK-Framework. Eigentum der jeweiligen Rechteinhaber.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BCBD50B-E19D-8D47-B356-B4F5349DA6C2}"/>
              </a:ext>
            </a:extLst>
          </p:cNvPr>
          <p:cNvSpPr/>
          <p:nvPr/>
        </p:nvSpPr>
        <p:spPr>
          <a:xfrm>
            <a:off x="762000" y="5638800"/>
            <a:ext cx="10668000" cy="812800"/>
          </a:xfrm>
          <a:prstGeom prst="rect">
            <a:avLst/>
          </a:prstGeom>
          <a:solidFill>
            <a:srgbClr val="FFFA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74DD93B-C705-F740-AAC8-FBD04BAEEDCC}"/>
              </a:ext>
            </a:extLst>
          </p:cNvPr>
          <p:cNvSpPr/>
          <p:nvPr/>
        </p:nvSpPr>
        <p:spPr>
          <a:xfrm>
            <a:off x="762000" y="5638800"/>
            <a:ext cx="635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525BB9E-DBB3-2C4A-8B13-58D8DFCE7821}"/>
              </a:ext>
            </a:extLst>
          </p:cNvPr>
          <p:cNvSpPr txBox="1"/>
          <p:nvPr/>
        </p:nvSpPr>
        <p:spPr>
          <a:xfrm>
            <a:off x="990600" y="57404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000" b="1">
                <a:solidFill>
                  <a:srgbClr val="E97132"/>
                </a:solidFill>
              </a:rPr>
              <a:t>HINWEIS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4D91D88-5FF9-BC4B-B0D1-515531E2BE5A}"/>
              </a:ext>
            </a:extLst>
          </p:cNvPr>
          <p:cNvSpPr txBox="1"/>
          <p:nvPr/>
        </p:nvSpPr>
        <p:spPr>
          <a:xfrm>
            <a:off x="990600" y="5969000"/>
            <a:ext cx="10414000" cy="4572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200">
                <a:solidFill>
                  <a:srgbClr val="0E2841"/>
                </a:solidFill>
              </a:rPr>
              <a:t>Regeldateien sind Teil der Trust Boundary — wer aci/rules/ manipulieren kann, schwächt den CI/CD-Gate. ACI weist je Datei den Vertrauensstatus aus; mit --require-trusted-rules wird daraus ein harter Kontrollpunkt.</a:t>
            </a:r>
          </a:p>
        </p:txBody>
      </p:sp>
    </p:spTree>
    <p:extLst>
      <p:ext uri="{BB962C8B-B14F-4D97-AF65-F5344CB8AC3E}">
        <p14:creationId xmlns:p14="http://schemas.microsoft.com/office/powerpoint/2010/main" val="20299388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5653A22-96AA-3E40-8B59-68A8F649246C}"/>
              </a:ext>
            </a:extLst>
          </p:cNvPr>
          <p:cNvSpPr txBox="1"/>
          <p:nvPr/>
        </p:nvSpPr>
        <p:spPr>
          <a:xfrm>
            <a:off x="762000" y="4572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 b="1">
                <a:solidFill>
                  <a:srgbClr val="E97132"/>
                </a:solidFill>
              </a:rPr>
              <a:t>REFERENZ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A26BDF-DA88-8E40-A89A-8230F9678500}"/>
              </a:ext>
            </a:extLst>
          </p:cNvPr>
          <p:cNvSpPr txBox="1"/>
          <p:nvPr/>
        </p:nvSpPr>
        <p:spPr>
          <a:xfrm>
            <a:off x="762000" y="736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3000" b="1">
                <a:solidFill>
                  <a:srgbClr val="0E2841"/>
                </a:solidFill>
                <a:latin typeface="Calibri Light"/>
                <a:cs typeface="Calibri Light"/>
              </a:rPr>
              <a:t>Glossar — Begriffe auf einen Blick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B41BEA-33B3-6949-B49F-52557009160F}"/>
              </a:ext>
            </a:extLst>
          </p:cNvPr>
          <p:cNvSpPr/>
          <p:nvPr/>
        </p:nvSpPr>
        <p:spPr>
          <a:xfrm>
            <a:off x="762000" y="1397000"/>
            <a:ext cx="635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A8EF9FF-6DE9-FF4E-AFF6-25DB3F871CF5}"/>
              </a:ext>
            </a:extLst>
          </p:cNvPr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555555"/>
                </a:solidFill>
              </a:rPr>
              <a:t>Die wichtigsten Fachbegriffe aus dieser Präsentation und der ACI-Dokumentation.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E3DF2D4-C148-C24C-80FC-136D3C4A0EDC}"/>
              </a:ext>
            </a:extLst>
          </p:cNvPr>
          <p:cNvSpPr/>
          <p:nvPr/>
        </p:nvSpPr>
        <p:spPr>
          <a:xfrm>
            <a:off x="762000" y="20574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E95D23-9427-A740-9CCA-A822F4C17235}"/>
              </a:ext>
            </a:extLst>
          </p:cNvPr>
          <p:cNvSpPr/>
          <p:nvPr/>
        </p:nvSpPr>
        <p:spPr>
          <a:xfrm>
            <a:off x="762000" y="20574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D595C8-A839-BC49-AE83-3103521DAC54}"/>
              </a:ext>
            </a:extLst>
          </p:cNvPr>
          <p:cNvSpPr txBox="1"/>
          <p:nvPr/>
        </p:nvSpPr>
        <p:spPr>
          <a:xfrm>
            <a:off x="939800" y="21463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Check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6B4755-0F44-1347-B115-BCDA1800A230}"/>
              </a:ext>
            </a:extLst>
          </p:cNvPr>
          <p:cNvSpPr txBox="1"/>
          <p:nvPr/>
        </p:nvSpPr>
        <p:spPr>
          <a:xfrm>
            <a:off x="939800" y="2387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Prüfeinheit im Code, die eine oder mehrere Regeln auswertet.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2A917ED-0603-F14B-876B-09AF877127E8}"/>
              </a:ext>
            </a:extLst>
          </p:cNvPr>
          <p:cNvSpPr/>
          <p:nvPr/>
        </p:nvSpPr>
        <p:spPr>
          <a:xfrm>
            <a:off x="6223000" y="20574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B962675-4DCE-2641-94FB-E7D7B2D67F61}"/>
              </a:ext>
            </a:extLst>
          </p:cNvPr>
          <p:cNvSpPr/>
          <p:nvPr/>
        </p:nvSpPr>
        <p:spPr>
          <a:xfrm>
            <a:off x="6223000" y="20574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D9E9AE7-DA12-6B44-B7D8-E61FDDF8FB29}"/>
              </a:ext>
            </a:extLst>
          </p:cNvPr>
          <p:cNvSpPr txBox="1"/>
          <p:nvPr/>
        </p:nvSpPr>
        <p:spPr>
          <a:xfrm>
            <a:off x="6400800" y="21463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Regel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37E9BCC-E259-B94D-97C0-A996AE05BF3A}"/>
              </a:ext>
            </a:extLst>
          </p:cNvPr>
          <p:cNvSpPr txBox="1"/>
          <p:nvPr/>
        </p:nvSpPr>
        <p:spPr>
          <a:xfrm>
            <a:off x="6400800" y="2387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In JSON beschriebenes Prüfmuster — Wortliste, Regex oder Builtin.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F4D685D-ACE7-6B42-9508-D7E62BEAFD3E}"/>
              </a:ext>
            </a:extLst>
          </p:cNvPr>
          <p:cNvSpPr/>
          <p:nvPr/>
        </p:nvSpPr>
        <p:spPr>
          <a:xfrm>
            <a:off x="762000" y="27686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D2DC550-6A62-1444-A614-0AC43A872631}"/>
              </a:ext>
            </a:extLst>
          </p:cNvPr>
          <p:cNvSpPr/>
          <p:nvPr/>
        </p:nvSpPr>
        <p:spPr>
          <a:xfrm>
            <a:off x="762000" y="27686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9129B47-EABA-CB44-B012-CD294E6CF67D}"/>
              </a:ext>
            </a:extLst>
          </p:cNvPr>
          <p:cNvSpPr txBox="1"/>
          <p:nvPr/>
        </p:nvSpPr>
        <p:spPr>
          <a:xfrm>
            <a:off x="939800" y="28575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Finding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E66DDB8-7957-5A4B-A764-BBF3F18A29DE}"/>
              </a:ext>
            </a:extLst>
          </p:cNvPr>
          <p:cNvSpPr txBox="1"/>
          <p:nvPr/>
        </p:nvSpPr>
        <p:spPr>
          <a:xfrm>
            <a:off x="939800" y="30988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Einzelner Befund mit Regel, Schweregrad, Datei, Zeile, Meldung.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79379D0-A5D5-1445-8E23-285AC6D6F12C}"/>
              </a:ext>
            </a:extLst>
          </p:cNvPr>
          <p:cNvSpPr/>
          <p:nvPr/>
        </p:nvSpPr>
        <p:spPr>
          <a:xfrm>
            <a:off x="6223000" y="27686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B867876-470C-D44B-B6EE-254D18E03C5E}"/>
              </a:ext>
            </a:extLst>
          </p:cNvPr>
          <p:cNvSpPr/>
          <p:nvPr/>
        </p:nvSpPr>
        <p:spPr>
          <a:xfrm>
            <a:off x="6223000" y="27686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0CA58AD-4901-CC4B-9806-D51728BC9C72}"/>
              </a:ext>
            </a:extLst>
          </p:cNvPr>
          <p:cNvSpPr txBox="1"/>
          <p:nvPr/>
        </p:nvSpPr>
        <p:spPr>
          <a:xfrm>
            <a:off x="6400800" y="28575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IR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939E7A-8101-204C-B502-17BF8C599023}"/>
              </a:ext>
            </a:extLst>
          </p:cNvPr>
          <p:cNvSpPr txBox="1"/>
          <p:nvPr/>
        </p:nvSpPr>
        <p:spPr>
          <a:xfrm>
            <a:off x="6400800" y="30988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Leichtgewichtige Zwischenform (Routinen, Statements, dyn. SQL).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E6A8352-AF2D-F544-9409-4992E3CB8EC5}"/>
              </a:ext>
            </a:extLst>
          </p:cNvPr>
          <p:cNvSpPr/>
          <p:nvPr/>
        </p:nvSpPr>
        <p:spPr>
          <a:xfrm>
            <a:off x="762000" y="34798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629E717-BF3D-104E-98C9-2F541F96A469}"/>
              </a:ext>
            </a:extLst>
          </p:cNvPr>
          <p:cNvSpPr/>
          <p:nvPr/>
        </p:nvSpPr>
        <p:spPr>
          <a:xfrm>
            <a:off x="762000" y="34798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43DB9D1-7745-D94F-BC48-081500919C15}"/>
              </a:ext>
            </a:extLst>
          </p:cNvPr>
          <p:cNvSpPr txBox="1"/>
          <p:nvPr/>
        </p:nvSpPr>
        <p:spPr>
          <a:xfrm>
            <a:off x="939800" y="35687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Maskierung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94BB02B-39B1-754B-BC88-CD2500C517D1}"/>
              </a:ext>
            </a:extLst>
          </p:cNvPr>
          <p:cNvSpPr txBox="1"/>
          <p:nvPr/>
        </p:nvSpPr>
        <p:spPr>
          <a:xfrm>
            <a:off x="939800" y="38100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Codefassung, in der Kommentar- und String-Inhalte ersetzt sind.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54E20DE-1BAD-064D-9461-845FE82E0345}"/>
              </a:ext>
            </a:extLst>
          </p:cNvPr>
          <p:cNvSpPr/>
          <p:nvPr/>
        </p:nvSpPr>
        <p:spPr>
          <a:xfrm>
            <a:off x="6223000" y="34798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62272E8-5283-F348-BB43-9312841042A7}"/>
              </a:ext>
            </a:extLst>
          </p:cNvPr>
          <p:cNvSpPr/>
          <p:nvPr/>
        </p:nvSpPr>
        <p:spPr>
          <a:xfrm>
            <a:off x="6223000" y="34798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ABAD9F4-4EF5-5D4F-8799-C9AAEDD218E0}"/>
              </a:ext>
            </a:extLst>
          </p:cNvPr>
          <p:cNvSpPr txBox="1"/>
          <p:nvPr/>
        </p:nvSpPr>
        <p:spPr>
          <a:xfrm>
            <a:off x="6400800" y="35687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Taint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99A7BEA-4BDF-5447-83D9-7D7BFE6E9442}"/>
              </a:ext>
            </a:extLst>
          </p:cNvPr>
          <p:cNvSpPr txBox="1"/>
          <p:nvPr/>
        </p:nvSpPr>
        <p:spPr>
          <a:xfrm>
            <a:off x="6400800" y="38100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Wert aus einer ungeprüften Quelle (Parameter, Tabelle, Cursor).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077D398-2556-424C-9190-BF5FA85095D9}"/>
              </a:ext>
            </a:extLst>
          </p:cNvPr>
          <p:cNvSpPr/>
          <p:nvPr/>
        </p:nvSpPr>
        <p:spPr>
          <a:xfrm>
            <a:off x="762000" y="41910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2AC03C0-FF04-514C-A8A5-8C05760B551A}"/>
              </a:ext>
            </a:extLst>
          </p:cNvPr>
          <p:cNvSpPr/>
          <p:nvPr/>
        </p:nvSpPr>
        <p:spPr>
          <a:xfrm>
            <a:off x="762000" y="41910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D616B53-02DC-904E-A3F6-F1A9D2734E72}"/>
              </a:ext>
            </a:extLst>
          </p:cNvPr>
          <p:cNvSpPr txBox="1"/>
          <p:nvPr/>
        </p:nvSpPr>
        <p:spPr>
          <a:xfrm>
            <a:off x="939800" y="42799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Sink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59DDFB7-F2DC-F248-B14C-111B9BC14965}"/>
              </a:ext>
            </a:extLst>
          </p:cNvPr>
          <p:cNvSpPr txBox="1"/>
          <p:nvPr/>
        </p:nvSpPr>
        <p:spPr>
          <a:xfrm>
            <a:off x="939800" y="45212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Stelle, an der ein getainteter Wert gefährlich wird (EXECUTE IMMEDIATE).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F0BF2B3-3757-A54E-855D-3540A41F9E4A}"/>
              </a:ext>
            </a:extLst>
          </p:cNvPr>
          <p:cNvSpPr/>
          <p:nvPr/>
        </p:nvSpPr>
        <p:spPr>
          <a:xfrm>
            <a:off x="6223000" y="41910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E82951B-BA52-BE4B-836C-06FA53266706}"/>
              </a:ext>
            </a:extLst>
          </p:cNvPr>
          <p:cNvSpPr/>
          <p:nvPr/>
        </p:nvSpPr>
        <p:spPr>
          <a:xfrm>
            <a:off x="6223000" y="41910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9D77E3B-3673-3147-A66F-9C1C7D21C265}"/>
              </a:ext>
            </a:extLst>
          </p:cNvPr>
          <p:cNvSpPr txBox="1"/>
          <p:nvPr/>
        </p:nvSpPr>
        <p:spPr>
          <a:xfrm>
            <a:off x="6400800" y="42799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Fingerprint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91602E4-52AF-9946-AB4E-A9B4F744E244}"/>
              </a:ext>
            </a:extLst>
          </p:cNvPr>
          <p:cNvSpPr txBox="1"/>
          <p:nvPr/>
        </p:nvSpPr>
        <p:spPr>
          <a:xfrm>
            <a:off x="6400800" y="45212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SHA-256-Hash, der einen Waiver inhaltsgebunden an ein Finding bindet.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B05A066-AA08-6447-B7E9-F694F3EE40C2}"/>
              </a:ext>
            </a:extLst>
          </p:cNvPr>
          <p:cNvSpPr/>
          <p:nvPr/>
        </p:nvSpPr>
        <p:spPr>
          <a:xfrm>
            <a:off x="762000" y="49022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8D7BAFA-1F3A-1042-9722-D6DFA6CBAD30}"/>
              </a:ext>
            </a:extLst>
          </p:cNvPr>
          <p:cNvSpPr/>
          <p:nvPr/>
        </p:nvSpPr>
        <p:spPr>
          <a:xfrm>
            <a:off x="762000" y="49022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8419F80-0F13-434F-986E-790388671A6A}"/>
              </a:ext>
            </a:extLst>
          </p:cNvPr>
          <p:cNvSpPr txBox="1"/>
          <p:nvPr/>
        </p:nvSpPr>
        <p:spPr>
          <a:xfrm>
            <a:off x="939800" y="49911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Waiver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93990F-7D31-EE4C-BDEA-B2569114BFD7}"/>
              </a:ext>
            </a:extLst>
          </p:cNvPr>
          <p:cNvSpPr txBox="1"/>
          <p:nvPr/>
        </p:nvSpPr>
        <p:spPr>
          <a:xfrm>
            <a:off x="939800" y="52324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Kontrollierte, befristete Ausnahme mit Ticket, Owner, Begründung.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FBB28CE-DBF5-634F-9AF7-C83723E2E738}"/>
              </a:ext>
            </a:extLst>
          </p:cNvPr>
          <p:cNvSpPr/>
          <p:nvPr/>
        </p:nvSpPr>
        <p:spPr>
          <a:xfrm>
            <a:off x="6223000" y="49022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B0462D1B-378A-CC43-8E07-289D418CA9FA}"/>
              </a:ext>
            </a:extLst>
          </p:cNvPr>
          <p:cNvSpPr/>
          <p:nvPr/>
        </p:nvSpPr>
        <p:spPr>
          <a:xfrm>
            <a:off x="6223000" y="49022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7001CDF-CDB0-2D41-8ECE-1BBD06800CF6}"/>
              </a:ext>
            </a:extLst>
          </p:cNvPr>
          <p:cNvSpPr txBox="1"/>
          <p:nvPr/>
        </p:nvSpPr>
        <p:spPr>
          <a:xfrm>
            <a:off x="6400800" y="49911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Ruleset-Hash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3C23FD2-8617-264B-8255-F69B4D3F0BF9}"/>
              </a:ext>
            </a:extLst>
          </p:cNvPr>
          <p:cNvSpPr txBox="1"/>
          <p:nvPr/>
        </p:nvSpPr>
        <p:spPr>
          <a:xfrm>
            <a:off x="6400800" y="52324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SHA-256 über alle geladenen Regeldateien — macht Regelstand prüfbar.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A8B132D-567B-9C4C-8D10-F0E7566BFBD1}"/>
              </a:ext>
            </a:extLst>
          </p:cNvPr>
          <p:cNvSpPr/>
          <p:nvPr/>
        </p:nvSpPr>
        <p:spPr>
          <a:xfrm>
            <a:off x="762000" y="56134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92328330-984D-864D-92B8-DAF1482EC58C}"/>
              </a:ext>
            </a:extLst>
          </p:cNvPr>
          <p:cNvSpPr/>
          <p:nvPr/>
        </p:nvSpPr>
        <p:spPr>
          <a:xfrm>
            <a:off x="762000" y="56134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F50C61F7-BFAC-D54E-BD03-4CA720E43189}"/>
              </a:ext>
            </a:extLst>
          </p:cNvPr>
          <p:cNvSpPr txBox="1"/>
          <p:nvPr/>
        </p:nvSpPr>
        <p:spPr>
          <a:xfrm>
            <a:off x="939800" y="57023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SARIF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2ECA76AB-6FD3-BF45-9558-6E86E9EC1582}"/>
              </a:ext>
            </a:extLst>
          </p:cNvPr>
          <p:cNvSpPr txBox="1"/>
          <p:nvPr/>
        </p:nvSpPr>
        <p:spPr>
          <a:xfrm>
            <a:off x="939800" y="5943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Static-Analysis-Format für GitHub/GitLab/Azure-Code-Scanning.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D078653-AFEC-4844-849B-C04FDC1172F8}"/>
              </a:ext>
            </a:extLst>
          </p:cNvPr>
          <p:cNvSpPr/>
          <p:nvPr/>
        </p:nvSpPr>
        <p:spPr>
          <a:xfrm>
            <a:off x="6223000" y="5613400"/>
            <a:ext cx="5207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8193060-1AA2-6347-8E86-26B124A30C4E}"/>
              </a:ext>
            </a:extLst>
          </p:cNvPr>
          <p:cNvSpPr/>
          <p:nvPr/>
        </p:nvSpPr>
        <p:spPr>
          <a:xfrm>
            <a:off x="6223000" y="5613400"/>
            <a:ext cx="508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FBDBE0F-9CD3-DF4A-9D94-60637A212197}"/>
              </a:ext>
            </a:extLst>
          </p:cNvPr>
          <p:cNvSpPr txBox="1"/>
          <p:nvPr/>
        </p:nvSpPr>
        <p:spPr>
          <a:xfrm>
            <a:off x="6400800" y="5702300"/>
            <a:ext cx="48514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300" b="1">
                <a:solidFill>
                  <a:srgbClr val="156082"/>
                </a:solidFill>
              </a:rPr>
              <a:t>MITRE ATT&amp;CK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304633E-C9E7-174E-8879-F191FD08D2A3}"/>
              </a:ext>
            </a:extLst>
          </p:cNvPr>
          <p:cNvSpPr txBox="1"/>
          <p:nvPr/>
        </p:nvSpPr>
        <p:spPr>
          <a:xfrm>
            <a:off x="6400800" y="5943600"/>
            <a:ext cx="4851400" cy="2794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50">
                <a:solidFill>
                  <a:srgbClr val="1A1A1A"/>
                </a:solidFill>
              </a:rPr>
              <a:t>Wissensbasis für Angreifer-Taktiken — ACI ordnet Muster Techniken zu.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DC005AD9-380D-694B-A77A-4B76449834F9}"/>
              </a:ext>
            </a:extLst>
          </p:cNvPr>
          <p:cNvSpPr/>
          <p:nvPr/>
        </p:nvSpPr>
        <p:spPr>
          <a:xfrm>
            <a:off x="762000" y="6375400"/>
            <a:ext cx="10668000" cy="304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3AC48924-9932-9143-BB2B-5058E5EA41D3}"/>
              </a:ext>
            </a:extLst>
          </p:cNvPr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l"/>
            <a:r>
              <a:rPr lang="de-DE" sz="1100">
                <a:solidFill>
                  <a:srgbClr val="FFFFFF"/>
                </a:solidFill>
              </a:rPr>
              <a:t>Fragen?    ·    Dokumentation: ACI v2.20.1    ·    Statischer Sicherheits- &amp; Coding-Guidelines-Scanner für Oracle und PostgreSQL</a:t>
            </a:r>
          </a:p>
        </p:txBody>
      </p:sp>
    </p:spTree>
    <p:extLst>
      <p:ext uri="{BB962C8B-B14F-4D97-AF65-F5344CB8AC3E}">
        <p14:creationId xmlns:p14="http://schemas.microsoft.com/office/powerpoint/2010/main" val="2960538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5F62E4D-674A-4844-B504-A8DC47E0E812}"/>
              </a:ext>
            </a:extLst>
          </p:cNvPr>
          <p:cNvSpPr txBox="1"/>
          <p:nvPr/>
        </p:nvSpPr>
        <p:spPr>
          <a:xfrm>
            <a:off x="0" y="889000"/>
            <a:ext cx="12192000" cy="7620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ctr"/>
            <a:r>
              <a:rPr lang="de-DE" sz="4400" b="1">
                <a:solidFill>
                  <a:srgbClr val="0E2841"/>
                </a:solidFill>
                <a:latin typeface="Calibri Light"/>
              </a:rPr>
              <a:t>Vielen Dank.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14B3A3F-A76E-1740-870C-CF6C0E87DC55}"/>
              </a:ext>
            </a:extLst>
          </p:cNvPr>
          <p:cNvSpPr/>
          <p:nvPr/>
        </p:nvSpPr>
        <p:spPr>
          <a:xfrm>
            <a:off x="5588000" y="1778000"/>
            <a:ext cx="10160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42E3460-1F1A-C5F6-C8B1-2DC8DB8E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999981"/>
            <a:ext cx="6096000" cy="303583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1F2065F-1769-C142-8F36-4E634B9FF760}"/>
              </a:ext>
            </a:extLst>
          </p:cNvPr>
          <p:cNvSpPr txBox="1"/>
          <p:nvPr/>
        </p:nvSpPr>
        <p:spPr>
          <a:xfrm>
            <a:off x="0" y="5207000"/>
            <a:ext cx="12192000" cy="355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ctr"/>
            <a:r>
              <a:rPr lang="de-DE" sz="1800">
                <a:solidFill>
                  <a:srgbClr val="156082"/>
                </a:solidFill>
                <a:latin typeface="Calibri Light"/>
              </a:rPr>
              <a:t>Fragen und Diskussion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28AB266-CCC6-3142-B795-09BAC77DD5AD}"/>
              </a:ext>
            </a:extLst>
          </p:cNvPr>
          <p:cNvSpPr/>
          <p:nvPr/>
        </p:nvSpPr>
        <p:spPr>
          <a:xfrm>
            <a:off x="2413000" y="5715000"/>
            <a:ext cx="2286000" cy="431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Sicherheit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29F0FB-BB3D-4D49-819A-B917F7DEFBCE}"/>
              </a:ext>
            </a:extLst>
          </p:cNvPr>
          <p:cNvSpPr/>
          <p:nvPr/>
        </p:nvSpPr>
        <p:spPr>
          <a:xfrm>
            <a:off x="4953000" y="5715000"/>
            <a:ext cx="2286000" cy="431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Coding Guidelines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980F459-5CF0-7C4F-8EC5-8E47E48658D9}"/>
              </a:ext>
            </a:extLst>
          </p:cNvPr>
          <p:cNvSpPr/>
          <p:nvPr/>
        </p:nvSpPr>
        <p:spPr>
          <a:xfrm>
            <a:off x="7493000" y="5715000"/>
            <a:ext cx="2286000" cy="431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CI/CD-Gate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D7ED1A-702B-E243-8581-BBF12CD47FC9}"/>
              </a:ext>
            </a:extLst>
          </p:cNvPr>
          <p:cNvSpPr txBox="1"/>
          <p:nvPr/>
        </p:nvSpPr>
        <p:spPr>
          <a:xfrm>
            <a:off x="0" y="6299200"/>
            <a:ext cx="12192000" cy="228600"/>
          </a:xfrm>
          <a:prstGeom prst="rect">
            <a:avLst/>
          </a:prstGeom>
          <a:noFill/>
        </p:spPr>
        <p:txBody>
          <a:bodyPr vertOverflow="overflow" vert="horz" wrap="square" tIns="0" rtlCol="0" anchor="t">
            <a:noAutofit/>
          </a:bodyPr>
          <a:lstStyle/>
          <a:p>
            <a:pPr algn="ctr"/>
            <a:r>
              <a:rPr lang="de-DE" sz="1100" i="1" dirty="0">
                <a:solidFill>
                  <a:srgbClr val="888888"/>
                </a:solidFill>
              </a:rPr>
              <a:t>ACI · Automated Code Inspection · Version 2.20.1</a:t>
            </a:r>
            <a:r>
              <a:rPr lang="de-DE" sz="1100" i="1" dirty="0" err="1">
                <a:solidFill>
                  <a:srgbClr val="888888"/>
                </a:solidFill>
              </a:rPr>
              <a:t/>
            </a:r>
            <a:r>
              <a:rPr lang="de-DE" sz="1100" i="1" dirty="0">
                <a:solidFill>
                  <a:srgbClr val="888888"/>
                </a:solidFill>
              </a:rPr>
              <a:t/>
            </a:r>
            <a:r>
              <a:rPr lang="de-DE" sz="1100" i="1" dirty="0" err="1">
                <a:solidFill>
                  <a:srgbClr val="888888"/>
                </a:solidFill>
              </a:rPr>
              <a:t/>
            </a:r>
            <a:r>
              <a:rPr lang="de-DE" sz="1100" i="1" dirty="0">
                <a:solidFill>
                  <a:srgbClr val="888888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1408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[1779657944312]">
  <a:themeElements>
    <a:clrScheme name="Office">
      <a:dk1>
        <a:srgbClr val="1A1A1A"/>
      </a:dk1>
      <a:lt1>
        <a:srgbClr val="FFFFFF"/>
      </a:lt1>
      <a:dk2>
        <a:srgbClr val="0E2841"/>
      </a:dk2>
      <a:lt2>
        <a:srgbClr val="F2F4F6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C0000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DE18EF-5703-D741-BB32-9386309BBFF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4fd56f8-cf6a-429f-a808-3f76344989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8742</Words>
  <Application>Microsoft Macintosh PowerPoint</Application>
  <PresentationFormat>Breitbild</PresentationFormat>
  <Paragraphs>1249</Paragraphs>
  <Slides>59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59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Office [1779657944312]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Kornbrust</dc:creator>
  <cp:lastModifiedBy>Alexander Kornbrust</cp:lastModifiedBy>
  <cp:revision>6</cp:revision>
  <dcterms:created xsi:type="dcterms:W3CDTF">2026-05-24T21:16:47Z</dcterms:created>
  <dcterms:modified xsi:type="dcterms:W3CDTF">2026-05-25T11:47:46Z</dcterms:modified>
</cp:coreProperties>
</file>